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1576" r:id="rId2"/>
    <p:sldId id="265" r:id="rId3"/>
    <p:sldId id="267" r:id="rId4"/>
    <p:sldId id="1643" r:id="rId5"/>
    <p:sldId id="1644" r:id="rId6"/>
    <p:sldId id="1645" r:id="rId7"/>
    <p:sldId id="1646" r:id="rId8"/>
    <p:sldId id="1647" r:id="rId9"/>
    <p:sldId id="1572" r:id="rId10"/>
    <p:sldId id="1648" r:id="rId11"/>
    <p:sldId id="1640" r:id="rId12"/>
    <p:sldId id="1642" r:id="rId13"/>
    <p:sldId id="1649" r:id="rId14"/>
    <p:sldId id="1650" r:id="rId15"/>
    <p:sldId id="1651" r:id="rId16"/>
    <p:sldId id="1652" r:id="rId17"/>
    <p:sldId id="1653" r:id="rId18"/>
    <p:sldId id="1654" r:id="rId19"/>
    <p:sldId id="1573" r:id="rId20"/>
    <p:sldId id="1655" r:id="rId21"/>
    <p:sldId id="1608" r:id="rId22"/>
    <p:sldId id="1656" r:id="rId23"/>
    <p:sldId id="1657" r:id="rId24"/>
    <p:sldId id="165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AAAA"/>
    <a:srgbClr val="A63AA6"/>
    <a:srgbClr val="034092"/>
    <a:srgbClr val="0070C0"/>
    <a:srgbClr val="00F2F2"/>
    <a:srgbClr val="2EE32E"/>
    <a:srgbClr val="DB8C77"/>
    <a:srgbClr val="A40000"/>
    <a:srgbClr val="2DE42D"/>
    <a:srgbClr val="0B41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1" autoAdjust="0"/>
    <p:restoredTop sz="86617" autoAdjust="0"/>
  </p:normalViewPr>
  <p:slideViewPr>
    <p:cSldViewPr snapToGrid="0">
      <p:cViewPr varScale="1">
        <p:scale>
          <a:sx n="58" d="100"/>
          <a:sy n="58" d="100"/>
        </p:scale>
        <p:origin x="894" y="4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6E25A-B3D6-0642-A12C-D7878380EBD2}" type="datetimeFigureOut">
              <a:rPr kumimoji="1" lang="zh-CN" altLang="en-US" smtClean="0"/>
              <a:t>2025/10/4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154B1-2FE7-2C40-9A46-2D9422D3E601}" type="slidenum">
              <a:rPr kumimoji="1" lang="zh-CN" altLang="en-US" smtClean="0"/>
              <a:t>‹#›</a:t>
            </a:fld>
            <a:endParaRPr kumimoji="1" lang="zh-CN" altLang="en-US"/>
          </a:p>
        </p:txBody>
      </p:sp>
    </p:spTree>
    <p:extLst>
      <p:ext uri="{BB962C8B-B14F-4D97-AF65-F5344CB8AC3E}">
        <p14:creationId xmlns:p14="http://schemas.microsoft.com/office/powerpoint/2010/main" val="2429456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a:t>
            </a:fld>
            <a:endParaRPr kumimoji="1" lang="zh-CN" altLang="en-US"/>
          </a:p>
        </p:txBody>
      </p:sp>
    </p:spTree>
    <p:extLst>
      <p:ext uri="{BB962C8B-B14F-4D97-AF65-F5344CB8AC3E}">
        <p14:creationId xmlns:p14="http://schemas.microsoft.com/office/powerpoint/2010/main" val="3180432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恶性冠状病毒严重威胁人类健康，迫切需要开发候选药物和关键技术。其编码的主蛋白酶活性位点保守，具有已上市药物，成药潜力巨大，有望成为开发广谱抗恶行冠状病毒药物的靶标。但是该药物是共价药物，需要多药共用，不仅会产生耐药还会发生副作用。所以需要寻找新的候选药物。</a:t>
            </a:r>
          </a:p>
        </p:txBody>
      </p:sp>
      <p:sp>
        <p:nvSpPr>
          <p:cNvPr id="4" name="灯片编号占位符 3"/>
          <p:cNvSpPr>
            <a:spLocks noGrp="1"/>
          </p:cNvSpPr>
          <p:nvPr>
            <p:ph type="sldNum" sz="quarter" idx="5"/>
          </p:nvPr>
        </p:nvSpPr>
        <p:spPr/>
        <p:txBody>
          <a:bodyPr/>
          <a:lstStyle/>
          <a:p>
            <a:fld id="{509C0378-708B-4186-A4DE-1D0B8A2A6FC3}" type="slidenum">
              <a:rPr lang="zh-CN" altLang="en-US" smtClean="0"/>
              <a:t>2</a:t>
            </a:fld>
            <a:endParaRPr lang="zh-CN" altLang="en-US"/>
          </a:p>
        </p:txBody>
      </p:sp>
    </p:spTree>
    <p:extLst>
      <p:ext uri="{BB962C8B-B14F-4D97-AF65-F5344CB8AC3E}">
        <p14:creationId xmlns:p14="http://schemas.microsoft.com/office/powerpoint/2010/main" val="2016666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23</a:t>
            </a:r>
            <a:r>
              <a:rPr lang="zh-CN" altLang="en-US" dirty="0"/>
              <a:t>年</a:t>
            </a:r>
            <a:r>
              <a:rPr lang="en-US" altLang="zh-CN" dirty="0"/>
              <a:t>11</a:t>
            </a:r>
            <a:r>
              <a:rPr lang="zh-CN" altLang="en-US" dirty="0"/>
              <a:t>月</a:t>
            </a:r>
            <a:r>
              <a:rPr lang="en-US" altLang="zh-CN" dirty="0"/>
              <a:t>10</a:t>
            </a:r>
            <a:r>
              <a:rPr lang="zh-CN" altLang="en-US" dirty="0"/>
              <a:t>日就上个月</a:t>
            </a:r>
            <a:r>
              <a:rPr lang="en-US" altLang="zh-CN" dirty="0"/>
              <a:t>Science</a:t>
            </a:r>
            <a:r>
              <a:rPr lang="zh-CN" altLang="en-US" dirty="0"/>
              <a:t>报道了非共价异喹啉骨架的先导化合物，但该先导化合物的活性与已上市药物之间活性还有数十倍差异，所以需要进一步优化该化合物提高其活性。但是。。。。。。。。。，深度学习和高性能计算可以解决这些问题。所以本项目计划开发深度学习驱动的小分子优化新方法实现恶性突发冠状病毒药物的精准优化从而提供候选药物和关键技术。</a:t>
            </a:r>
          </a:p>
          <a:p>
            <a:endParaRPr lang="zh-CN" altLang="en-US" dirty="0"/>
          </a:p>
        </p:txBody>
      </p:sp>
      <p:sp>
        <p:nvSpPr>
          <p:cNvPr id="4" name="灯片编号占位符 3"/>
          <p:cNvSpPr>
            <a:spLocks noGrp="1"/>
          </p:cNvSpPr>
          <p:nvPr>
            <p:ph type="sldNum" sz="quarter" idx="5"/>
          </p:nvPr>
        </p:nvSpPr>
        <p:spPr/>
        <p:txBody>
          <a:bodyPr/>
          <a:lstStyle/>
          <a:p>
            <a:fld id="{509C0378-708B-4186-A4DE-1D0B8A2A6FC3}" type="slidenum">
              <a:rPr lang="zh-CN" altLang="en-US" smtClean="0"/>
              <a:t>3</a:t>
            </a:fld>
            <a:endParaRPr lang="zh-CN" altLang="en-US"/>
          </a:p>
        </p:txBody>
      </p:sp>
    </p:spTree>
    <p:extLst>
      <p:ext uri="{BB962C8B-B14F-4D97-AF65-F5344CB8AC3E}">
        <p14:creationId xmlns:p14="http://schemas.microsoft.com/office/powerpoint/2010/main" val="276865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4</a:t>
            </a:fld>
            <a:endParaRPr kumimoji="1" lang="zh-CN" altLang="en-US"/>
          </a:p>
        </p:txBody>
      </p:sp>
    </p:spTree>
    <p:extLst>
      <p:ext uri="{BB962C8B-B14F-4D97-AF65-F5344CB8AC3E}">
        <p14:creationId xmlns:p14="http://schemas.microsoft.com/office/powerpoint/2010/main" val="90515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在新冠初期，我们就对新冠编码的结合蛋白还有非结构蛋白进行了分析与评估评估他们的可成药性。像</a:t>
            </a:r>
            <a:r>
              <a:rPr lang="en-US" altLang="zh-CN" dirty="0"/>
              <a:t>3CL</a:t>
            </a:r>
            <a:r>
              <a:rPr lang="zh-CN" altLang="en-US" dirty="0"/>
              <a:t>和</a:t>
            </a:r>
            <a:r>
              <a:rPr lang="en-US" altLang="zh-CN" dirty="0" err="1"/>
              <a:t>RdRp</a:t>
            </a:r>
            <a:r>
              <a:rPr lang="zh-CN" altLang="en-US" dirty="0"/>
              <a:t>这两种蛋白大家研究的最多，活性化合物也较多，是理想的可成药靶标。在病毒复制的整个生命周期中，</a:t>
            </a:r>
            <a:r>
              <a:rPr lang="en-US" altLang="zh-CN" dirty="0"/>
              <a:t>3CL</a:t>
            </a:r>
            <a:r>
              <a:rPr lang="zh-CN" altLang="en-US" dirty="0"/>
              <a:t>蛋白的作用位点主要是在这里，就是病毒遗传物质翻译成蛋白时，刚开始是一个很大的多聚蛋白，需要经过</a:t>
            </a:r>
            <a:r>
              <a:rPr lang="en-US" altLang="zh-CN" dirty="0"/>
              <a:t>3CL</a:t>
            </a:r>
            <a:r>
              <a:rPr lang="zh-CN" altLang="en-US" dirty="0"/>
              <a:t>蛋白的切割成结构和非结构蛋白其生命周期才能得以延续。</a:t>
            </a:r>
            <a:r>
              <a:rPr lang="en-US" altLang="zh-CN" dirty="0" err="1"/>
              <a:t>RdRp</a:t>
            </a:r>
            <a:r>
              <a:rPr lang="zh-CN" altLang="en-US" dirty="0"/>
              <a:t>则是进行病毒</a:t>
            </a:r>
            <a:r>
              <a:rPr lang="en-US" altLang="zh-CN" dirty="0"/>
              <a:t>RNA</a:t>
            </a:r>
            <a:r>
              <a:rPr lang="zh-CN" altLang="en-US" dirty="0"/>
              <a:t>的复制，如果没有</a:t>
            </a:r>
            <a:r>
              <a:rPr lang="en-US" altLang="zh-CN" dirty="0" err="1"/>
              <a:t>RdRp</a:t>
            </a:r>
            <a:r>
              <a:rPr lang="zh-CN" altLang="en-US" dirty="0"/>
              <a:t>，病毒也就不会增殖。所以，</a:t>
            </a:r>
            <a:r>
              <a:rPr lang="en-US" altLang="zh-CN" dirty="0"/>
              <a:t>3CL</a:t>
            </a:r>
            <a:r>
              <a:rPr lang="zh-CN" altLang="en-US" dirty="0"/>
              <a:t>和</a:t>
            </a:r>
            <a:r>
              <a:rPr lang="en-US" altLang="zh-CN" dirty="0" err="1"/>
              <a:t>RdRp</a:t>
            </a:r>
            <a:r>
              <a:rPr lang="zh-CN" altLang="en-US" dirty="0"/>
              <a:t>都是病毒生命周期中的关键蛋白。并且序列保守，活性位点明确，非常利于进行药物设计研究。</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11</a:t>
            </a:fld>
            <a:endParaRPr kumimoji="1" lang="zh-CN" altLang="en-US"/>
          </a:p>
        </p:txBody>
      </p:sp>
    </p:spTree>
    <p:extLst>
      <p:ext uri="{BB962C8B-B14F-4D97-AF65-F5344CB8AC3E}">
        <p14:creationId xmlns:p14="http://schemas.microsoft.com/office/powerpoint/2010/main" val="158998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除了上述两种已上市的化合物骨架类型，其实研究也发现了异喹啉类化合物可以非共价的与</a:t>
            </a:r>
            <a:r>
              <a:rPr lang="en-US" altLang="zh-CN" dirty="0"/>
              <a:t>3CL</a:t>
            </a:r>
            <a:r>
              <a:rPr lang="zh-CN" altLang="en-US" dirty="0"/>
              <a:t>蛋白结合，起到有效的抑制作用。这是异喹啉化合物抑制</a:t>
            </a:r>
            <a:r>
              <a:rPr lang="en-US" altLang="zh-CN" dirty="0"/>
              <a:t>3CL</a:t>
            </a:r>
            <a:r>
              <a:rPr lang="zh-CN" altLang="en-US" dirty="0"/>
              <a:t>蛋白的一个改造进化路线。目前发现的最好的是</a:t>
            </a:r>
            <a:r>
              <a:rPr lang="en-US" altLang="zh-CN" dirty="0"/>
              <a:t>I3C-3</a:t>
            </a:r>
            <a:r>
              <a:rPr lang="zh-CN" altLang="en-US" dirty="0"/>
              <a:t>这个化合物，抑制</a:t>
            </a:r>
            <a:r>
              <a:rPr lang="en-US" altLang="zh-CN" dirty="0"/>
              <a:t>3CL</a:t>
            </a:r>
            <a:r>
              <a:rPr lang="zh-CN" altLang="en-US" dirty="0"/>
              <a:t>蛋白的活性可以达到</a:t>
            </a:r>
            <a:r>
              <a:rPr lang="en-US" altLang="zh-CN" dirty="0"/>
              <a:t>20nm</a:t>
            </a:r>
            <a:r>
              <a:rPr lang="zh-CN" altLang="en-US" dirty="0"/>
              <a:t>。上页已上市的</a:t>
            </a:r>
            <a:r>
              <a:rPr lang="en-US" altLang="zh-CN" dirty="0" err="1"/>
              <a:t>Plxvod</a:t>
            </a:r>
            <a:r>
              <a:rPr lang="zh-CN" altLang="en-US" dirty="0"/>
              <a:t>的活性是</a:t>
            </a:r>
            <a:r>
              <a:rPr lang="en-US" altLang="zh-CN" dirty="0"/>
              <a:t>2nm</a:t>
            </a:r>
            <a:r>
              <a:rPr lang="zh-CN" altLang="en-US" dirty="0"/>
              <a:t>，不过那个是共价化合物，一般认为共价化合物选择性会差一些，所以接下来我便对</a:t>
            </a:r>
            <a:r>
              <a:rPr lang="en-US" altLang="zh-CN" dirty="0"/>
              <a:t>I3C-3</a:t>
            </a:r>
            <a:r>
              <a:rPr lang="zh-CN" altLang="en-US" dirty="0"/>
              <a:t>这个化合物进行改造。</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12</a:t>
            </a:fld>
            <a:endParaRPr kumimoji="1" lang="zh-CN" altLang="en-US"/>
          </a:p>
        </p:txBody>
      </p:sp>
    </p:spTree>
    <p:extLst>
      <p:ext uri="{BB962C8B-B14F-4D97-AF65-F5344CB8AC3E}">
        <p14:creationId xmlns:p14="http://schemas.microsoft.com/office/powerpoint/2010/main" val="2605621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使用的计算方法就是之前讲的</a:t>
            </a:r>
            <a:r>
              <a:rPr lang="en-US" altLang="zh-CN" dirty="0"/>
              <a:t>FEP</a:t>
            </a:r>
            <a:r>
              <a:rPr lang="zh-CN" altLang="en-US" dirty="0"/>
              <a:t>。拿已有活性的化合物进行测试发现</a:t>
            </a:r>
            <a:r>
              <a:rPr lang="en-US" altLang="zh-CN" dirty="0"/>
              <a:t>FEP</a:t>
            </a:r>
            <a:r>
              <a:rPr lang="zh-CN" altLang="en-US" dirty="0"/>
              <a:t>的计算结果与实验结果是高度一致的，说明针对这个体系的</a:t>
            </a:r>
            <a:r>
              <a:rPr lang="en-US" altLang="zh-CN" dirty="0"/>
              <a:t>FEP</a:t>
            </a:r>
            <a:r>
              <a:rPr lang="zh-CN" altLang="en-US" dirty="0"/>
              <a:t>配置是合理的。接下来便开始设计工作。</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13</a:t>
            </a:fld>
            <a:endParaRPr kumimoji="1" lang="zh-CN" altLang="en-US"/>
          </a:p>
        </p:txBody>
      </p:sp>
    </p:spTree>
    <p:extLst>
      <p:ext uri="{BB962C8B-B14F-4D97-AF65-F5344CB8AC3E}">
        <p14:creationId xmlns:p14="http://schemas.microsoft.com/office/powerpoint/2010/main" val="4116805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之前背景也讲过</a:t>
            </a:r>
            <a:r>
              <a:rPr lang="en-US" altLang="zh-CN" dirty="0"/>
              <a:t>3CL</a:t>
            </a:r>
            <a:r>
              <a:rPr lang="zh-CN" altLang="en-US" dirty="0"/>
              <a:t>已有已上市的化合物</a:t>
            </a:r>
            <a:r>
              <a:rPr lang="en-US" altLang="zh-CN" dirty="0" err="1"/>
              <a:t>Paxlovid</a:t>
            </a:r>
            <a:r>
              <a:rPr lang="zh-CN" altLang="en-US" dirty="0"/>
              <a:t>以及其与</a:t>
            </a:r>
            <a:r>
              <a:rPr lang="en-US" altLang="zh-CN" dirty="0"/>
              <a:t>3CL</a:t>
            </a:r>
            <a:r>
              <a:rPr lang="zh-CN" altLang="en-US" dirty="0"/>
              <a:t>蛋白的结合模式，所以首先我便将</a:t>
            </a:r>
            <a:r>
              <a:rPr lang="en-US" altLang="zh-CN" dirty="0"/>
              <a:t>I3C-3</a:t>
            </a:r>
            <a:r>
              <a:rPr lang="zh-CN" altLang="en-US" dirty="0"/>
              <a:t>和</a:t>
            </a:r>
            <a:r>
              <a:rPr lang="en-US" altLang="zh-CN" dirty="0"/>
              <a:t>Pax</a:t>
            </a:r>
            <a:r>
              <a:rPr lang="zh-CN" altLang="en-US" dirty="0"/>
              <a:t>进行了结构比对，这里可以明显发现，</a:t>
            </a:r>
            <a:r>
              <a:rPr lang="en-US" altLang="zh-CN" dirty="0" err="1"/>
              <a:t>pax</a:t>
            </a:r>
            <a:r>
              <a:rPr lang="zh-CN" altLang="en-US" dirty="0"/>
              <a:t>比我们要改造的化合物多占据了一个亚口袋，所以我们便想着借鉴一下</a:t>
            </a:r>
            <a:r>
              <a:rPr lang="en-US" altLang="zh-CN" dirty="0" err="1"/>
              <a:t>pax</a:t>
            </a:r>
            <a:r>
              <a:rPr lang="zh-CN" altLang="en-US" dirty="0"/>
              <a:t>的结合模式。，将我们</a:t>
            </a:r>
            <a:r>
              <a:rPr lang="en-US" altLang="zh-CN" dirty="0"/>
              <a:t>I3C-3</a:t>
            </a:r>
            <a:r>
              <a:rPr lang="zh-CN" altLang="en-US" dirty="0"/>
              <a:t>的这个片段给他变到这个地方，占据这个亚口袋，可能会获得更好活性，所以基于这个思路我们设计了一系列化合物。</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14</a:t>
            </a:fld>
            <a:endParaRPr kumimoji="1" lang="zh-CN" altLang="en-US"/>
          </a:p>
        </p:txBody>
      </p:sp>
    </p:spTree>
    <p:extLst>
      <p:ext uri="{BB962C8B-B14F-4D97-AF65-F5344CB8AC3E}">
        <p14:creationId xmlns:p14="http://schemas.microsoft.com/office/powerpoint/2010/main" val="86512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我们进行片段替换尝试了</a:t>
            </a:r>
            <a:r>
              <a:rPr lang="en-US" altLang="zh-CN" dirty="0"/>
              <a:t>30</a:t>
            </a:r>
            <a:r>
              <a:rPr lang="zh-CN" altLang="en-US" dirty="0"/>
              <a:t>个化合物的改造，最终由两个差不多预测活性能提升</a:t>
            </a:r>
            <a:r>
              <a:rPr lang="en-US" altLang="zh-CN" dirty="0"/>
              <a:t>300</a:t>
            </a:r>
            <a:r>
              <a:rPr lang="zh-CN" altLang="en-US" dirty="0"/>
              <a:t>多倍。并且基团用的也是</a:t>
            </a:r>
            <a:r>
              <a:rPr lang="en-US" altLang="zh-CN" dirty="0"/>
              <a:t>PAX</a:t>
            </a:r>
            <a:r>
              <a:rPr lang="zh-CN" altLang="en-US" dirty="0"/>
              <a:t>的那个乙酰胺的片段。当然这个是</a:t>
            </a:r>
            <a:r>
              <a:rPr lang="en-US" altLang="zh-CN" dirty="0"/>
              <a:t>FEP</a:t>
            </a:r>
            <a:r>
              <a:rPr lang="zh-CN" altLang="en-US" dirty="0"/>
              <a:t>计算的数值。下面我们又进行了进一步分子动力学模拟看看是不是我们想的确实结合到那个亚口袋中。</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15</a:t>
            </a:fld>
            <a:endParaRPr kumimoji="1" lang="zh-CN" altLang="en-US"/>
          </a:p>
        </p:txBody>
      </p:sp>
    </p:spTree>
    <p:extLst>
      <p:ext uri="{BB962C8B-B14F-4D97-AF65-F5344CB8AC3E}">
        <p14:creationId xmlns:p14="http://schemas.microsoft.com/office/powerpoint/2010/main" val="393918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a:t>
            </a:r>
            <a:r>
              <a:rPr lang="en-US" altLang="zh-CN" dirty="0"/>
              <a:t>200ns</a:t>
            </a:r>
            <a:r>
              <a:rPr lang="zh-CN" altLang="en-US" dirty="0"/>
              <a:t>模拟，聚类取最大类构象，与</a:t>
            </a:r>
            <a:r>
              <a:rPr lang="en-US" altLang="zh-CN" dirty="0"/>
              <a:t>I3C-3</a:t>
            </a:r>
            <a:r>
              <a:rPr lang="zh-CN" altLang="en-US" dirty="0"/>
              <a:t>相比，</a:t>
            </a:r>
            <a:r>
              <a:rPr lang="en-US" altLang="zh-CN" dirty="0"/>
              <a:t>I3C-26</a:t>
            </a:r>
            <a:r>
              <a:rPr lang="zh-CN" altLang="en-US" dirty="0"/>
              <a:t>的侧链确实契合到了我们想让它嵌入的那个亚口袋中。并且契合的还很好。其实当时还是蛮意外的，没想到他会契合的这么好。不过总之是达到了我们的预期。</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16</a:t>
            </a:fld>
            <a:endParaRPr kumimoji="1" lang="zh-CN" altLang="en-US"/>
          </a:p>
        </p:txBody>
      </p:sp>
    </p:spTree>
    <p:extLst>
      <p:ext uri="{BB962C8B-B14F-4D97-AF65-F5344CB8AC3E}">
        <p14:creationId xmlns:p14="http://schemas.microsoft.com/office/powerpoint/2010/main" val="650565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之后我又从</a:t>
            </a:r>
            <a:r>
              <a:rPr lang="en-US" altLang="zh-CN" dirty="0"/>
              <a:t>I3C-26</a:t>
            </a:r>
            <a:r>
              <a:rPr lang="zh-CN" altLang="en-US" dirty="0"/>
              <a:t>继续进行进一步的改造。一部分是用的基团替换，另外最新我还引入了一些氨基酸的侧链进来。可能大家仔细看结构就会发现，这些化合物含有不少酰胺键，是拟肽，其实不难理解，因为</a:t>
            </a:r>
            <a:r>
              <a:rPr lang="en-US" altLang="zh-CN" dirty="0"/>
              <a:t>3CL</a:t>
            </a:r>
            <a:r>
              <a:rPr lang="zh-CN" altLang="en-US" dirty="0"/>
              <a:t>是切割其他蛋白的，那他肯定是更倾向于结合肽类结构的。这也是我引入氨基酸侧链的一个原因吧。同时呢，我也得到了</a:t>
            </a:r>
            <a:r>
              <a:rPr lang="en-US" altLang="zh-CN" dirty="0"/>
              <a:t>3</a:t>
            </a:r>
            <a:r>
              <a:rPr lang="zh-CN" altLang="en-US" dirty="0"/>
              <a:t>个活性更高的化合物。</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17</a:t>
            </a:fld>
            <a:endParaRPr kumimoji="1" lang="zh-CN" altLang="en-US"/>
          </a:p>
        </p:txBody>
      </p:sp>
    </p:spTree>
    <p:extLst>
      <p:ext uri="{BB962C8B-B14F-4D97-AF65-F5344CB8AC3E}">
        <p14:creationId xmlns:p14="http://schemas.microsoft.com/office/powerpoint/2010/main" val="2759074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总结一下这个课题。</a:t>
            </a: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18</a:t>
            </a:fld>
            <a:endParaRPr kumimoji="1" lang="zh-CN" altLang="en-US"/>
          </a:p>
        </p:txBody>
      </p:sp>
    </p:spTree>
    <p:extLst>
      <p:ext uri="{BB962C8B-B14F-4D97-AF65-F5344CB8AC3E}">
        <p14:creationId xmlns:p14="http://schemas.microsoft.com/office/powerpoint/2010/main" val="3217030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21</a:t>
            </a:fld>
            <a:endParaRPr kumimoji="1" lang="zh-CN" altLang="en-US"/>
          </a:p>
        </p:txBody>
      </p:sp>
    </p:spTree>
    <p:extLst>
      <p:ext uri="{BB962C8B-B14F-4D97-AF65-F5344CB8AC3E}">
        <p14:creationId xmlns:p14="http://schemas.microsoft.com/office/powerpoint/2010/main" val="26130421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F09C09-57F0-401E-914C-55AD4EC2FB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EECB730A-D6A8-4367-9340-616353999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A7AA53-DF53-41D5-890D-1E77B922FA7F}"/>
              </a:ext>
            </a:extLst>
          </p:cNvPr>
          <p:cNvSpPr>
            <a:spLocks noGrp="1"/>
          </p:cNvSpPr>
          <p:nvPr>
            <p:ph type="dt" sz="half" idx="10"/>
          </p:nvPr>
        </p:nvSpPr>
        <p:spPr/>
        <p:txBody>
          <a:bodyPr/>
          <a:lstStyle/>
          <a:p>
            <a:fld id="{B9341B95-FF81-45F6-8B18-0C6C6BD3E4A7}" type="datetime1">
              <a:rPr lang="zh-CN" altLang="en-US" smtClean="0"/>
              <a:t>2025/10/4</a:t>
            </a:fld>
            <a:endParaRPr lang="zh-CN" altLang="en-US"/>
          </a:p>
        </p:txBody>
      </p:sp>
      <p:sp>
        <p:nvSpPr>
          <p:cNvPr id="5" name="页脚占位符 4">
            <a:extLst>
              <a:ext uri="{FF2B5EF4-FFF2-40B4-BE49-F238E27FC236}">
                <a16:creationId xmlns:a16="http://schemas.microsoft.com/office/drawing/2014/main" id="{88BFF102-37FF-4AB8-ABB3-62038DDFD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F96D-0341-4A5E-8974-D9D41BED2B01}"/>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01917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47808E4-998A-48BA-BB59-6A9E8C8F487F}" type="datetime1">
              <a:rPr lang="zh-CN" altLang="en-US" smtClean="0"/>
              <a:t>2025/10/4</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3211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CC14A5CD-2F49-4758-8337-6D54A6674856}"/>
              </a:ext>
            </a:extLst>
          </p:cNvPr>
          <p:cNvSpPr>
            <a:spLocks noGrp="1"/>
          </p:cNvSpPr>
          <p:nvPr>
            <p:ph type="title"/>
          </p:nvPr>
        </p:nvSpPr>
        <p:spPr>
          <a:xfrm>
            <a:off x="831850" y="1709738"/>
            <a:ext cx="10515600" cy="2852737"/>
          </a:xfrm>
        </p:spPr>
        <p:txBody>
          <a:bodyPr anchor="b"/>
          <a:lstStyle>
            <a:lvl1pPr>
              <a:defRPr sz="6000"/>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37D55E93-1034-4BBC-9A0C-AEC9616D2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1462BEC-08A7-492D-A68E-D72A14887871}"/>
              </a:ext>
            </a:extLst>
          </p:cNvPr>
          <p:cNvSpPr>
            <a:spLocks noGrp="1"/>
          </p:cNvSpPr>
          <p:nvPr>
            <p:ph type="dt" sz="half" idx="10"/>
          </p:nvPr>
        </p:nvSpPr>
        <p:spPr/>
        <p:txBody>
          <a:bodyPr/>
          <a:lstStyle/>
          <a:p>
            <a:fld id="{D64B03FC-0C04-4B75-9D77-B28AC436BD31}" type="datetime1">
              <a:rPr lang="zh-CN" altLang="en-US" smtClean="0"/>
              <a:t>2025/10/4</a:t>
            </a:fld>
            <a:endParaRPr lang="zh-CN" altLang="en-US"/>
          </a:p>
        </p:txBody>
      </p:sp>
      <p:sp>
        <p:nvSpPr>
          <p:cNvPr id="5" name="页脚占位符 4">
            <a:extLst>
              <a:ext uri="{FF2B5EF4-FFF2-40B4-BE49-F238E27FC236}">
                <a16:creationId xmlns:a16="http://schemas.microsoft.com/office/drawing/2014/main" id="{137ABE58-1D64-4DFA-8CCF-33606015D7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E7D6C6-42D3-4F32-AC8A-75DACF54468B}"/>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79778957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A9504493-20B5-43D7-8EBC-6C1F35E8A8D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F9B1E5-631A-4528-8290-15E08E8BC7B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A0456DF3-E16B-4C45-B923-89E73C7FA79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A7586D4-7959-443F-AFD0-452066166E56}"/>
              </a:ext>
            </a:extLst>
          </p:cNvPr>
          <p:cNvSpPr>
            <a:spLocks noGrp="1"/>
          </p:cNvSpPr>
          <p:nvPr>
            <p:ph type="dt" sz="half" idx="10"/>
          </p:nvPr>
        </p:nvSpPr>
        <p:spPr/>
        <p:txBody>
          <a:bodyPr/>
          <a:lstStyle/>
          <a:p>
            <a:fld id="{820463B9-0ABC-447B-B568-97A58E7D7500}" type="datetime1">
              <a:rPr lang="zh-CN" altLang="en-US" smtClean="0"/>
              <a:t>2025/10/4</a:t>
            </a:fld>
            <a:endParaRPr lang="zh-CN" altLang="en-US"/>
          </a:p>
        </p:txBody>
      </p:sp>
      <p:sp>
        <p:nvSpPr>
          <p:cNvPr id="6" name="页脚占位符 5">
            <a:extLst>
              <a:ext uri="{FF2B5EF4-FFF2-40B4-BE49-F238E27FC236}">
                <a16:creationId xmlns:a16="http://schemas.microsoft.com/office/drawing/2014/main" id="{C7DBB3DF-7BD2-457D-9B6D-1B6DC24B9B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CE9612-44B3-4E8E-8694-6FB52C188A25}"/>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651655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392E-6FE4-45F1-96CC-97978BC91995}"/>
              </a:ext>
            </a:extLst>
          </p:cNvPr>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E898865-5E57-4B42-8909-80DBC9797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AE2D6B9-43DE-41D8-BB6E-9E1B0B25695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1C0E132-7240-44B0-9935-03A301827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DB8FCBD-29DB-442A-8884-912732720BE0}"/>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03F58-7C49-43D5-A3D1-B3A969BE0A8F}"/>
              </a:ext>
            </a:extLst>
          </p:cNvPr>
          <p:cNvSpPr>
            <a:spLocks noGrp="1"/>
          </p:cNvSpPr>
          <p:nvPr>
            <p:ph type="dt" sz="half" idx="10"/>
          </p:nvPr>
        </p:nvSpPr>
        <p:spPr/>
        <p:txBody>
          <a:bodyPr/>
          <a:lstStyle/>
          <a:p>
            <a:fld id="{526CA1EB-60D1-4DC3-BA90-7F3C7C460836}" type="datetime1">
              <a:rPr lang="zh-CN" altLang="en-US" smtClean="0"/>
              <a:t>2025/10/4</a:t>
            </a:fld>
            <a:endParaRPr lang="zh-CN" altLang="en-US"/>
          </a:p>
        </p:txBody>
      </p:sp>
      <p:sp>
        <p:nvSpPr>
          <p:cNvPr id="8" name="页脚占位符 7">
            <a:extLst>
              <a:ext uri="{FF2B5EF4-FFF2-40B4-BE49-F238E27FC236}">
                <a16:creationId xmlns:a16="http://schemas.microsoft.com/office/drawing/2014/main" id="{4DD9A7E8-3C85-4801-9E4D-111A3B981AA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B2A24D-FBE5-4D56-AD80-01C1063713F2}"/>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Tree>
    <p:extLst>
      <p:ext uri="{BB962C8B-B14F-4D97-AF65-F5344CB8AC3E}">
        <p14:creationId xmlns:p14="http://schemas.microsoft.com/office/powerpoint/2010/main" val="3365494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5D73AB-11D1-4981-9368-43F60872835D}"/>
              </a:ext>
            </a:extLst>
          </p:cNvPr>
          <p:cNvSpPr>
            <a:spLocks noGrp="1"/>
          </p:cNvSpPr>
          <p:nvPr>
            <p:ph type="title"/>
          </p:nvPr>
        </p:nvSpPr>
        <p:spPr/>
        <p:txBody>
          <a:bodyPr/>
          <a:lstStyle/>
          <a:p>
            <a:r>
              <a:rPr lang="zh-CN" altLang="en-US" dirty="0"/>
              <a:t>单击此处编辑母版标题样式</a:t>
            </a:r>
          </a:p>
        </p:txBody>
      </p:sp>
      <p:sp>
        <p:nvSpPr>
          <p:cNvPr id="3" name="日期占位符 2">
            <a:extLst>
              <a:ext uri="{FF2B5EF4-FFF2-40B4-BE49-F238E27FC236}">
                <a16:creationId xmlns:a16="http://schemas.microsoft.com/office/drawing/2014/main" id="{DBB7B4CA-3CD6-4B49-877C-211DF73E561A}"/>
              </a:ext>
            </a:extLst>
          </p:cNvPr>
          <p:cNvSpPr>
            <a:spLocks noGrp="1"/>
          </p:cNvSpPr>
          <p:nvPr>
            <p:ph type="dt" sz="half" idx="10"/>
          </p:nvPr>
        </p:nvSpPr>
        <p:spPr/>
        <p:txBody>
          <a:bodyPr/>
          <a:lstStyle/>
          <a:p>
            <a:fld id="{2698ED4A-6DFA-43D4-BC74-DFEA22A7808A}" type="datetime1">
              <a:rPr lang="zh-CN" altLang="en-US" smtClean="0"/>
              <a:t>2025/10/4</a:t>
            </a:fld>
            <a:endParaRPr lang="zh-CN" altLang="en-US"/>
          </a:p>
        </p:txBody>
      </p:sp>
      <p:sp>
        <p:nvSpPr>
          <p:cNvPr id="4" name="页脚占位符 3">
            <a:extLst>
              <a:ext uri="{FF2B5EF4-FFF2-40B4-BE49-F238E27FC236}">
                <a16:creationId xmlns:a16="http://schemas.microsoft.com/office/drawing/2014/main" id="{2320833A-D84C-4AA5-A4E5-89293C0941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31A098F-361B-45B7-9328-0C0CC88000DE}"/>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874423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日期占位符 1">
            <a:extLst>
              <a:ext uri="{FF2B5EF4-FFF2-40B4-BE49-F238E27FC236}">
                <a16:creationId xmlns:a16="http://schemas.microsoft.com/office/drawing/2014/main" id="{83B5D28D-AE9D-4887-A8CE-67AB1279BCB6}"/>
              </a:ext>
            </a:extLst>
          </p:cNvPr>
          <p:cNvSpPr>
            <a:spLocks noGrp="1"/>
          </p:cNvSpPr>
          <p:nvPr>
            <p:ph type="dt" sz="half" idx="10"/>
          </p:nvPr>
        </p:nvSpPr>
        <p:spPr/>
        <p:txBody>
          <a:bodyPr/>
          <a:lstStyle/>
          <a:p>
            <a:fld id="{3B7B5AE1-073B-44BA-858A-41FE285B9E4C}" type="datetime1">
              <a:rPr lang="zh-CN" altLang="en-US" smtClean="0"/>
              <a:t>2025/10/4</a:t>
            </a:fld>
            <a:endParaRPr lang="zh-CN" altLang="en-US"/>
          </a:p>
        </p:txBody>
      </p:sp>
      <p:sp>
        <p:nvSpPr>
          <p:cNvPr id="3" name="页脚占位符 2">
            <a:extLst>
              <a:ext uri="{FF2B5EF4-FFF2-40B4-BE49-F238E27FC236}">
                <a16:creationId xmlns:a16="http://schemas.microsoft.com/office/drawing/2014/main" id="{76AFF75D-410E-4FF5-91F1-E635B2B4D25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B2B8D5D-EBBC-4D0B-81BA-D6EE7D1B9F09}"/>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83316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7180F32D-4D49-416F-900C-56A021BAA25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89A1975-CD99-4E06-9E45-D308D959ED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a:extLst>
              <a:ext uri="{FF2B5EF4-FFF2-40B4-BE49-F238E27FC236}">
                <a16:creationId xmlns:a16="http://schemas.microsoft.com/office/drawing/2014/main" id="{90C04A39-44D7-40D5-879F-9B291A6F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4018CF9-B53E-4812-BEF1-A52E0A34A819}"/>
              </a:ext>
            </a:extLst>
          </p:cNvPr>
          <p:cNvSpPr>
            <a:spLocks noGrp="1"/>
          </p:cNvSpPr>
          <p:nvPr>
            <p:ph type="dt" sz="half" idx="10"/>
          </p:nvPr>
        </p:nvSpPr>
        <p:spPr/>
        <p:txBody>
          <a:bodyPr/>
          <a:lstStyle/>
          <a:p>
            <a:fld id="{11FF37EE-222A-4F0C-B02A-5C552E010B79}" type="datetime1">
              <a:rPr lang="zh-CN" altLang="en-US" smtClean="0"/>
              <a:t>2025/10/4</a:t>
            </a:fld>
            <a:endParaRPr lang="zh-CN" altLang="en-US"/>
          </a:p>
        </p:txBody>
      </p:sp>
      <p:sp>
        <p:nvSpPr>
          <p:cNvPr id="6" name="页脚占位符 5">
            <a:extLst>
              <a:ext uri="{FF2B5EF4-FFF2-40B4-BE49-F238E27FC236}">
                <a16:creationId xmlns:a16="http://schemas.microsoft.com/office/drawing/2014/main" id="{0FA403AC-06D8-4A58-A310-BBD1CF8993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87A4F-9495-4E5A-9C28-E5809E59EB63}"/>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7674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F1ECD109-4A98-49F1-AC02-939490484F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BD343E-388B-4353-9336-2656832B0C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9FBF39C-1448-4F68-AD3E-BFA9643DB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A9F964B-5762-4399-8D43-3F4D77D8A5F2}"/>
              </a:ext>
            </a:extLst>
          </p:cNvPr>
          <p:cNvSpPr>
            <a:spLocks noGrp="1"/>
          </p:cNvSpPr>
          <p:nvPr>
            <p:ph type="dt" sz="half" idx="10"/>
          </p:nvPr>
        </p:nvSpPr>
        <p:spPr/>
        <p:txBody>
          <a:bodyPr/>
          <a:lstStyle/>
          <a:p>
            <a:fld id="{1462E036-3BFE-40A1-A515-DEFD7E66EDF3}" type="datetime1">
              <a:rPr lang="zh-CN" altLang="en-US" smtClean="0"/>
              <a:t>2025/10/4</a:t>
            </a:fld>
            <a:endParaRPr lang="zh-CN" altLang="en-US"/>
          </a:p>
        </p:txBody>
      </p:sp>
      <p:sp>
        <p:nvSpPr>
          <p:cNvPr id="6" name="页脚占位符 5">
            <a:extLst>
              <a:ext uri="{FF2B5EF4-FFF2-40B4-BE49-F238E27FC236}">
                <a16:creationId xmlns:a16="http://schemas.microsoft.com/office/drawing/2014/main" id="{75F14C33-5019-4572-8BA2-48878300B1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02535E-DC52-4683-9666-75A5550FD9C7}"/>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84920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占位符 1">
            <a:extLst>
              <a:ext uri="{FF2B5EF4-FFF2-40B4-BE49-F238E27FC236}">
                <a16:creationId xmlns:a16="http://schemas.microsoft.com/office/drawing/2014/main" id="{5BDD4DA5-7CDF-41C7-842B-C65E40C8EC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55DD46D-0C86-4CE6-B4CB-E685DB67B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6825EA9-D021-48CB-A587-4B37D2A314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D9CB3-B41F-44AA-AF25-D65193C6C0E6}" type="datetime1">
              <a:rPr lang="zh-CN" altLang="en-US" smtClean="0"/>
              <a:t>2025/10/4</a:t>
            </a:fld>
            <a:endParaRPr lang="zh-CN" altLang="en-US"/>
          </a:p>
        </p:txBody>
      </p:sp>
      <p:sp>
        <p:nvSpPr>
          <p:cNvPr id="5" name="页脚占位符 4">
            <a:extLst>
              <a:ext uri="{FF2B5EF4-FFF2-40B4-BE49-F238E27FC236}">
                <a16:creationId xmlns:a16="http://schemas.microsoft.com/office/drawing/2014/main" id="{5EC24D08-70E2-4241-866D-8CD5E7ACB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FE7F49E-E35F-4F73-9004-29599BB63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02526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emf"/><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pubmed.ncbi.nlm.nih.gov/35364304/" TargetMode="External"/><Relationship Id="rId3" Type="http://schemas.openxmlformats.org/officeDocument/2006/relationships/image" Target="../media/image6.png"/><Relationship Id="rId7" Type="http://schemas.openxmlformats.org/officeDocument/2006/relationships/hyperlink" Target="https://pubmed.ncbi.nlm.nih.gov/34726479/"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www.nature.com/articles/s41467-020-16954-7"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hyperlink" Target="https://pubmed.ncbi.nlm.nih.gov/35434531/" TargetMode="External"/><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tif"/><Relationship Id="rId4" Type="http://schemas.openxmlformats.org/officeDocument/2006/relationships/hyperlink" Target="https://www.nature.com/articles/s41467-020-18709-w"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www.biorxiv.org/content/10.1101/2020.10.29.339317v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hyperlink" Target="https://pubmed.ncbi.nlm.nih.gov/32555379/" TargetMode="External"/><Relationship Id="rId4" Type="http://schemas.openxmlformats.org/officeDocument/2006/relationships/image" Target="../media/image38.png"/><Relationship Id="rId9"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0.tif"/><Relationship Id="rId7"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464E42-2928-D07F-9A24-9F68D10AB309}"/>
              </a:ext>
            </a:extLst>
          </p:cNvPr>
          <p:cNvSpPr>
            <a:spLocks noGrp="1"/>
          </p:cNvSpPr>
          <p:nvPr>
            <p:ph type="sldNum" sz="quarter" idx="12"/>
          </p:nvPr>
        </p:nvSpPr>
        <p:spPr/>
        <p:txBody>
          <a:bodyPr/>
          <a:lstStyle/>
          <a:p>
            <a:fld id="{2F0485D5-9E03-4020-B25B-C8A61AD6A676}" type="slidenum">
              <a:rPr lang="zh-CN" altLang="en-US" smtClean="0"/>
              <a:t>1</a:t>
            </a:fld>
            <a:endParaRPr lang="zh-CN" altLang="en-US"/>
          </a:p>
        </p:txBody>
      </p:sp>
      <p:sp>
        <p:nvSpPr>
          <p:cNvPr id="4" name="文本框 3">
            <a:extLst>
              <a:ext uri="{FF2B5EF4-FFF2-40B4-BE49-F238E27FC236}">
                <a16:creationId xmlns:a16="http://schemas.microsoft.com/office/drawing/2014/main" id="{FC579032-1EB9-0A4E-A6A6-3C766EB770BB}"/>
              </a:ext>
            </a:extLst>
          </p:cNvPr>
          <p:cNvSpPr txBox="1"/>
          <p:nvPr/>
        </p:nvSpPr>
        <p:spPr>
          <a:xfrm>
            <a:off x="0" y="1957785"/>
            <a:ext cx="12192000" cy="1560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1pPr algn="ctr">
              <a:lnSpc>
                <a:spcPct val="125000"/>
              </a:lnSpc>
              <a:spcBef>
                <a:spcPct val="0"/>
              </a:spcBef>
              <a:buClrTx/>
              <a:buFont typeface="Wingdings" pitchFamily="2" charset="2"/>
              <a:buNone/>
              <a:defRPr sz="4000" b="1">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lr>
                <a:schemeClr val="accent1"/>
              </a:buClr>
              <a:buFont typeface="Wingdings" pitchFamily="2" charset="2"/>
              <a:buChar char="§"/>
              <a:defRPr sz="2200">
                <a:latin typeface="Arial" panose="020B0604020202020204" pitchFamily="34" charset="0"/>
              </a:defRPr>
            </a:lvl2pPr>
            <a:lvl3pPr marL="1143000" indent="-228600">
              <a:spcBef>
                <a:spcPct val="20000"/>
              </a:spcBef>
              <a:buClr>
                <a:schemeClr val="tx1"/>
              </a:buClr>
              <a:buChar char="•"/>
              <a:defRPr sz="2000">
                <a:latin typeface="Arial" panose="020B0604020202020204" pitchFamily="34" charset="0"/>
              </a:defRPr>
            </a:lvl3pPr>
            <a:lvl4pPr marL="1600200" indent="-228600">
              <a:spcBef>
                <a:spcPct val="20000"/>
              </a:spcBef>
              <a:buChar char="–"/>
              <a:defRPr sz="1600">
                <a:latin typeface="Arial" panose="020B0604020202020204" pitchFamily="34" charset="0"/>
              </a:defRPr>
            </a:lvl4pPr>
            <a:lvl5pPr marL="2057400" indent="-228600">
              <a:spcBef>
                <a:spcPct val="20000"/>
              </a:spcBef>
              <a:buChar char="»"/>
              <a:defRPr sz="1600">
                <a:latin typeface="Arial" panose="020B0604020202020204" pitchFamily="34" charset="0"/>
              </a:defRPr>
            </a:lvl5pPr>
            <a:lvl6pPr marL="2514600" indent="-228600" eaLnBrk="0" fontAlgn="base" hangingPunct="0">
              <a:spcBef>
                <a:spcPct val="20000"/>
              </a:spcBef>
              <a:spcAft>
                <a:spcPct val="0"/>
              </a:spcAft>
              <a:buChar char="»"/>
              <a:defRPr sz="1600">
                <a:latin typeface="Arial" panose="020B0604020202020204" pitchFamily="34" charset="0"/>
              </a:defRPr>
            </a:lvl6pPr>
            <a:lvl7pPr marL="2971800" indent="-228600" eaLnBrk="0" fontAlgn="base" hangingPunct="0">
              <a:spcBef>
                <a:spcPct val="20000"/>
              </a:spcBef>
              <a:spcAft>
                <a:spcPct val="0"/>
              </a:spcAft>
              <a:buChar char="»"/>
              <a:defRPr sz="1600">
                <a:latin typeface="Arial" panose="020B0604020202020204" pitchFamily="34" charset="0"/>
              </a:defRPr>
            </a:lvl7pPr>
            <a:lvl8pPr marL="3429000" indent="-228600" eaLnBrk="0" fontAlgn="base" hangingPunct="0">
              <a:spcBef>
                <a:spcPct val="20000"/>
              </a:spcBef>
              <a:spcAft>
                <a:spcPct val="0"/>
              </a:spcAft>
              <a:buChar char="»"/>
              <a:defRPr sz="1600">
                <a:latin typeface="Arial" panose="020B0604020202020204" pitchFamily="34" charset="0"/>
              </a:defRPr>
            </a:lvl8pPr>
            <a:lvl9pPr marL="3886200" indent="-228600" eaLnBrk="0" fontAlgn="base" hangingPunct="0">
              <a:spcBef>
                <a:spcPct val="20000"/>
              </a:spcBef>
              <a:spcAft>
                <a:spcPct val="0"/>
              </a:spcAft>
              <a:buChar char="»"/>
              <a:defRPr sz="1600">
                <a:latin typeface="Arial" panose="020B0604020202020204" pitchFamily="34" charset="0"/>
              </a:defRPr>
            </a:lvl9pPr>
          </a:lstStyle>
          <a:p>
            <a:r>
              <a:rPr lang="zh-CN" altLang="en-US" dirty="0"/>
              <a:t>深度学习驱动的小分子优化新方法实现新冠病毒</a:t>
            </a:r>
            <a:endParaRPr lang="en-US" altLang="zh-CN" dirty="0"/>
          </a:p>
          <a:p>
            <a:r>
              <a:rPr lang="zh-CN" altLang="en-US" dirty="0"/>
              <a:t>主蛋白酶异喹啉类化合物的精准优化</a:t>
            </a:r>
          </a:p>
        </p:txBody>
      </p:sp>
      <p:sp>
        <p:nvSpPr>
          <p:cNvPr id="5" name="文本框 4">
            <a:extLst>
              <a:ext uri="{FF2B5EF4-FFF2-40B4-BE49-F238E27FC236}">
                <a16:creationId xmlns:a16="http://schemas.microsoft.com/office/drawing/2014/main" id="{BEC4263C-2C8F-707B-45E8-D185008F0B8F}"/>
              </a:ext>
            </a:extLst>
          </p:cNvPr>
          <p:cNvSpPr txBox="1"/>
          <p:nvPr/>
        </p:nvSpPr>
        <p:spPr>
          <a:xfrm>
            <a:off x="4196316" y="4283508"/>
            <a:ext cx="379936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0"/>
              </a:spcBef>
              <a:buClrTx/>
              <a:buFontTx/>
              <a:buNone/>
              <a:defRPr sz="2800" b="0">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lr>
                <a:schemeClr val="accent1"/>
              </a:buClr>
              <a:buFont typeface="Wingdings" pitchFamily="2" charset="2"/>
              <a:buChar char="§"/>
              <a:defRPr sz="2200">
                <a:latin typeface="Arial" panose="020B0604020202020204" pitchFamily="34" charset="0"/>
              </a:defRPr>
            </a:lvl2pPr>
            <a:lvl3pPr marL="1143000" indent="-228600">
              <a:spcBef>
                <a:spcPct val="20000"/>
              </a:spcBef>
              <a:buClr>
                <a:schemeClr val="tx1"/>
              </a:buClr>
              <a:buChar char="•"/>
              <a:defRPr sz="2000">
                <a:latin typeface="Arial" panose="020B0604020202020204" pitchFamily="34" charset="0"/>
              </a:defRPr>
            </a:lvl3pPr>
            <a:lvl4pPr marL="1600200" indent="-228600">
              <a:spcBef>
                <a:spcPct val="20000"/>
              </a:spcBef>
              <a:buChar char="–"/>
              <a:defRPr sz="1600">
                <a:latin typeface="Arial" panose="020B0604020202020204" pitchFamily="34" charset="0"/>
              </a:defRPr>
            </a:lvl4pPr>
            <a:lvl5pPr marL="2057400" indent="-228600">
              <a:spcBef>
                <a:spcPct val="20000"/>
              </a:spcBef>
              <a:buChar char="»"/>
              <a:defRPr sz="1600">
                <a:latin typeface="Arial" panose="020B0604020202020204" pitchFamily="34" charset="0"/>
              </a:defRPr>
            </a:lvl5pPr>
            <a:lvl6pPr marL="2514600" indent="-228600" eaLnBrk="0" fontAlgn="base" hangingPunct="0">
              <a:spcBef>
                <a:spcPct val="20000"/>
              </a:spcBef>
              <a:spcAft>
                <a:spcPct val="0"/>
              </a:spcAft>
              <a:buChar char="»"/>
              <a:defRPr sz="1600">
                <a:latin typeface="Arial" panose="020B0604020202020204" pitchFamily="34" charset="0"/>
              </a:defRPr>
            </a:lvl6pPr>
            <a:lvl7pPr marL="2971800" indent="-228600" eaLnBrk="0" fontAlgn="base" hangingPunct="0">
              <a:spcBef>
                <a:spcPct val="20000"/>
              </a:spcBef>
              <a:spcAft>
                <a:spcPct val="0"/>
              </a:spcAft>
              <a:buChar char="»"/>
              <a:defRPr sz="1600">
                <a:latin typeface="Arial" panose="020B0604020202020204" pitchFamily="34" charset="0"/>
              </a:defRPr>
            </a:lvl7pPr>
            <a:lvl8pPr marL="3429000" indent="-228600" eaLnBrk="0" fontAlgn="base" hangingPunct="0">
              <a:spcBef>
                <a:spcPct val="20000"/>
              </a:spcBef>
              <a:spcAft>
                <a:spcPct val="0"/>
              </a:spcAft>
              <a:buChar char="»"/>
              <a:defRPr sz="1600">
                <a:latin typeface="Arial" panose="020B0604020202020204" pitchFamily="34" charset="0"/>
              </a:defRPr>
            </a:lvl8pPr>
            <a:lvl9pPr marL="3886200" indent="-228600" eaLnBrk="0" fontAlgn="base" hangingPunct="0">
              <a:spcBef>
                <a:spcPct val="20000"/>
              </a:spcBef>
              <a:spcAft>
                <a:spcPct val="0"/>
              </a:spcAft>
              <a:buChar char="»"/>
              <a:defRPr sz="1600">
                <a:latin typeface="Arial" panose="020B0604020202020204" pitchFamily="34" charset="0"/>
              </a:defRPr>
            </a:lvl9pPr>
          </a:lstStyle>
          <a:p>
            <a:r>
              <a:rPr lang="zh-CN" altLang="en-US" dirty="0"/>
              <a:t>杨延青、</a:t>
            </a:r>
            <a:r>
              <a:rPr lang="en-US" altLang="zh-CN" dirty="0" err="1"/>
              <a:t>Leili</a:t>
            </a:r>
            <a:r>
              <a:rPr lang="en-US" altLang="zh-CN" dirty="0"/>
              <a:t> Zhang</a:t>
            </a:r>
          </a:p>
          <a:p>
            <a:r>
              <a:rPr lang="en-US" altLang="zh-CN" dirty="0"/>
              <a:t>2023/4/27</a:t>
            </a:r>
            <a:endParaRPr lang="zh-CN" altLang="en-US" dirty="0"/>
          </a:p>
        </p:txBody>
      </p:sp>
    </p:spTree>
    <p:extLst>
      <p:ext uri="{BB962C8B-B14F-4D97-AF65-F5344CB8AC3E}">
        <p14:creationId xmlns:p14="http://schemas.microsoft.com/office/powerpoint/2010/main" val="181520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B637255-AEE8-4626-BBA0-13FF67C09933}"/>
              </a:ext>
            </a:extLst>
          </p:cNvPr>
          <p:cNvSpPr>
            <a:spLocks noGrp="1"/>
          </p:cNvSpPr>
          <p:nvPr>
            <p:ph type="sldNum" sz="quarter" idx="12"/>
          </p:nvPr>
        </p:nvSpPr>
        <p:spPr/>
        <p:txBody>
          <a:bodyPr/>
          <a:lstStyle/>
          <a:p>
            <a:fld id="{16E8786C-AEBF-4628-93F9-C4303727CCD9}" type="slidenum">
              <a:rPr lang="zh-CN" altLang="en-US" smtClean="0"/>
              <a:t>2</a:t>
            </a:fld>
            <a:endParaRPr lang="zh-CN" altLang="en-US"/>
          </a:p>
        </p:txBody>
      </p:sp>
      <p:sp>
        <p:nvSpPr>
          <p:cNvPr id="6" name="文本框 5">
            <a:extLst>
              <a:ext uri="{FF2B5EF4-FFF2-40B4-BE49-F238E27FC236}">
                <a16:creationId xmlns:a16="http://schemas.microsoft.com/office/drawing/2014/main" id="{CE9466AD-3823-4BE7-A03C-E934059CA90F}"/>
              </a:ext>
            </a:extLst>
          </p:cNvPr>
          <p:cNvSpPr txBox="1"/>
          <p:nvPr/>
        </p:nvSpPr>
        <p:spPr>
          <a:xfrm>
            <a:off x="573099" y="779531"/>
            <a:ext cx="5622296" cy="1705403"/>
          </a:xfrm>
          <a:prstGeom prst="rect">
            <a:avLst/>
          </a:prstGeom>
          <a:noFill/>
        </p:spPr>
        <p:txBody>
          <a:bodyPr wrap="square" rtlCol="0">
            <a:spAutoFit/>
          </a:bodyPr>
          <a:lstStyle/>
          <a:p>
            <a:pPr marL="285750" indent="-285750" algn="just">
              <a:lnSpc>
                <a:spcPct val="150000"/>
              </a:lnSpc>
              <a:buFont typeface="Wingdings" pitchFamily="2" charset="2"/>
              <a:buChar char="v"/>
            </a:pP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恶性冠状病毒在短时间内对全球政治，经济以及人类健康造成了</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巨大威胁</a:t>
            </a: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itchFamily="2" charset="2"/>
              <a:buChar char="v"/>
            </a:pP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鉴于恶性冠状病毒的演变历史，</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未来不久或将迎来新的具有恶性传染性的冠状病毒</a:t>
            </a: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8F15FCFA-76AE-429D-84A8-FFE78842961D}"/>
              </a:ext>
            </a:extLst>
          </p:cNvPr>
          <p:cNvSpPr/>
          <p:nvPr/>
        </p:nvSpPr>
        <p:spPr>
          <a:xfrm>
            <a:off x="2100000" y="6292819"/>
            <a:ext cx="7992000" cy="400110"/>
          </a:xfrm>
          <a:prstGeom prst="rect">
            <a:avLst/>
          </a:prstGeom>
          <a:solidFill>
            <a:srgbClr val="2D86AF"/>
          </a:solidFill>
          <a:ln>
            <a:solidFill>
              <a:srgbClr val="2D86AF"/>
            </a:solidFill>
          </a:ln>
        </p:spPr>
        <p:txBody>
          <a:bodyPr wrap="square">
            <a:spAutoFit/>
          </a:bodyPr>
          <a:lstStyle/>
          <a:p>
            <a:pPr algn="ctr">
              <a:spcBef>
                <a:spcPts val="1200"/>
              </a:spcBef>
              <a:spcAft>
                <a:spcPts val="1200"/>
              </a:spcAft>
              <a:defRPr/>
            </a:pPr>
            <a:r>
              <a:rPr lang="zh-CN" altLang="en-US" sz="2000" b="1" dirty="0">
                <a:solidFill>
                  <a:schemeClr val="bg1"/>
                </a:solidFill>
                <a:latin typeface="微软雅黑" panose="020B0503020204020204" pitchFamily="34" charset="-122"/>
                <a:ea typeface="微软雅黑" panose="020B0503020204020204" pitchFamily="34" charset="-122"/>
                <a:sym typeface="+mn-ea"/>
              </a:rPr>
              <a:t>迫切需要开发快速抗击恶性突发性冠状病毒的候选药物和关键技术</a:t>
            </a:r>
          </a:p>
        </p:txBody>
      </p:sp>
      <p:sp>
        <p:nvSpPr>
          <p:cNvPr id="14" name="矩形 13">
            <a:extLst>
              <a:ext uri="{FF2B5EF4-FFF2-40B4-BE49-F238E27FC236}">
                <a16:creationId xmlns:a16="http://schemas.microsoft.com/office/drawing/2014/main" id="{C696CF9D-91CF-40BE-ABAF-8615212EE78F}"/>
              </a:ext>
            </a:extLst>
          </p:cNvPr>
          <p:cNvSpPr/>
          <p:nvPr/>
        </p:nvSpPr>
        <p:spPr>
          <a:xfrm>
            <a:off x="1066853" y="165071"/>
            <a:ext cx="1930185" cy="584775"/>
          </a:xfrm>
          <a:prstGeom prst="rect">
            <a:avLst/>
          </a:prstGeom>
        </p:spPr>
        <p:txBody>
          <a:bodyPr wrap="square">
            <a:spAutoFit/>
          </a:bodyPr>
          <a:lstStyle/>
          <a:p>
            <a:r>
              <a:rPr lang="zh-CN" altLang="en-US" sz="3200" b="1" dirty="0">
                <a:solidFill>
                  <a:srgbClr val="002060"/>
                </a:solidFill>
                <a:latin typeface="微软雅黑" panose="020B0503020204020204" pitchFamily="34" charset="-122"/>
                <a:ea typeface="微软雅黑" panose="020B0503020204020204" pitchFamily="34" charset="-122"/>
              </a:rPr>
              <a:t>研究背景</a:t>
            </a:r>
          </a:p>
        </p:txBody>
      </p:sp>
      <p:sp>
        <p:nvSpPr>
          <p:cNvPr id="21" name="文本框 20">
            <a:extLst>
              <a:ext uri="{FF2B5EF4-FFF2-40B4-BE49-F238E27FC236}">
                <a16:creationId xmlns:a16="http://schemas.microsoft.com/office/drawing/2014/main" id="{3CE4B447-ED93-40DD-B365-231299343C87}"/>
              </a:ext>
            </a:extLst>
          </p:cNvPr>
          <p:cNvSpPr txBox="1"/>
          <p:nvPr/>
        </p:nvSpPr>
        <p:spPr>
          <a:xfrm>
            <a:off x="6382661" y="5503551"/>
            <a:ext cx="5115944" cy="700576"/>
          </a:xfrm>
          <a:prstGeom prst="rect">
            <a:avLst/>
          </a:prstGeom>
          <a:noFill/>
        </p:spPr>
        <p:txBody>
          <a:bodyPr wrap="square" rtlCol="0">
            <a:spAutoFit/>
          </a:bodyPr>
          <a:lstStyle>
            <a:defPPr>
              <a:defRPr lang="en-US"/>
            </a:defPPr>
            <a:lvl1pPr marL="285750" indent="-285750" algn="just">
              <a:lnSpc>
                <a:spcPct val="150000"/>
              </a:lnSpc>
              <a:buFont typeface="Wingdings" pitchFamily="2" charset="2"/>
              <a:buChar char="v"/>
              <a:defRPr>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sz="1400" dirty="0"/>
              <a:t>主蛋白酶活性位点高度保守，成药潜力巨大，有望成为开发广谱抗恶行冠状病毒药物的靶标</a:t>
            </a:r>
            <a:endParaRPr lang="en-US" altLang="zh-CN" sz="1400" dirty="0"/>
          </a:p>
        </p:txBody>
      </p:sp>
      <p:pic>
        <p:nvPicPr>
          <p:cNvPr id="2" name="图片 1">
            <a:extLst>
              <a:ext uri="{FF2B5EF4-FFF2-40B4-BE49-F238E27FC236}">
                <a16:creationId xmlns:a16="http://schemas.microsoft.com/office/drawing/2014/main" id="{367CAC19-15F1-483D-B978-7F1E0D899188}"/>
              </a:ext>
            </a:extLst>
          </p:cNvPr>
          <p:cNvPicPr>
            <a:picLocks noChangeAspect="1"/>
          </p:cNvPicPr>
          <p:nvPr/>
        </p:nvPicPr>
        <p:blipFill>
          <a:blip r:embed="rId3"/>
          <a:stretch>
            <a:fillRect/>
          </a:stretch>
        </p:blipFill>
        <p:spPr>
          <a:xfrm>
            <a:off x="7045098" y="3595089"/>
            <a:ext cx="1565502" cy="1697670"/>
          </a:xfrm>
          <a:prstGeom prst="rect">
            <a:avLst/>
          </a:prstGeom>
        </p:spPr>
      </p:pic>
      <p:pic>
        <p:nvPicPr>
          <p:cNvPr id="28" name="图片 27">
            <a:extLst>
              <a:ext uri="{FF2B5EF4-FFF2-40B4-BE49-F238E27FC236}">
                <a16:creationId xmlns:a16="http://schemas.microsoft.com/office/drawing/2014/main" id="{F7A61BC8-C9AF-48F7-B6F9-E2B9612AC339}"/>
              </a:ext>
            </a:extLst>
          </p:cNvPr>
          <p:cNvPicPr>
            <a:picLocks noChangeAspect="1"/>
          </p:cNvPicPr>
          <p:nvPr/>
        </p:nvPicPr>
        <p:blipFill>
          <a:blip r:embed="rId4"/>
          <a:stretch>
            <a:fillRect/>
          </a:stretch>
        </p:blipFill>
        <p:spPr>
          <a:xfrm>
            <a:off x="8864619" y="3502584"/>
            <a:ext cx="2235162" cy="877809"/>
          </a:xfrm>
          <a:prstGeom prst="rect">
            <a:avLst/>
          </a:prstGeom>
        </p:spPr>
      </p:pic>
      <p:pic>
        <p:nvPicPr>
          <p:cNvPr id="29" name="图片 28">
            <a:extLst>
              <a:ext uri="{FF2B5EF4-FFF2-40B4-BE49-F238E27FC236}">
                <a16:creationId xmlns:a16="http://schemas.microsoft.com/office/drawing/2014/main" id="{6B7BF9B1-AEA6-42D9-8C72-0383963F94A5}"/>
              </a:ext>
            </a:extLst>
          </p:cNvPr>
          <p:cNvPicPr>
            <a:picLocks noChangeAspect="1"/>
          </p:cNvPicPr>
          <p:nvPr/>
        </p:nvPicPr>
        <p:blipFill>
          <a:blip r:embed="rId5"/>
          <a:stretch>
            <a:fillRect/>
          </a:stretch>
        </p:blipFill>
        <p:spPr>
          <a:xfrm>
            <a:off x="8940633" y="4443924"/>
            <a:ext cx="2083133" cy="970935"/>
          </a:xfrm>
          <a:prstGeom prst="rect">
            <a:avLst/>
          </a:prstGeom>
        </p:spPr>
      </p:pic>
      <p:pic>
        <p:nvPicPr>
          <p:cNvPr id="31" name="图片 30">
            <a:extLst>
              <a:ext uri="{FF2B5EF4-FFF2-40B4-BE49-F238E27FC236}">
                <a16:creationId xmlns:a16="http://schemas.microsoft.com/office/drawing/2014/main" id="{322CEC5D-9427-4BBF-A3C9-B4ACB946B11E}"/>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2101" b="21980" l="5667" r="47754">
                        <a14:foregroundMark x1="14029" y1="15232" x2="14029" y2="15232"/>
                        <a14:foregroundMark x1="14029" y1="13697" x2="15480" y2="10182"/>
                        <a14:foregroundMark x1="15480" y1="10182" x2="14167" y2="6586"/>
                        <a14:foregroundMark x1="14167" y1="6586" x2="15549" y2="4202"/>
                        <a14:foregroundMark x1="9468" y1="14545" x2="11196" y2="7475"/>
                        <a14:foregroundMark x1="11196" y1="7475" x2="13683" y2="4242"/>
                        <a14:foregroundMark x1="13683" y1="4242" x2="24879" y2="2263"/>
                        <a14:foregroundMark x1="24879" y1="2263" x2="30753" y2="2828"/>
                        <a14:foregroundMark x1="30753" y1="2828" x2="36006" y2="5535"/>
                        <a14:foregroundMark x1="36006" y1="5535" x2="48514" y2="6465"/>
                        <a14:foregroundMark x1="48514" y1="6465" x2="43055" y2="8444"/>
                        <a14:foregroundMark x1="43055" y1="8444" x2="46648" y2="11717"/>
                        <a14:foregroundMark x1="46648" y1="11717" x2="47478" y2="15556"/>
                        <a14:foregroundMark x1="47478" y1="15556" x2="44851" y2="18626"/>
                        <a14:foregroundMark x1="44851" y1="18626" x2="40014" y2="21131"/>
                        <a14:foregroundMark x1="40014" y1="21131" x2="33656" y2="21899"/>
                        <a14:foregroundMark x1="33656" y1="21899" x2="27989" y2="20970"/>
                        <a14:foregroundMark x1="27989" y1="20970" x2="15273" y2="22626"/>
                        <a14:foregroundMark x1="15273" y1="22626" x2="9675" y2="21455"/>
                        <a14:foregroundMark x1="9675" y1="21455" x2="4838" y2="18707"/>
                        <a14:foregroundMark x1="4838" y1="18707" x2="4423" y2="14949"/>
                        <a14:foregroundMark x1="4423" y1="14949" x2="6012" y2="11515"/>
                        <a14:foregroundMark x1="6012" y1="11515" x2="10435" y2="9051"/>
                        <a14:foregroundMark x1="10435" y1="9051" x2="10504" y2="9051"/>
                        <a14:foregroundMark x1="11541" y1="6141" x2="15619" y2="3515"/>
                        <a14:foregroundMark x1="15619" y1="3515" x2="28265" y2="2424"/>
                        <a14:foregroundMark x1="28265" y1="2424" x2="25432" y2="2505"/>
                        <a14:foregroundMark x1="31030" y1="2909" x2="26469" y2="2343"/>
                        <a14:foregroundMark x1="41465" y1="7717" x2="35867" y2="6505"/>
                        <a14:foregroundMark x1="35867" y1="6505" x2="42985" y2="8242"/>
                        <a14:foregroundMark x1="42985" y1="8242" x2="37111" y2="6061"/>
                        <a14:foregroundMark x1="37111" y1="6061" x2="44160" y2="6909"/>
                        <a14:foregroundMark x1="44160" y1="6909" x2="38355" y2="7475"/>
                        <a14:foregroundMark x1="38355" y1="7475" x2="42294" y2="10141"/>
                        <a14:foregroundMark x1="13407" y1="9859" x2="12440" y2="13333"/>
                        <a14:foregroundMark x1="12440" y1="13333" x2="14305" y2="9737"/>
                        <a14:foregroundMark x1="14305" y1="9737" x2="12370" y2="17576"/>
                        <a14:foregroundMark x1="12370" y1="17576" x2="12785" y2="17859"/>
                        <a14:foregroundMark x1="14789" y1="15232" x2="17070" y2="12121"/>
                        <a14:foregroundMark x1="17070" y1="12121" x2="17554" y2="17495"/>
                        <a14:foregroundMark x1="17554" y1="17495" x2="14720" y2="14505"/>
                        <a14:foregroundMark x1="14720" y1="14505" x2="17415" y2="11354"/>
                        <a14:foregroundMark x1="17415" y1="11354" x2="19212" y2="16687"/>
                        <a14:foregroundMark x1="19212" y1="16687" x2="15204" y2="19677"/>
                        <a14:foregroundMark x1="15204" y1="19677" x2="9122" y2="18909"/>
                        <a14:foregroundMark x1="9122" y1="18909" x2="14444" y2="21616"/>
                        <a14:foregroundMark x1="14444" y1="21616" x2="21216" y2="21818"/>
                        <a14:foregroundMark x1="21216" y1="21818" x2="27782" y2="20970"/>
                        <a14:foregroundMark x1="27782" y1="20970" x2="39668" y2="22020"/>
                        <a14:foregroundMark x1="39668" y1="22020" x2="47823" y2="16283"/>
                        <a14:foregroundMark x1="47823" y1="16283" x2="47892" y2="8000"/>
                        <a14:foregroundMark x1="47892" y1="8000" x2="42847" y2="4727"/>
                        <a14:foregroundMark x1="42847" y1="4727" x2="36697" y2="5091"/>
                        <a14:foregroundMark x1="36697" y1="5091" x2="34692" y2="5657"/>
                        <a14:foregroundMark x1="7878" y1="20929" x2="13269" y2="22788"/>
                        <a14:foregroundMark x1="13269" y1="22788" x2="19489" y2="23394"/>
                        <a14:foregroundMark x1="19489" y1="23394" x2="26330" y2="22990"/>
                        <a14:foregroundMark x1="26330" y1="22990" x2="31513" y2="21253"/>
                        <a14:foregroundMark x1="31513" y1="21253" x2="33172" y2="20040"/>
                        <a14:foregroundMark x1="15619" y1="4121" x2="20594" y2="2141"/>
                        <a14:foregroundMark x1="20594" y1="2141" x2="25363" y2="2545"/>
                        <a14:foregroundMark x1="6565" y1="11717" x2="7740" y2="8323"/>
                        <a14:foregroundMark x1="7740" y1="8323" x2="15619" y2="6303"/>
                        <a14:foregroundMark x1="10021" y1="7636" x2="13753" y2="5212"/>
                        <a14:foregroundMark x1="10643" y1="7596" x2="13545" y2="4444"/>
                        <a14:foregroundMark x1="13545" y1="4444" x2="16310" y2="4121"/>
                        <a14:foregroundMark x1="16517" y1="3798" x2="20871" y2="2424"/>
                        <a14:foregroundMark x1="17415" y1="3152" x2="18936" y2="2707"/>
                        <a14:foregroundMark x1="12992" y1="21778" x2="18798" y2="21980"/>
                        <a14:foregroundMark x1="13753" y1="17374" x2="23773" y2="16242"/>
                      </a14:backgroundRemoval>
                    </a14:imgEffect>
                  </a14:imgLayer>
                </a14:imgProps>
              </a:ext>
              <a:ext uri="{28A0092B-C50C-407E-A947-70E740481C1C}">
                <a14:useLocalDpi xmlns:a14="http://schemas.microsoft.com/office/drawing/2010/main" val="0"/>
              </a:ext>
            </a:extLst>
          </a:blip>
          <a:srcRect l="3882" t="1812" r="50326" b="77540"/>
          <a:stretch/>
        </p:blipFill>
        <p:spPr>
          <a:xfrm>
            <a:off x="6344405" y="729827"/>
            <a:ext cx="2629319" cy="2028850"/>
          </a:xfrm>
          <a:prstGeom prst="rect">
            <a:avLst/>
          </a:prstGeom>
        </p:spPr>
      </p:pic>
      <p:grpSp>
        <p:nvGrpSpPr>
          <p:cNvPr id="3" name="组合 2">
            <a:extLst>
              <a:ext uri="{FF2B5EF4-FFF2-40B4-BE49-F238E27FC236}">
                <a16:creationId xmlns:a16="http://schemas.microsoft.com/office/drawing/2014/main" id="{39B21696-B103-4C74-B135-9844FBFD0515}"/>
              </a:ext>
            </a:extLst>
          </p:cNvPr>
          <p:cNvGrpSpPr/>
          <p:nvPr/>
        </p:nvGrpSpPr>
        <p:grpSpPr>
          <a:xfrm>
            <a:off x="797001" y="2640721"/>
            <a:ext cx="4937138" cy="3437748"/>
            <a:chOff x="775997" y="2670343"/>
            <a:chExt cx="5630986" cy="3920877"/>
          </a:xfrm>
        </p:grpSpPr>
        <p:pic>
          <p:nvPicPr>
            <p:cNvPr id="16" name="图片 15">
              <a:extLst>
                <a:ext uri="{FF2B5EF4-FFF2-40B4-BE49-F238E27FC236}">
                  <a16:creationId xmlns:a16="http://schemas.microsoft.com/office/drawing/2014/main" id="{A0205AAC-3386-4756-8DA8-BC0F46A277A8}"/>
                </a:ext>
              </a:extLst>
            </p:cNvPr>
            <p:cNvPicPr>
              <a:picLocks noChangeAspect="1"/>
            </p:cNvPicPr>
            <p:nvPr/>
          </p:nvPicPr>
          <p:blipFill>
            <a:blip r:embed="rId8"/>
            <a:stretch>
              <a:fillRect/>
            </a:stretch>
          </p:blipFill>
          <p:spPr>
            <a:xfrm>
              <a:off x="775997" y="2670343"/>
              <a:ext cx="5630986" cy="3920877"/>
            </a:xfrm>
            <a:prstGeom prst="rect">
              <a:avLst/>
            </a:prstGeom>
          </p:spPr>
        </p:pic>
        <p:sp>
          <p:nvSpPr>
            <p:cNvPr id="17" name="矩形 16">
              <a:extLst>
                <a:ext uri="{FF2B5EF4-FFF2-40B4-BE49-F238E27FC236}">
                  <a16:creationId xmlns:a16="http://schemas.microsoft.com/office/drawing/2014/main" id="{4EACE9FA-A4AE-4D35-9F7A-11239A9A9866}"/>
                </a:ext>
              </a:extLst>
            </p:cNvPr>
            <p:cNvSpPr/>
            <p:nvPr/>
          </p:nvSpPr>
          <p:spPr>
            <a:xfrm>
              <a:off x="2161365" y="4927582"/>
              <a:ext cx="1693376" cy="4828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8" name="图片 17">
            <a:extLst>
              <a:ext uri="{FF2B5EF4-FFF2-40B4-BE49-F238E27FC236}">
                <a16:creationId xmlns:a16="http://schemas.microsoft.com/office/drawing/2014/main" id="{54C61DD7-8D3D-461C-80E9-EF1932D7DB54}"/>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6457863" y="2847369"/>
            <a:ext cx="5274310" cy="640080"/>
          </a:xfrm>
          <a:prstGeom prst="rect">
            <a:avLst/>
          </a:prstGeom>
        </p:spPr>
      </p:pic>
      <p:sp>
        <p:nvSpPr>
          <p:cNvPr id="5" name="矩形 4">
            <a:extLst>
              <a:ext uri="{FF2B5EF4-FFF2-40B4-BE49-F238E27FC236}">
                <a16:creationId xmlns:a16="http://schemas.microsoft.com/office/drawing/2014/main" id="{28591ACF-B5DB-46E7-8F43-A231AFF996B7}"/>
              </a:ext>
            </a:extLst>
          </p:cNvPr>
          <p:cNvSpPr/>
          <p:nvPr/>
        </p:nvSpPr>
        <p:spPr>
          <a:xfrm>
            <a:off x="8973724" y="1099299"/>
            <a:ext cx="2807084" cy="1289905"/>
          </a:xfrm>
          <a:prstGeom prst="rect">
            <a:avLst/>
          </a:prstGeom>
          <a:noFill/>
        </p:spPr>
        <p:txBody>
          <a:bodyPr wrap="square" rtlCol="0">
            <a:spAutoFit/>
          </a:bodyPr>
          <a:lstStyle/>
          <a:p>
            <a:pPr algn="just">
              <a:lnSpc>
                <a:spcPct val="150000"/>
              </a:lnSpc>
            </a:pPr>
            <a:r>
              <a:rPr lang="en-US" altLang="zh-CN"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-X-(L/F/M)-Q↓(G/A/S)-X</a:t>
            </a: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可为任何氨基酸；↓表示切割位点）</a:t>
            </a:r>
          </a:p>
        </p:txBody>
      </p:sp>
    </p:spTree>
    <p:extLst>
      <p:ext uri="{BB962C8B-B14F-4D97-AF65-F5344CB8AC3E}">
        <p14:creationId xmlns:p14="http://schemas.microsoft.com/office/powerpoint/2010/main" val="3014301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a:extLst>
              <a:ext uri="{FF2B5EF4-FFF2-40B4-BE49-F238E27FC236}">
                <a16:creationId xmlns:a16="http://schemas.microsoft.com/office/drawing/2014/main" id="{AFA19BC2-B492-4B81-A3E4-58DCEDFD7234}"/>
              </a:ext>
            </a:extLst>
          </p:cNvPr>
          <p:cNvSpPr/>
          <p:nvPr/>
        </p:nvSpPr>
        <p:spPr>
          <a:xfrm>
            <a:off x="0" y="6488667"/>
            <a:ext cx="12192000" cy="369332"/>
          </a:xfrm>
          <a:prstGeom prst="rect">
            <a:avLst/>
          </a:prstGeom>
          <a:solidFill>
            <a:srgbClr val="4375AB"/>
          </a:solidFill>
          <a:ln>
            <a:solidFill>
              <a:srgbClr val="4375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a:extLst>
              <a:ext uri="{FF2B5EF4-FFF2-40B4-BE49-F238E27FC236}">
                <a16:creationId xmlns:a16="http://schemas.microsoft.com/office/drawing/2014/main" id="{A90E91FA-6BD5-41F4-BD4B-2CEDAA0BAC11}"/>
              </a:ext>
            </a:extLst>
          </p:cNvPr>
          <p:cNvSpPr>
            <a:spLocks noGrp="1"/>
          </p:cNvSpPr>
          <p:nvPr>
            <p:ph type="sldNum" sz="quarter" idx="12"/>
          </p:nvPr>
        </p:nvSpPr>
        <p:spPr/>
        <p:txBody>
          <a:bodyPr/>
          <a:lstStyle/>
          <a:p>
            <a:fld id="{16E8786C-AEBF-4628-93F9-C4303727CCD9}" type="slidenum">
              <a:rPr lang="zh-CN" altLang="en-US" smtClean="0"/>
              <a:t>3</a:t>
            </a:fld>
            <a:endParaRPr lang="zh-CN" altLang="en-US"/>
          </a:p>
        </p:txBody>
      </p:sp>
      <p:sp>
        <p:nvSpPr>
          <p:cNvPr id="34" name="右箭头 2">
            <a:extLst>
              <a:ext uri="{FF2B5EF4-FFF2-40B4-BE49-F238E27FC236}">
                <a16:creationId xmlns:a16="http://schemas.microsoft.com/office/drawing/2014/main" id="{559A8AA7-E802-4D3F-A81A-80D49FB35872}"/>
              </a:ext>
            </a:extLst>
          </p:cNvPr>
          <p:cNvSpPr/>
          <p:nvPr/>
        </p:nvSpPr>
        <p:spPr bwMode="auto">
          <a:xfrm>
            <a:off x="4117365" y="4282149"/>
            <a:ext cx="1188000" cy="270000"/>
          </a:xfrm>
          <a:prstGeom prst="rightArrow">
            <a:avLst/>
          </a:prstGeom>
          <a:solidFill>
            <a:srgbClr val="946BAF"/>
          </a:solidFill>
          <a:ln w="28575" algn="ctr">
            <a:solidFill>
              <a:srgbClr val="946BAF"/>
            </a:solidFill>
            <a:miter lim="800000"/>
          </a:ln>
        </p:spPr>
        <p:txBody>
          <a:bodyPr wrap="none" rtlCol="0" anchor="ctr"/>
          <a:lstStyle/>
          <a:p>
            <a:pPr algn="ctr"/>
            <a:endParaRPr lang="zh-CN" altLang="en-US" sz="1350">
              <a:ln>
                <a:solidFill>
                  <a:schemeClr val="bg1"/>
                </a:solidFill>
              </a:ln>
            </a:endParaRPr>
          </a:p>
        </p:txBody>
      </p:sp>
      <p:sp>
        <p:nvSpPr>
          <p:cNvPr id="35" name="圆角矩形 31">
            <a:extLst>
              <a:ext uri="{FF2B5EF4-FFF2-40B4-BE49-F238E27FC236}">
                <a16:creationId xmlns:a16="http://schemas.microsoft.com/office/drawing/2014/main" id="{142BBDE4-6F5A-4A8D-92A4-6B66ABB5DC19}"/>
              </a:ext>
            </a:extLst>
          </p:cNvPr>
          <p:cNvSpPr/>
          <p:nvPr/>
        </p:nvSpPr>
        <p:spPr>
          <a:xfrm>
            <a:off x="1737936" y="3370833"/>
            <a:ext cx="2375394" cy="2088000"/>
          </a:xfrm>
          <a:prstGeom prst="roundRect">
            <a:avLst/>
          </a:prstGeom>
          <a:solidFill>
            <a:srgbClr val="5CC8D3">
              <a:alpha val="70000"/>
            </a:srgbClr>
          </a:solidFill>
          <a:ln>
            <a:solidFill>
              <a:srgbClr val="5CC8D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b="1" dirty="0">
              <a:solidFill>
                <a:prstClr val="white"/>
              </a:solidFill>
              <a:latin typeface="楷体" panose="02010609060101010101" pitchFamily="49" charset="-122"/>
              <a:ea typeface="楷体" panose="02010609060101010101" pitchFamily="49" charset="-122"/>
            </a:endParaRPr>
          </a:p>
        </p:txBody>
      </p:sp>
      <p:sp>
        <p:nvSpPr>
          <p:cNvPr id="36" name="圆角矩形 7">
            <a:extLst>
              <a:ext uri="{FF2B5EF4-FFF2-40B4-BE49-F238E27FC236}">
                <a16:creationId xmlns:a16="http://schemas.microsoft.com/office/drawing/2014/main" id="{7B6F6F2E-9987-4470-A4DF-1A1B8D5D65B1}"/>
              </a:ext>
            </a:extLst>
          </p:cNvPr>
          <p:cNvSpPr/>
          <p:nvPr/>
        </p:nvSpPr>
        <p:spPr bwMode="auto">
          <a:xfrm>
            <a:off x="2063951" y="3641069"/>
            <a:ext cx="1758834" cy="359683"/>
          </a:xfrm>
          <a:prstGeom prst="roundRect">
            <a:avLst/>
          </a:prstGeom>
          <a:solidFill>
            <a:srgbClr val="223E6C"/>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200"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37" name="圆角矩形 33">
            <a:extLst>
              <a:ext uri="{FF2B5EF4-FFF2-40B4-BE49-F238E27FC236}">
                <a16:creationId xmlns:a16="http://schemas.microsoft.com/office/drawing/2014/main" id="{D22D858D-C147-4745-BBAC-B80DB5A629DA}"/>
              </a:ext>
            </a:extLst>
          </p:cNvPr>
          <p:cNvSpPr/>
          <p:nvPr/>
        </p:nvSpPr>
        <p:spPr bwMode="auto">
          <a:xfrm>
            <a:off x="2058141" y="4283848"/>
            <a:ext cx="1762724" cy="359683"/>
          </a:xfrm>
          <a:prstGeom prst="roundRect">
            <a:avLst/>
          </a:prstGeom>
          <a:solidFill>
            <a:srgbClr val="223E6C"/>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200"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38" name="圆角矩形 41">
            <a:extLst>
              <a:ext uri="{FF2B5EF4-FFF2-40B4-BE49-F238E27FC236}">
                <a16:creationId xmlns:a16="http://schemas.microsoft.com/office/drawing/2014/main" id="{C7B97D36-8582-4F34-8D3C-CF4E43656135}"/>
              </a:ext>
            </a:extLst>
          </p:cNvPr>
          <p:cNvSpPr/>
          <p:nvPr/>
        </p:nvSpPr>
        <p:spPr bwMode="auto">
          <a:xfrm>
            <a:off x="2258108" y="3073773"/>
            <a:ext cx="1350149" cy="359683"/>
          </a:xfrm>
          <a:prstGeom prst="roundRect">
            <a:avLst/>
          </a:prstGeom>
          <a:solidFill>
            <a:srgbClr val="F9A355"/>
          </a:solidFill>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altLang="zh-CN" sz="1500" b="1" dirty="0">
              <a:solidFill>
                <a:prstClr val="black"/>
              </a:solidFill>
              <a:latin typeface="黑体" panose="02010609060101010101" pitchFamily="49" charset="-122"/>
              <a:ea typeface="黑体" panose="02010609060101010101" pitchFamily="49" charset="-122"/>
            </a:endParaRPr>
          </a:p>
        </p:txBody>
      </p:sp>
      <p:sp>
        <p:nvSpPr>
          <p:cNvPr id="39" name="圆角矩形 38">
            <a:extLst>
              <a:ext uri="{FF2B5EF4-FFF2-40B4-BE49-F238E27FC236}">
                <a16:creationId xmlns:a16="http://schemas.microsoft.com/office/drawing/2014/main" id="{892803A0-F335-47CB-8F53-EFC0B9DAD061}"/>
              </a:ext>
            </a:extLst>
          </p:cNvPr>
          <p:cNvSpPr/>
          <p:nvPr/>
        </p:nvSpPr>
        <p:spPr bwMode="auto">
          <a:xfrm>
            <a:off x="2051181" y="4905862"/>
            <a:ext cx="1764000" cy="360000"/>
          </a:xfrm>
          <a:prstGeom prst="roundRect">
            <a:avLst/>
          </a:prstGeom>
          <a:solidFill>
            <a:srgbClr val="002060">
              <a:alpha val="70000"/>
            </a:srgbClr>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200"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40" name="矩形 39">
            <a:extLst>
              <a:ext uri="{FF2B5EF4-FFF2-40B4-BE49-F238E27FC236}">
                <a16:creationId xmlns:a16="http://schemas.microsoft.com/office/drawing/2014/main" id="{E7390F9F-86EE-4E3C-BE26-758C1895A21B}"/>
              </a:ext>
            </a:extLst>
          </p:cNvPr>
          <p:cNvSpPr/>
          <p:nvPr/>
        </p:nvSpPr>
        <p:spPr>
          <a:xfrm>
            <a:off x="2359949" y="3097655"/>
            <a:ext cx="1146469" cy="323165"/>
          </a:xfrm>
          <a:prstGeom prst="rect">
            <a:avLst/>
          </a:prstGeom>
        </p:spPr>
        <p:txBody>
          <a:bodyPr wrap="none">
            <a:spAutoFit/>
          </a:bodyPr>
          <a:lstStyle/>
          <a:p>
            <a:pPr algn="ctr">
              <a:defRPr/>
            </a:pPr>
            <a:r>
              <a:rPr lang="zh-CN" altLang="en-US" sz="1500" b="1" dirty="0">
                <a:solidFill>
                  <a:prstClr val="black"/>
                </a:solidFill>
                <a:latin typeface="微软雅黑" panose="020B0503020204020204" pitchFamily="34" charset="-122"/>
                <a:ea typeface="微软雅黑" panose="020B0503020204020204" pitchFamily="34" charset="-122"/>
              </a:rPr>
              <a:t>瓶颈和挑战</a:t>
            </a:r>
            <a:endParaRPr lang="en-US" altLang="zh-CN" sz="1500" b="1" dirty="0">
              <a:solidFill>
                <a:prstClr val="black"/>
              </a:solidFill>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BA9D5611-503A-4650-A0FC-86E7644336C7}"/>
              </a:ext>
            </a:extLst>
          </p:cNvPr>
          <p:cNvSpPr/>
          <p:nvPr/>
        </p:nvSpPr>
        <p:spPr>
          <a:xfrm>
            <a:off x="2291628" y="4325189"/>
            <a:ext cx="1261884"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药物研发周期长</a:t>
            </a:r>
          </a:p>
        </p:txBody>
      </p:sp>
      <p:sp>
        <p:nvSpPr>
          <p:cNvPr id="42" name="矩形 41">
            <a:extLst>
              <a:ext uri="{FF2B5EF4-FFF2-40B4-BE49-F238E27FC236}">
                <a16:creationId xmlns:a16="http://schemas.microsoft.com/office/drawing/2014/main" id="{0F212632-5C01-4DBA-8C37-27F9085F959B}"/>
              </a:ext>
            </a:extLst>
          </p:cNvPr>
          <p:cNvSpPr/>
          <p:nvPr/>
        </p:nvSpPr>
        <p:spPr>
          <a:xfrm>
            <a:off x="2225295" y="4947363"/>
            <a:ext cx="1415773"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成本高且成功率低</a:t>
            </a:r>
          </a:p>
        </p:txBody>
      </p:sp>
      <p:sp>
        <p:nvSpPr>
          <p:cNvPr id="43" name="矩形 42">
            <a:extLst>
              <a:ext uri="{FF2B5EF4-FFF2-40B4-BE49-F238E27FC236}">
                <a16:creationId xmlns:a16="http://schemas.microsoft.com/office/drawing/2014/main" id="{08469043-70B0-477D-973E-E7C1FCDD9004}"/>
              </a:ext>
            </a:extLst>
          </p:cNvPr>
          <p:cNvSpPr/>
          <p:nvPr/>
        </p:nvSpPr>
        <p:spPr>
          <a:xfrm>
            <a:off x="1963773" y="3686521"/>
            <a:ext cx="1959191"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小分子化学空间大 </a:t>
            </a:r>
            <a:r>
              <a:rPr lang="en-US" altLang="zh-CN"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sz="1200" b="1" baseline="30000"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60</a:t>
            </a:r>
            <a:r>
              <a:rPr lang="en-US" altLang="zh-CN"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圆角矩形 31">
            <a:extLst>
              <a:ext uri="{FF2B5EF4-FFF2-40B4-BE49-F238E27FC236}">
                <a16:creationId xmlns:a16="http://schemas.microsoft.com/office/drawing/2014/main" id="{649B1A0E-9305-46F0-902F-56110D30A8D6}"/>
              </a:ext>
            </a:extLst>
          </p:cNvPr>
          <p:cNvSpPr/>
          <p:nvPr/>
        </p:nvSpPr>
        <p:spPr>
          <a:xfrm>
            <a:off x="5352646" y="3419024"/>
            <a:ext cx="2015054" cy="2088000"/>
          </a:xfrm>
          <a:prstGeom prst="roundRect">
            <a:avLst/>
          </a:prstGeom>
          <a:solidFill>
            <a:srgbClr val="5CC8D3">
              <a:alpha val="70000"/>
            </a:srgbClr>
          </a:solidFill>
          <a:ln>
            <a:solidFill>
              <a:srgbClr val="5CC8D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b="1">
              <a:solidFill>
                <a:prstClr val="white"/>
              </a:solidFill>
              <a:latin typeface="楷体" panose="02010609060101010101" pitchFamily="49" charset="-122"/>
              <a:ea typeface="楷体" panose="02010609060101010101" pitchFamily="49" charset="-122"/>
            </a:endParaRPr>
          </a:p>
        </p:txBody>
      </p:sp>
      <p:sp>
        <p:nvSpPr>
          <p:cNvPr id="49" name="圆角矩形 7">
            <a:extLst>
              <a:ext uri="{FF2B5EF4-FFF2-40B4-BE49-F238E27FC236}">
                <a16:creationId xmlns:a16="http://schemas.microsoft.com/office/drawing/2014/main" id="{89F42885-1651-4216-958F-23EEC1C32860}"/>
              </a:ext>
            </a:extLst>
          </p:cNvPr>
          <p:cNvSpPr/>
          <p:nvPr/>
        </p:nvSpPr>
        <p:spPr bwMode="auto">
          <a:xfrm>
            <a:off x="5486488" y="3637603"/>
            <a:ext cx="1717196" cy="360000"/>
          </a:xfrm>
          <a:prstGeom prst="roundRect">
            <a:avLst/>
          </a:prstGeom>
          <a:solidFill>
            <a:srgbClr val="223E6C">
              <a:alpha val="70000"/>
            </a:srgbClr>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125"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50" name="圆角矩形 33">
            <a:extLst>
              <a:ext uri="{FF2B5EF4-FFF2-40B4-BE49-F238E27FC236}">
                <a16:creationId xmlns:a16="http://schemas.microsoft.com/office/drawing/2014/main" id="{D2049781-AC8D-47DA-8862-182152088A42}"/>
              </a:ext>
            </a:extLst>
          </p:cNvPr>
          <p:cNvSpPr/>
          <p:nvPr/>
        </p:nvSpPr>
        <p:spPr bwMode="auto">
          <a:xfrm>
            <a:off x="5486488" y="4283530"/>
            <a:ext cx="1717196" cy="360000"/>
          </a:xfrm>
          <a:prstGeom prst="roundRect">
            <a:avLst/>
          </a:prstGeom>
          <a:solidFill>
            <a:srgbClr val="223E6C">
              <a:alpha val="70000"/>
            </a:srgbClr>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200"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51" name="圆角矩形 38">
            <a:extLst>
              <a:ext uri="{FF2B5EF4-FFF2-40B4-BE49-F238E27FC236}">
                <a16:creationId xmlns:a16="http://schemas.microsoft.com/office/drawing/2014/main" id="{B3C89D3F-1374-46D7-B0D6-FC5C1B93E5D3}"/>
              </a:ext>
            </a:extLst>
          </p:cNvPr>
          <p:cNvSpPr/>
          <p:nvPr/>
        </p:nvSpPr>
        <p:spPr bwMode="auto">
          <a:xfrm>
            <a:off x="5486488" y="4911405"/>
            <a:ext cx="1717196" cy="360000"/>
          </a:xfrm>
          <a:prstGeom prst="roundRect">
            <a:avLst/>
          </a:prstGeom>
          <a:solidFill>
            <a:srgbClr val="223E6C">
              <a:alpha val="70000"/>
            </a:srgbClr>
          </a:solidFill>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zh-CN" altLang="en-US" sz="1200" b="1" dirty="0">
              <a:solidFill>
                <a:prstClr val="white"/>
              </a:solidFill>
              <a:effectLst>
                <a:outerShdw blurRad="50800" dist="38100" dir="5400000" algn="t" rotWithShape="0">
                  <a:prstClr val="black">
                    <a:alpha val="40000"/>
                  </a:prstClr>
                </a:outerShdw>
              </a:effectLst>
              <a:latin typeface="黑体" panose="02010609060101010101" pitchFamily="49" charset="-122"/>
              <a:ea typeface="黑体" panose="02010609060101010101" pitchFamily="49" charset="-122"/>
            </a:endParaRPr>
          </a:p>
        </p:txBody>
      </p:sp>
      <p:sp>
        <p:nvSpPr>
          <p:cNvPr id="52" name="圆角矩形 41">
            <a:extLst>
              <a:ext uri="{FF2B5EF4-FFF2-40B4-BE49-F238E27FC236}">
                <a16:creationId xmlns:a16="http://schemas.microsoft.com/office/drawing/2014/main" id="{6E98E2FE-8AF8-49E0-918B-889D63AF03F5}"/>
              </a:ext>
            </a:extLst>
          </p:cNvPr>
          <p:cNvSpPr/>
          <p:nvPr/>
        </p:nvSpPr>
        <p:spPr bwMode="auto">
          <a:xfrm>
            <a:off x="5885801" y="3102590"/>
            <a:ext cx="912751" cy="379648"/>
          </a:xfrm>
          <a:prstGeom prst="roundRect">
            <a:avLst/>
          </a:prstGeom>
          <a:solidFill>
            <a:srgbClr val="F9A355"/>
          </a:solidFill>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altLang="zh-CN" sz="1500" b="1" dirty="0">
              <a:solidFill>
                <a:prstClr val="black"/>
              </a:solidFill>
              <a:latin typeface="黑体" panose="02010609060101010101" pitchFamily="49" charset="-122"/>
              <a:ea typeface="黑体" panose="02010609060101010101" pitchFamily="49" charset="-122"/>
            </a:endParaRPr>
          </a:p>
        </p:txBody>
      </p:sp>
      <p:sp>
        <p:nvSpPr>
          <p:cNvPr id="53" name="矩形 52">
            <a:extLst>
              <a:ext uri="{FF2B5EF4-FFF2-40B4-BE49-F238E27FC236}">
                <a16:creationId xmlns:a16="http://schemas.microsoft.com/office/drawing/2014/main" id="{F1B8C51E-13FA-449A-BE39-A1B54F39EFF2}"/>
              </a:ext>
            </a:extLst>
          </p:cNvPr>
          <p:cNvSpPr/>
          <p:nvPr/>
        </p:nvSpPr>
        <p:spPr>
          <a:xfrm>
            <a:off x="5857980" y="3133616"/>
            <a:ext cx="954107" cy="323165"/>
          </a:xfrm>
          <a:prstGeom prst="rect">
            <a:avLst/>
          </a:prstGeom>
        </p:spPr>
        <p:txBody>
          <a:bodyPr wrap="none">
            <a:spAutoFit/>
          </a:bodyPr>
          <a:lstStyle/>
          <a:p>
            <a:pPr algn="ctr">
              <a:defRPr/>
            </a:pPr>
            <a:r>
              <a:rPr lang="zh-CN" altLang="en-US" sz="1500" b="1" dirty="0">
                <a:solidFill>
                  <a:prstClr val="black"/>
                </a:solidFill>
                <a:latin typeface="微软雅黑" panose="020B0503020204020204" pitchFamily="34" charset="-122"/>
                <a:ea typeface="微软雅黑" panose="020B0503020204020204" pitchFamily="34" charset="-122"/>
              </a:rPr>
              <a:t>预期成效</a:t>
            </a:r>
            <a:endParaRPr lang="en-US" altLang="zh-CN" sz="1500" b="1" dirty="0">
              <a:solidFill>
                <a:prstClr val="black"/>
              </a:solidFill>
              <a:latin typeface="微软雅黑" panose="020B0503020204020204" pitchFamily="34" charset="-122"/>
              <a:ea typeface="微软雅黑" panose="020B0503020204020204" pitchFamily="34" charset="-122"/>
            </a:endParaRPr>
          </a:p>
        </p:txBody>
      </p:sp>
      <p:sp>
        <p:nvSpPr>
          <p:cNvPr id="54" name="矩形 53">
            <a:extLst>
              <a:ext uri="{FF2B5EF4-FFF2-40B4-BE49-F238E27FC236}">
                <a16:creationId xmlns:a16="http://schemas.microsoft.com/office/drawing/2014/main" id="{6ADC4AEB-10FD-4175-A19F-9F17E6B11834}"/>
              </a:ext>
            </a:extLst>
          </p:cNvPr>
          <p:cNvSpPr/>
          <p:nvPr/>
        </p:nvSpPr>
        <p:spPr>
          <a:xfrm>
            <a:off x="5585150" y="3687124"/>
            <a:ext cx="1569660"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提高药物研发成功率</a:t>
            </a:r>
          </a:p>
        </p:txBody>
      </p:sp>
      <p:sp>
        <p:nvSpPr>
          <p:cNvPr id="55" name="矩形 54">
            <a:extLst>
              <a:ext uri="{FF2B5EF4-FFF2-40B4-BE49-F238E27FC236}">
                <a16:creationId xmlns:a16="http://schemas.microsoft.com/office/drawing/2014/main" id="{4B2C015B-4629-4C63-8A39-A00820C25154}"/>
              </a:ext>
            </a:extLst>
          </p:cNvPr>
          <p:cNvSpPr/>
          <p:nvPr/>
        </p:nvSpPr>
        <p:spPr>
          <a:xfrm>
            <a:off x="5679143" y="4327267"/>
            <a:ext cx="1415773"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缩短药物研发周期</a:t>
            </a:r>
          </a:p>
        </p:txBody>
      </p:sp>
      <p:sp>
        <p:nvSpPr>
          <p:cNvPr id="56" name="矩形 55">
            <a:extLst>
              <a:ext uri="{FF2B5EF4-FFF2-40B4-BE49-F238E27FC236}">
                <a16:creationId xmlns:a16="http://schemas.microsoft.com/office/drawing/2014/main" id="{F1031345-741B-4FF2-B6C1-A25FB79FC72C}"/>
              </a:ext>
            </a:extLst>
          </p:cNvPr>
          <p:cNvSpPr/>
          <p:nvPr/>
        </p:nvSpPr>
        <p:spPr>
          <a:xfrm>
            <a:off x="5627146" y="4957839"/>
            <a:ext cx="1415773" cy="276999"/>
          </a:xfrm>
          <a:prstGeom prst="rect">
            <a:avLst/>
          </a:prstGeom>
        </p:spPr>
        <p:txBody>
          <a:bodyPr wrap="none">
            <a:spAutoFit/>
          </a:bodyPr>
          <a:lstStyle/>
          <a:p>
            <a:pPr algn="ctr">
              <a:defRPr/>
            </a:pPr>
            <a:r>
              <a:rPr lang="zh-CN" altLang="en-US" sz="1200" b="1" dirty="0">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降低药物研发成本</a:t>
            </a:r>
          </a:p>
        </p:txBody>
      </p:sp>
      <p:pic>
        <p:nvPicPr>
          <p:cNvPr id="46" name="Picture 2">
            <a:extLst>
              <a:ext uri="{FF2B5EF4-FFF2-40B4-BE49-F238E27FC236}">
                <a16:creationId xmlns:a16="http://schemas.microsoft.com/office/drawing/2014/main" id="{3C4E365C-A13C-4322-A2B7-850A306B019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395" r="10709"/>
          <a:stretch>
            <a:fillRect/>
          </a:stretch>
        </p:blipFill>
        <p:spPr>
          <a:xfrm>
            <a:off x="7790531" y="3510952"/>
            <a:ext cx="2350288" cy="1867592"/>
          </a:xfrm>
          <a:prstGeom prst="rect">
            <a:avLst/>
          </a:prstGeom>
          <a:effectLst>
            <a:outerShdw blurRad="63500" sx="102000" sy="102000" algn="ctr" rotWithShape="0">
              <a:prstClr val="black">
                <a:alpha val="40000"/>
              </a:prstClr>
            </a:outerShdw>
          </a:effectLst>
        </p:spPr>
      </p:pic>
      <p:sp>
        <p:nvSpPr>
          <p:cNvPr id="47" name="文本框 1">
            <a:extLst>
              <a:ext uri="{FF2B5EF4-FFF2-40B4-BE49-F238E27FC236}">
                <a16:creationId xmlns:a16="http://schemas.microsoft.com/office/drawing/2014/main" id="{B41A467E-7E7B-45B1-9A72-07590491B873}"/>
              </a:ext>
            </a:extLst>
          </p:cNvPr>
          <p:cNvSpPr txBox="1">
            <a:spLocks noChangeArrowheads="1"/>
          </p:cNvSpPr>
          <p:nvPr/>
        </p:nvSpPr>
        <p:spPr bwMode="auto">
          <a:xfrm>
            <a:off x="3949024" y="4001224"/>
            <a:ext cx="13800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rPr>
              <a:t>深度学习</a:t>
            </a:r>
            <a:endParaRPr lang="en-US" altLang="zh-CN" sz="1600" b="1" dirty="0">
              <a:latin typeface="微软雅黑" panose="020B0503020204020204" pitchFamily="34" charset="-122"/>
              <a:ea typeface="微软雅黑" panose="020B0503020204020204" pitchFamily="34" charset="-122"/>
            </a:endParaRPr>
          </a:p>
          <a:p>
            <a:pPr algn="ctr" eaLnBrk="1" hangingPunct="1"/>
            <a:r>
              <a:rPr lang="en-US" altLang="zh-CN" sz="1600" b="1" dirty="0">
                <a:latin typeface="微软雅黑" panose="020B0503020204020204" pitchFamily="34" charset="-122"/>
                <a:ea typeface="微软雅黑" panose="020B0503020204020204" pitchFamily="34" charset="-122"/>
              </a:rPr>
              <a:t>+</a:t>
            </a:r>
          </a:p>
          <a:p>
            <a:pPr algn="ctr" eaLnBrk="1" hangingPunct="1"/>
            <a:r>
              <a:rPr lang="zh-CN" altLang="en-US" sz="1600" b="1" dirty="0">
                <a:latin typeface="微软雅黑" panose="020B0503020204020204" pitchFamily="34" charset="-122"/>
                <a:ea typeface="微软雅黑" panose="020B0503020204020204" pitchFamily="34" charset="-122"/>
              </a:rPr>
              <a:t>高性能计算</a:t>
            </a:r>
            <a:endParaRPr lang="zh-CN" altLang="en-US" sz="1600" dirty="0">
              <a:latin typeface="微软雅黑" panose="020B0503020204020204" pitchFamily="34" charset="-122"/>
              <a:ea typeface="微软雅黑" panose="020B0503020204020204" pitchFamily="34" charset="-122"/>
            </a:endParaRPr>
          </a:p>
        </p:txBody>
      </p:sp>
      <p:sp>
        <p:nvSpPr>
          <p:cNvPr id="57" name="矩形 56">
            <a:extLst>
              <a:ext uri="{FF2B5EF4-FFF2-40B4-BE49-F238E27FC236}">
                <a16:creationId xmlns:a16="http://schemas.microsoft.com/office/drawing/2014/main" id="{45F6355E-AA9A-4388-8957-1E8A71DB82DC}"/>
              </a:ext>
            </a:extLst>
          </p:cNvPr>
          <p:cNvSpPr/>
          <p:nvPr/>
        </p:nvSpPr>
        <p:spPr>
          <a:xfrm>
            <a:off x="1968234" y="5694232"/>
            <a:ext cx="8255531" cy="646331"/>
          </a:xfrm>
          <a:prstGeom prst="rect">
            <a:avLst/>
          </a:prstGeom>
          <a:solidFill>
            <a:srgbClr val="2D86AF"/>
          </a:solidFill>
          <a:ln>
            <a:solidFill>
              <a:srgbClr val="2D86AF"/>
            </a:solidFill>
          </a:ln>
        </p:spPr>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深度学习驱动的小分子优化新方法实现恶性突发冠状病毒药物的精准优化</a:t>
            </a:r>
          </a:p>
          <a:p>
            <a:pPr algn="ctr"/>
            <a:r>
              <a:rPr lang="zh-CN" altLang="en-US" b="1" dirty="0">
                <a:solidFill>
                  <a:schemeClr val="bg1"/>
                </a:solidFill>
                <a:latin typeface="微软雅黑" panose="020B0503020204020204" pitchFamily="34" charset="-122"/>
                <a:ea typeface="微软雅黑" panose="020B0503020204020204" pitchFamily="34" charset="-122"/>
              </a:rPr>
              <a:t>为恶性冠状病毒药物研发提供候选药物和关键技术</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59" name="矩形 58">
            <a:extLst>
              <a:ext uri="{FF2B5EF4-FFF2-40B4-BE49-F238E27FC236}">
                <a16:creationId xmlns:a16="http://schemas.microsoft.com/office/drawing/2014/main" id="{94E5310D-27A6-4741-9D0A-7CC9BED16C54}"/>
              </a:ext>
            </a:extLst>
          </p:cNvPr>
          <p:cNvSpPr/>
          <p:nvPr/>
        </p:nvSpPr>
        <p:spPr>
          <a:xfrm>
            <a:off x="0" y="6442500"/>
            <a:ext cx="8547365" cy="461665"/>
          </a:xfrm>
          <a:prstGeom prst="rect">
            <a:avLst/>
          </a:prstGeom>
          <a:ln>
            <a:noFill/>
          </a:ln>
        </p:spPr>
        <p:txBody>
          <a:bodyPr wrap="square">
            <a:spAutoFit/>
          </a:bodyPr>
          <a:lstStyle/>
          <a:p>
            <a:r>
              <a:rPr lang="en-US" altLang="zh-CN" sz="800" dirty="0">
                <a:solidFill>
                  <a:schemeClr val="bg1"/>
                </a:solidFill>
                <a:latin typeface="Arial" panose="020B0604020202020204" pitchFamily="34" charset="0"/>
                <a:cs typeface="Arial" panose="020B0604020202020204" pitchFamily="34" charset="0"/>
              </a:rPr>
              <a:t>1. </a:t>
            </a:r>
            <a:r>
              <a:rPr lang="en-US" altLang="zh-CN" sz="800" dirty="0" err="1">
                <a:solidFill>
                  <a:schemeClr val="bg1"/>
                </a:solidFill>
                <a:latin typeface="Arial" panose="020B0604020202020204" pitchFamily="34" charset="0"/>
                <a:cs typeface="Arial" panose="020B0604020202020204" pitchFamily="34" charset="0"/>
              </a:rPr>
              <a:t>Boby</a:t>
            </a:r>
            <a:r>
              <a:rPr lang="en-US" altLang="zh-CN" sz="800" dirty="0">
                <a:solidFill>
                  <a:schemeClr val="bg1"/>
                </a:solidFill>
                <a:latin typeface="Arial" panose="020B0604020202020204" pitchFamily="34" charset="0"/>
                <a:cs typeface="Arial" panose="020B0604020202020204" pitchFamily="34" charset="0"/>
              </a:rPr>
              <a:t> ML, Open science discovery of potent noncovalent SARS-CoV-2 main protease inhibitors. Science 2023.</a:t>
            </a:r>
          </a:p>
          <a:p>
            <a:r>
              <a:rPr lang="en-US" altLang="zh-CN" sz="800" dirty="0">
                <a:solidFill>
                  <a:schemeClr val="bg1"/>
                </a:solidFill>
                <a:latin typeface="Arial" panose="020B0604020202020204" pitchFamily="34" charset="0"/>
                <a:cs typeface="Arial" panose="020B0604020202020204" pitchFamily="34" charset="0"/>
              </a:rPr>
              <a:t>2. </a:t>
            </a:r>
            <a:r>
              <a:rPr lang="en-US" altLang="zh-CN" sz="800" dirty="0" err="1">
                <a:solidFill>
                  <a:schemeClr val="bg1"/>
                </a:solidFill>
                <a:latin typeface="Arial" panose="020B0604020202020204" pitchFamily="34" charset="0"/>
                <a:cs typeface="Arial" panose="020B0604020202020204" pitchFamily="34" charset="0"/>
              </a:rPr>
              <a:t>Qifeng</a:t>
            </a:r>
            <a:r>
              <a:rPr lang="en-US" altLang="zh-CN" sz="800" dirty="0">
                <a:solidFill>
                  <a:schemeClr val="bg1"/>
                </a:solidFill>
                <a:latin typeface="Arial" panose="020B0604020202020204" pitchFamily="34" charset="0"/>
                <a:cs typeface="Arial" panose="020B0604020202020204" pitchFamily="34" charset="0"/>
              </a:rPr>
              <a:t> Bai, </a:t>
            </a:r>
            <a:r>
              <a:rPr lang="en-US" altLang="zh-CN" sz="800" dirty="0" err="1">
                <a:solidFill>
                  <a:schemeClr val="bg1"/>
                </a:solidFill>
                <a:latin typeface="Arial" panose="020B0604020202020204" pitchFamily="34" charset="0"/>
                <a:cs typeface="Arial" panose="020B0604020202020204" pitchFamily="34" charset="0"/>
              </a:rPr>
              <a:t>MolAICal</a:t>
            </a:r>
            <a:r>
              <a:rPr lang="en-US" altLang="zh-CN" sz="800" dirty="0">
                <a:solidFill>
                  <a:schemeClr val="bg1"/>
                </a:solidFill>
                <a:latin typeface="Arial" panose="020B0604020202020204" pitchFamily="34" charset="0"/>
                <a:cs typeface="Arial" panose="020B0604020202020204" pitchFamily="34" charset="0"/>
              </a:rPr>
              <a:t>: a soft tool for 3D drug design of protein targets by artificial intelligence and classical algorithm. Briefings in bioinformatics 2021.</a:t>
            </a:r>
          </a:p>
          <a:p>
            <a:r>
              <a:rPr lang="en-US" altLang="zh-CN" sz="800" dirty="0">
                <a:solidFill>
                  <a:schemeClr val="bg1"/>
                </a:solidFill>
                <a:latin typeface="Arial" panose="020B0604020202020204" pitchFamily="34" charset="0"/>
                <a:cs typeface="Arial" panose="020B0604020202020204" pitchFamily="34" charset="0"/>
              </a:rPr>
              <a:t>3. Yanqing Yang, D3AI-CoV: a deep learning platform for predicting drug targets and for virtual screening against COVID-19. Briefings in Bioinformatics 2022.</a:t>
            </a:r>
          </a:p>
        </p:txBody>
      </p:sp>
      <p:pic>
        <p:nvPicPr>
          <p:cNvPr id="5" name="图片 4">
            <a:extLst>
              <a:ext uri="{FF2B5EF4-FFF2-40B4-BE49-F238E27FC236}">
                <a16:creationId xmlns:a16="http://schemas.microsoft.com/office/drawing/2014/main" id="{14E0EB9D-DC87-4FE9-956D-719AA8FDF474}"/>
              </a:ext>
            </a:extLst>
          </p:cNvPr>
          <p:cNvPicPr>
            <a:picLocks noChangeAspect="1"/>
          </p:cNvPicPr>
          <p:nvPr/>
        </p:nvPicPr>
        <p:blipFill>
          <a:blip r:embed="rId4"/>
          <a:stretch>
            <a:fillRect/>
          </a:stretch>
        </p:blipFill>
        <p:spPr>
          <a:xfrm>
            <a:off x="4401510" y="1077210"/>
            <a:ext cx="6052554" cy="1766761"/>
          </a:xfrm>
          <a:prstGeom prst="rect">
            <a:avLst/>
          </a:prstGeom>
        </p:spPr>
      </p:pic>
      <p:sp>
        <p:nvSpPr>
          <p:cNvPr id="45" name="椭圆 44">
            <a:extLst>
              <a:ext uri="{FF2B5EF4-FFF2-40B4-BE49-F238E27FC236}">
                <a16:creationId xmlns:a16="http://schemas.microsoft.com/office/drawing/2014/main" id="{90915D06-E707-47D4-9131-0E29648B15FA}"/>
              </a:ext>
            </a:extLst>
          </p:cNvPr>
          <p:cNvSpPr/>
          <p:nvPr/>
        </p:nvSpPr>
        <p:spPr>
          <a:xfrm>
            <a:off x="8661403" y="984612"/>
            <a:ext cx="1935922" cy="1898818"/>
          </a:xfrm>
          <a:prstGeom prst="ellipse">
            <a:avLst/>
          </a:prstGeom>
          <a:noFill/>
          <a:ln>
            <a:solidFill>
              <a:srgbClr val="2D86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a:extLst>
              <a:ext uri="{FF2B5EF4-FFF2-40B4-BE49-F238E27FC236}">
                <a16:creationId xmlns:a16="http://schemas.microsoft.com/office/drawing/2014/main" id="{FB7AE36A-12AA-4DF9-9441-9D146D80941A}"/>
              </a:ext>
            </a:extLst>
          </p:cNvPr>
          <p:cNvPicPr>
            <a:picLocks noChangeAspect="1"/>
          </p:cNvPicPr>
          <p:nvPr/>
        </p:nvPicPr>
        <p:blipFill>
          <a:blip r:embed="rId5"/>
          <a:stretch>
            <a:fillRect/>
          </a:stretch>
        </p:blipFill>
        <p:spPr>
          <a:xfrm>
            <a:off x="1737936" y="859641"/>
            <a:ext cx="4620779" cy="1993930"/>
          </a:xfrm>
          <a:prstGeom prst="rect">
            <a:avLst/>
          </a:prstGeom>
        </p:spPr>
      </p:pic>
      <p:sp>
        <p:nvSpPr>
          <p:cNvPr id="60" name="矩形 59">
            <a:extLst>
              <a:ext uri="{FF2B5EF4-FFF2-40B4-BE49-F238E27FC236}">
                <a16:creationId xmlns:a16="http://schemas.microsoft.com/office/drawing/2014/main" id="{2C793253-A0BA-4E71-B027-512604D5FCDD}"/>
              </a:ext>
            </a:extLst>
          </p:cNvPr>
          <p:cNvSpPr/>
          <p:nvPr/>
        </p:nvSpPr>
        <p:spPr>
          <a:xfrm>
            <a:off x="5242256" y="2461905"/>
            <a:ext cx="1840568"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主蛋白酶 </a:t>
            </a:r>
            <a:r>
              <a:rPr lang="en-US" altLang="zh-CN" sz="1600" dirty="0">
                <a:latin typeface="微软雅黑" panose="020B0503020204020204" pitchFamily="34" charset="-122"/>
                <a:ea typeface="微软雅黑" panose="020B0503020204020204" pitchFamily="34" charset="-122"/>
              </a:rPr>
              <a:t>IC</a:t>
            </a:r>
            <a:r>
              <a:rPr lang="en-US" altLang="zh-CN" sz="1600" baseline="-25000" dirty="0">
                <a:latin typeface="微软雅黑" panose="020B0503020204020204" pitchFamily="34" charset="-122"/>
                <a:ea typeface="微软雅黑" panose="020B0503020204020204" pitchFamily="34" charset="-122"/>
              </a:rPr>
              <a:t>50</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uM</a:t>
            </a:r>
            <a:endParaRPr lang="zh-CN" altLang="en-US" sz="160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0443952D-E94B-412A-92B2-1E3113B5CD52}"/>
              </a:ext>
            </a:extLst>
          </p:cNvPr>
          <p:cNvSpPr/>
          <p:nvPr/>
        </p:nvSpPr>
        <p:spPr>
          <a:xfrm>
            <a:off x="1066853" y="165071"/>
            <a:ext cx="1930185" cy="584775"/>
          </a:xfrm>
          <a:prstGeom prst="rect">
            <a:avLst/>
          </a:prstGeom>
        </p:spPr>
        <p:txBody>
          <a:bodyPr wrap="square">
            <a:spAutoFit/>
          </a:bodyPr>
          <a:lstStyle/>
          <a:p>
            <a:r>
              <a:rPr lang="zh-CN" altLang="en-US" sz="3200" b="1" dirty="0">
                <a:solidFill>
                  <a:srgbClr val="002060"/>
                </a:solidFill>
                <a:latin typeface="微软雅黑" panose="020B0503020204020204" pitchFamily="34" charset="-122"/>
                <a:ea typeface="微软雅黑" panose="020B0503020204020204" pitchFamily="34" charset="-122"/>
              </a:rPr>
              <a:t>研究背景</a:t>
            </a:r>
          </a:p>
        </p:txBody>
      </p:sp>
    </p:spTree>
    <p:extLst>
      <p:ext uri="{BB962C8B-B14F-4D97-AF65-F5344CB8AC3E}">
        <p14:creationId xmlns:p14="http://schemas.microsoft.com/office/powerpoint/2010/main" val="159518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9448800" y="6492875"/>
            <a:ext cx="2743200" cy="365125"/>
          </a:xfrm>
        </p:spPr>
        <p:txBody>
          <a:bodyPr/>
          <a:lstStyle/>
          <a:p>
            <a:fld id="{2F0485D5-9E03-4020-B25B-C8A61AD6A676}" type="slidenum">
              <a:rPr lang="zh-CN" altLang="en-US" smtClean="0"/>
              <a:t>4</a:t>
            </a:fld>
            <a:endParaRPr lang="zh-CN" altLang="en-US" dirty="0"/>
          </a:p>
        </p:txBody>
      </p:sp>
      <p:sp>
        <p:nvSpPr>
          <p:cNvPr id="22" name="文本框 11">
            <a:extLst>
              <a:ext uri="{FF2B5EF4-FFF2-40B4-BE49-F238E27FC236}">
                <a16:creationId xmlns:a16="http://schemas.microsoft.com/office/drawing/2014/main" id="{4C1F67F3-FDA9-4C3A-8549-ED0EA7205660}"/>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Results</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4D13A15-C392-432F-A8CC-4CCB779F90BA}"/>
              </a:ext>
            </a:extLst>
          </p:cNvPr>
          <p:cNvPicPr>
            <a:picLocks noChangeAspect="1"/>
          </p:cNvPicPr>
          <p:nvPr/>
        </p:nvPicPr>
        <p:blipFill rotWithShape="1">
          <a:blip r:embed="rId3">
            <a:extLst>
              <a:ext uri="{28A0092B-C50C-407E-A947-70E740481C1C}">
                <a14:useLocalDpi xmlns:a14="http://schemas.microsoft.com/office/drawing/2010/main" val="0"/>
              </a:ext>
            </a:extLst>
          </a:blip>
          <a:srcRect b="50000"/>
          <a:stretch/>
        </p:blipFill>
        <p:spPr>
          <a:xfrm>
            <a:off x="71120" y="1059894"/>
            <a:ext cx="6017245" cy="5148501"/>
          </a:xfrm>
          <a:prstGeom prst="rect">
            <a:avLst/>
          </a:prstGeom>
        </p:spPr>
      </p:pic>
      <p:pic>
        <p:nvPicPr>
          <p:cNvPr id="8" name="图片 7">
            <a:extLst>
              <a:ext uri="{FF2B5EF4-FFF2-40B4-BE49-F238E27FC236}">
                <a16:creationId xmlns:a16="http://schemas.microsoft.com/office/drawing/2014/main" id="{7A853C5B-931D-02F0-28FB-EFED13784729}"/>
              </a:ext>
            </a:extLst>
          </p:cNvPr>
          <p:cNvPicPr>
            <a:picLocks noChangeAspect="1"/>
          </p:cNvPicPr>
          <p:nvPr/>
        </p:nvPicPr>
        <p:blipFill rotWithShape="1">
          <a:blip r:embed="rId3">
            <a:extLst>
              <a:ext uri="{28A0092B-C50C-407E-A947-70E740481C1C}">
                <a14:useLocalDpi xmlns:a14="http://schemas.microsoft.com/office/drawing/2010/main" val="0"/>
              </a:ext>
            </a:extLst>
          </a:blip>
          <a:srcRect t="50037" b="1482"/>
          <a:stretch/>
        </p:blipFill>
        <p:spPr>
          <a:xfrm>
            <a:off x="5834365" y="1059894"/>
            <a:ext cx="6205111" cy="5148000"/>
          </a:xfrm>
          <a:prstGeom prst="rect">
            <a:avLst/>
          </a:prstGeom>
        </p:spPr>
      </p:pic>
      <p:sp>
        <p:nvSpPr>
          <p:cNvPr id="3" name="文本框 2">
            <a:extLst>
              <a:ext uri="{FF2B5EF4-FFF2-40B4-BE49-F238E27FC236}">
                <a16:creationId xmlns:a16="http://schemas.microsoft.com/office/drawing/2014/main" id="{B233F902-93DF-41D8-9169-BE868A94F017}"/>
              </a:ext>
            </a:extLst>
          </p:cNvPr>
          <p:cNvSpPr txBox="1"/>
          <p:nvPr/>
        </p:nvSpPr>
        <p:spPr>
          <a:xfrm>
            <a:off x="3241288" y="327739"/>
            <a:ext cx="1542282"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Figure1</a:t>
            </a:r>
            <a:endParaRPr lang="zh-CN" altLang="en-US" dirty="0"/>
          </a:p>
        </p:txBody>
      </p:sp>
    </p:spTree>
    <p:extLst>
      <p:ext uri="{BB962C8B-B14F-4D97-AF65-F5344CB8AC3E}">
        <p14:creationId xmlns:p14="http://schemas.microsoft.com/office/powerpoint/2010/main" val="311641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F570EEE-0E95-4ACE-5137-3BB06BF1A79D}"/>
              </a:ext>
            </a:extLst>
          </p:cNvPr>
          <p:cNvSpPr>
            <a:spLocks noGrp="1"/>
          </p:cNvSpPr>
          <p:nvPr>
            <p:ph type="sldNum" sz="quarter" idx="12"/>
          </p:nvPr>
        </p:nvSpPr>
        <p:spPr>
          <a:xfrm>
            <a:off x="9448800" y="6492875"/>
            <a:ext cx="2743200" cy="365125"/>
          </a:xfrm>
        </p:spPr>
        <p:txBody>
          <a:bodyPr/>
          <a:lstStyle/>
          <a:p>
            <a:fld id="{2F0485D5-9E03-4020-B25B-C8A61AD6A676}" type="slidenum">
              <a:rPr lang="zh-CN" altLang="en-US" smtClean="0"/>
              <a:t>5</a:t>
            </a:fld>
            <a:endParaRPr lang="zh-CN" altLang="en-US"/>
          </a:p>
        </p:txBody>
      </p:sp>
      <p:sp>
        <p:nvSpPr>
          <p:cNvPr id="3" name="文本框 11">
            <a:extLst>
              <a:ext uri="{FF2B5EF4-FFF2-40B4-BE49-F238E27FC236}">
                <a16:creationId xmlns:a16="http://schemas.microsoft.com/office/drawing/2014/main" id="{EB9F5193-7791-1D03-67CD-059F24C116E0}"/>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Results</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7950D9EC-722F-1795-7355-0B50012A8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480" y="1025422"/>
            <a:ext cx="10353040" cy="5589055"/>
          </a:xfrm>
          <a:prstGeom prst="rect">
            <a:avLst/>
          </a:prstGeom>
        </p:spPr>
      </p:pic>
      <p:sp>
        <p:nvSpPr>
          <p:cNvPr id="6" name="文本框 5">
            <a:extLst>
              <a:ext uri="{FF2B5EF4-FFF2-40B4-BE49-F238E27FC236}">
                <a16:creationId xmlns:a16="http://schemas.microsoft.com/office/drawing/2014/main" id="{0E2F61CA-43CF-4E01-BCA1-AA6FEF5447DB}"/>
              </a:ext>
            </a:extLst>
          </p:cNvPr>
          <p:cNvSpPr txBox="1"/>
          <p:nvPr/>
        </p:nvSpPr>
        <p:spPr>
          <a:xfrm>
            <a:off x="3241288" y="327739"/>
            <a:ext cx="1542282"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Figure2</a:t>
            </a:r>
            <a:endParaRPr lang="zh-CN" altLang="en-US" dirty="0"/>
          </a:p>
        </p:txBody>
      </p:sp>
    </p:spTree>
    <p:extLst>
      <p:ext uri="{BB962C8B-B14F-4D97-AF65-F5344CB8AC3E}">
        <p14:creationId xmlns:p14="http://schemas.microsoft.com/office/powerpoint/2010/main" val="2725587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290EF4-A2D4-BDE5-49C1-D1CE377DEBF7}"/>
              </a:ext>
            </a:extLst>
          </p:cNvPr>
          <p:cNvSpPr>
            <a:spLocks noGrp="1"/>
          </p:cNvSpPr>
          <p:nvPr>
            <p:ph type="sldNum" sz="quarter" idx="12"/>
          </p:nvPr>
        </p:nvSpPr>
        <p:spPr>
          <a:xfrm>
            <a:off x="9448800" y="6492875"/>
            <a:ext cx="2743200" cy="365125"/>
          </a:xfrm>
        </p:spPr>
        <p:txBody>
          <a:bodyPr/>
          <a:lstStyle/>
          <a:p>
            <a:fld id="{2F0485D5-9E03-4020-B25B-C8A61AD6A676}" type="slidenum">
              <a:rPr lang="zh-CN" altLang="en-US" smtClean="0"/>
              <a:t>6</a:t>
            </a:fld>
            <a:endParaRPr lang="zh-CN" altLang="en-US"/>
          </a:p>
        </p:txBody>
      </p:sp>
      <p:sp>
        <p:nvSpPr>
          <p:cNvPr id="3" name="文本框 11">
            <a:extLst>
              <a:ext uri="{FF2B5EF4-FFF2-40B4-BE49-F238E27FC236}">
                <a16:creationId xmlns:a16="http://schemas.microsoft.com/office/drawing/2014/main" id="{8448BAEA-3F60-7F9C-DF9F-273BD8B5ECAC}"/>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Results</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10A6B85B-17B3-1F6F-6CC3-0727316C5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646" y="919481"/>
            <a:ext cx="8081434" cy="5786436"/>
          </a:xfrm>
          <a:prstGeom prst="rect">
            <a:avLst/>
          </a:prstGeom>
        </p:spPr>
      </p:pic>
      <p:sp>
        <p:nvSpPr>
          <p:cNvPr id="6" name="文本框 5">
            <a:extLst>
              <a:ext uri="{FF2B5EF4-FFF2-40B4-BE49-F238E27FC236}">
                <a16:creationId xmlns:a16="http://schemas.microsoft.com/office/drawing/2014/main" id="{56E24CCF-DFF0-447F-80BD-022BB2BF9580}"/>
              </a:ext>
            </a:extLst>
          </p:cNvPr>
          <p:cNvSpPr txBox="1"/>
          <p:nvPr/>
        </p:nvSpPr>
        <p:spPr>
          <a:xfrm>
            <a:off x="3241288" y="327739"/>
            <a:ext cx="1542282"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Figure3</a:t>
            </a:r>
            <a:endParaRPr lang="zh-CN" altLang="en-US" dirty="0"/>
          </a:p>
        </p:txBody>
      </p:sp>
    </p:spTree>
    <p:extLst>
      <p:ext uri="{BB962C8B-B14F-4D97-AF65-F5344CB8AC3E}">
        <p14:creationId xmlns:p14="http://schemas.microsoft.com/office/powerpoint/2010/main" val="239595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457191-D083-4D5D-876F-A7E1D23004EE}"/>
              </a:ext>
            </a:extLst>
          </p:cNvPr>
          <p:cNvSpPr>
            <a:spLocks noGrp="1"/>
          </p:cNvSpPr>
          <p:nvPr>
            <p:ph type="sldNum" sz="quarter" idx="12"/>
          </p:nvPr>
        </p:nvSpPr>
        <p:spPr>
          <a:xfrm>
            <a:off x="9448800" y="6492875"/>
            <a:ext cx="2743200" cy="365125"/>
          </a:xfrm>
        </p:spPr>
        <p:txBody>
          <a:bodyPr/>
          <a:lstStyle/>
          <a:p>
            <a:fld id="{2F0485D5-9E03-4020-B25B-C8A61AD6A676}" type="slidenum">
              <a:rPr lang="zh-CN" altLang="en-US" smtClean="0"/>
              <a:t>7</a:t>
            </a:fld>
            <a:endParaRPr lang="zh-CN" altLang="en-US"/>
          </a:p>
        </p:txBody>
      </p:sp>
      <p:pic>
        <p:nvPicPr>
          <p:cNvPr id="4" name="图片 3">
            <a:extLst>
              <a:ext uri="{FF2B5EF4-FFF2-40B4-BE49-F238E27FC236}">
                <a16:creationId xmlns:a16="http://schemas.microsoft.com/office/drawing/2014/main" id="{6657BAD7-C21E-95E9-1CE4-2FE209282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803" y="932239"/>
            <a:ext cx="7860877" cy="5871568"/>
          </a:xfrm>
          <a:prstGeom prst="rect">
            <a:avLst/>
          </a:prstGeom>
        </p:spPr>
      </p:pic>
      <p:sp>
        <p:nvSpPr>
          <p:cNvPr id="5" name="文本框 11">
            <a:extLst>
              <a:ext uri="{FF2B5EF4-FFF2-40B4-BE49-F238E27FC236}">
                <a16:creationId xmlns:a16="http://schemas.microsoft.com/office/drawing/2014/main" id="{F0CC8A59-0220-D538-BE45-127124772D16}"/>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Results</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543FDC4-5DB5-4481-A491-91270C4416E6}"/>
              </a:ext>
            </a:extLst>
          </p:cNvPr>
          <p:cNvSpPr txBox="1"/>
          <p:nvPr/>
        </p:nvSpPr>
        <p:spPr>
          <a:xfrm>
            <a:off x="3241288" y="327739"/>
            <a:ext cx="1542282"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Figure4</a:t>
            </a:r>
            <a:endParaRPr lang="zh-CN" altLang="en-US" dirty="0"/>
          </a:p>
        </p:txBody>
      </p:sp>
    </p:spTree>
    <p:extLst>
      <p:ext uri="{BB962C8B-B14F-4D97-AF65-F5344CB8AC3E}">
        <p14:creationId xmlns:p14="http://schemas.microsoft.com/office/powerpoint/2010/main" val="3843583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DBA7CDF-D7EA-4BC8-8A21-973B3D883D7E}"/>
              </a:ext>
            </a:extLst>
          </p:cNvPr>
          <p:cNvSpPr>
            <a:spLocks noGrp="1"/>
          </p:cNvSpPr>
          <p:nvPr>
            <p:ph type="sldNum" sz="quarter" idx="12"/>
          </p:nvPr>
        </p:nvSpPr>
        <p:spPr/>
        <p:txBody>
          <a:bodyPr/>
          <a:lstStyle/>
          <a:p>
            <a:fld id="{2F0485D5-9E03-4020-B25B-C8A61AD6A676}" type="slidenum">
              <a:rPr lang="zh-CN" altLang="en-US" smtClean="0"/>
              <a:t>8</a:t>
            </a:fld>
            <a:endParaRPr lang="zh-CN" altLang="en-US"/>
          </a:p>
        </p:txBody>
      </p:sp>
      <p:sp>
        <p:nvSpPr>
          <p:cNvPr id="5" name="文本框 4">
            <a:extLst>
              <a:ext uri="{FF2B5EF4-FFF2-40B4-BE49-F238E27FC236}">
                <a16:creationId xmlns:a16="http://schemas.microsoft.com/office/drawing/2014/main" id="{14119B8D-1303-414D-9B71-BDC663F6BC46}"/>
              </a:ext>
            </a:extLst>
          </p:cNvPr>
          <p:cNvSpPr txBox="1"/>
          <p:nvPr/>
        </p:nvSpPr>
        <p:spPr>
          <a:xfrm>
            <a:off x="1174596" y="193924"/>
            <a:ext cx="1657814"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t>未来计划</a:t>
            </a:r>
          </a:p>
        </p:txBody>
      </p:sp>
      <p:sp>
        <p:nvSpPr>
          <p:cNvPr id="6" name="文本框 5">
            <a:extLst>
              <a:ext uri="{FF2B5EF4-FFF2-40B4-BE49-F238E27FC236}">
                <a16:creationId xmlns:a16="http://schemas.microsoft.com/office/drawing/2014/main" id="{89ACDA54-BF57-41EE-AD39-956FD0190525}"/>
              </a:ext>
            </a:extLst>
          </p:cNvPr>
          <p:cNvSpPr txBox="1"/>
          <p:nvPr/>
        </p:nvSpPr>
        <p:spPr>
          <a:xfrm>
            <a:off x="591015" y="844411"/>
            <a:ext cx="2003501" cy="40011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sz="2000" dirty="0"/>
              <a:t>核酸适配体</a:t>
            </a:r>
          </a:p>
        </p:txBody>
      </p:sp>
      <p:sp>
        <p:nvSpPr>
          <p:cNvPr id="7" name="文本框 6">
            <a:extLst>
              <a:ext uri="{FF2B5EF4-FFF2-40B4-BE49-F238E27FC236}">
                <a16:creationId xmlns:a16="http://schemas.microsoft.com/office/drawing/2014/main" id="{075647D7-6B5D-449A-B4BD-D53EC6A29351}"/>
              </a:ext>
            </a:extLst>
          </p:cNvPr>
          <p:cNvSpPr txBox="1"/>
          <p:nvPr/>
        </p:nvSpPr>
        <p:spPr>
          <a:xfrm>
            <a:off x="591014" y="3918430"/>
            <a:ext cx="2003501" cy="40011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sz="2000" dirty="0"/>
              <a:t>小分子</a:t>
            </a:r>
          </a:p>
        </p:txBody>
      </p:sp>
      <p:pic>
        <p:nvPicPr>
          <p:cNvPr id="8" name="图片 7">
            <a:extLst>
              <a:ext uri="{FF2B5EF4-FFF2-40B4-BE49-F238E27FC236}">
                <a16:creationId xmlns:a16="http://schemas.microsoft.com/office/drawing/2014/main" id="{F736C591-7356-4DEE-80E5-451BCC8B8A3C}"/>
              </a:ext>
            </a:extLst>
          </p:cNvPr>
          <p:cNvPicPr>
            <a:picLocks noChangeAspect="1"/>
          </p:cNvPicPr>
          <p:nvPr/>
        </p:nvPicPr>
        <p:blipFill>
          <a:blip r:embed="rId2"/>
          <a:stretch>
            <a:fillRect/>
          </a:stretch>
        </p:blipFill>
        <p:spPr>
          <a:xfrm>
            <a:off x="591014" y="1244521"/>
            <a:ext cx="6007083" cy="2563649"/>
          </a:xfrm>
          <a:prstGeom prst="rect">
            <a:avLst/>
          </a:prstGeom>
        </p:spPr>
      </p:pic>
      <p:sp>
        <p:nvSpPr>
          <p:cNvPr id="11" name="文本框 10">
            <a:extLst>
              <a:ext uri="{FF2B5EF4-FFF2-40B4-BE49-F238E27FC236}">
                <a16:creationId xmlns:a16="http://schemas.microsoft.com/office/drawing/2014/main" id="{58B35A0B-AB48-46B3-B906-6E8E4E9C3AF0}"/>
              </a:ext>
            </a:extLst>
          </p:cNvPr>
          <p:cNvSpPr txBox="1"/>
          <p:nvPr/>
        </p:nvSpPr>
        <p:spPr>
          <a:xfrm>
            <a:off x="6784619" y="1344184"/>
            <a:ext cx="5190845" cy="1422954"/>
          </a:xfrm>
          <a:prstGeom prst="rect">
            <a:avLst/>
          </a:prstGeom>
          <a:noFill/>
        </p:spPr>
        <p:txBody>
          <a:bodyPr wrap="none" rtlCol="0">
            <a:spAutoFit/>
          </a:bodyPr>
          <a:lstStyle/>
          <a:p>
            <a:pPr indent="-342900">
              <a:lnSpc>
                <a:spcPct val="150000"/>
              </a:lnSpc>
              <a:buAutoNum type="arabicPeriod"/>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RNA</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适配体的碱基删除研究</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indent="-342900">
              <a:lnSpc>
                <a:spcPct val="150000"/>
              </a:lnSpc>
              <a:buAutoNum type="arabicPeriod"/>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蛋白表面</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RNA</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适配体的生成（先做简单的</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，单个碱基生成）</a:t>
            </a:r>
          </a:p>
        </p:txBody>
      </p:sp>
      <p:sp>
        <p:nvSpPr>
          <p:cNvPr id="12" name="文本框 11">
            <a:extLst>
              <a:ext uri="{FF2B5EF4-FFF2-40B4-BE49-F238E27FC236}">
                <a16:creationId xmlns:a16="http://schemas.microsoft.com/office/drawing/2014/main" id="{D912FFCE-846D-44A3-B90D-D475DAC8702E}"/>
              </a:ext>
            </a:extLst>
          </p:cNvPr>
          <p:cNvSpPr txBox="1"/>
          <p:nvPr/>
        </p:nvSpPr>
        <p:spPr>
          <a:xfrm>
            <a:off x="591015" y="4428800"/>
            <a:ext cx="8248186" cy="1422954"/>
          </a:xfrm>
          <a:prstGeom prst="rect">
            <a:avLst/>
          </a:prstGeom>
          <a:noFill/>
        </p:spPr>
        <p:txBody>
          <a:bodyPr wrap="square" rtlCol="0">
            <a:spAutoFit/>
          </a:bodyPr>
          <a:lstStyle/>
          <a:p>
            <a:pPr indent="-342900">
              <a:lnSpc>
                <a:spcPct val="150000"/>
              </a:lnSpc>
              <a:buFontTx/>
              <a:buAutoNum type="arabicPeriod"/>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恶性冠状病毒的相关内容（数据库更新等）继续进行。</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indent="-342900">
              <a:lnSpc>
                <a:spcPct val="150000"/>
              </a:lnSpc>
              <a:buAutoNum type="arabicPeriod"/>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评测小分子中各种绝对结合自由能方法计算结果与活性的相关性（</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MMGB/PBSA,</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FEP, PMF, </a:t>
            </a: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MetaD</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et al</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08082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AE4BDFA-3ABF-4515-85A7-0546127168F5}"/>
              </a:ext>
            </a:extLst>
          </p:cNvPr>
          <p:cNvSpPr>
            <a:spLocks noGrp="1"/>
          </p:cNvSpPr>
          <p:nvPr>
            <p:ph type="sldNum" sz="quarter" idx="12"/>
          </p:nvPr>
        </p:nvSpPr>
        <p:spPr/>
        <p:txBody>
          <a:bodyPr/>
          <a:lstStyle/>
          <a:p>
            <a:fld id="{2F0485D5-9E03-4020-B25B-C8A61AD6A676}" type="slidenum">
              <a:rPr lang="zh-CN" altLang="en-US" smtClean="0"/>
              <a:t>9</a:t>
            </a:fld>
            <a:endParaRPr lang="zh-CN" altLang="en-US"/>
          </a:p>
        </p:txBody>
      </p:sp>
      <p:pic>
        <p:nvPicPr>
          <p:cNvPr id="4" name="图片 3">
            <a:extLst>
              <a:ext uri="{FF2B5EF4-FFF2-40B4-BE49-F238E27FC236}">
                <a16:creationId xmlns:a16="http://schemas.microsoft.com/office/drawing/2014/main" id="{DE717F04-2BC6-4A5B-AB4D-F14303F3FC8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39496" y="973765"/>
            <a:ext cx="10366607" cy="5565147"/>
          </a:xfrm>
          <a:prstGeom prst="rect">
            <a:avLst/>
          </a:prstGeom>
        </p:spPr>
      </p:pic>
      <p:sp>
        <p:nvSpPr>
          <p:cNvPr id="5" name="矩形 4">
            <a:extLst>
              <a:ext uri="{FF2B5EF4-FFF2-40B4-BE49-F238E27FC236}">
                <a16:creationId xmlns:a16="http://schemas.microsoft.com/office/drawing/2014/main" id="{BA8A1852-BD3F-4DC1-99E8-D861A9B3BE1F}"/>
              </a:ext>
            </a:extLst>
          </p:cNvPr>
          <p:cNvSpPr/>
          <p:nvPr/>
        </p:nvSpPr>
        <p:spPr>
          <a:xfrm>
            <a:off x="4400550" y="2051659"/>
            <a:ext cx="3390900" cy="1862048"/>
          </a:xfrm>
          <a:prstGeom prst="rect">
            <a:avLst/>
          </a:prstGeom>
          <a:noFill/>
          <a:ln>
            <a:solidFill>
              <a:schemeClr val="bg1"/>
            </a:solidFill>
          </a:ln>
        </p:spPr>
        <p:txBody>
          <a:bodyPr wrap="square" lIns="91440" tIns="45720" rIns="91440" bIns="45720">
            <a:spAutoFit/>
          </a:bodyPr>
          <a:lstStyle/>
          <a:p>
            <a:pPr algn="ctr"/>
            <a:r>
              <a:rPr lang="zh-CN" altLang="en-US" sz="11500" dirty="0">
                <a:ln w="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谢谢</a:t>
            </a:r>
          </a:p>
        </p:txBody>
      </p:sp>
    </p:spTree>
    <p:extLst>
      <p:ext uri="{BB962C8B-B14F-4D97-AF65-F5344CB8AC3E}">
        <p14:creationId xmlns:p14="http://schemas.microsoft.com/office/powerpoint/2010/main" val="215121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464E42-2928-D07F-9A24-9F68D10AB309}"/>
              </a:ext>
            </a:extLst>
          </p:cNvPr>
          <p:cNvSpPr>
            <a:spLocks noGrp="1"/>
          </p:cNvSpPr>
          <p:nvPr>
            <p:ph type="sldNum" sz="quarter" idx="12"/>
          </p:nvPr>
        </p:nvSpPr>
        <p:spPr/>
        <p:txBody>
          <a:bodyPr/>
          <a:lstStyle/>
          <a:p>
            <a:fld id="{2F0485D5-9E03-4020-B25B-C8A61AD6A676}" type="slidenum">
              <a:rPr lang="zh-CN" altLang="en-US" smtClean="0"/>
              <a:t>10</a:t>
            </a:fld>
            <a:endParaRPr lang="zh-CN" altLang="en-US"/>
          </a:p>
        </p:txBody>
      </p:sp>
      <p:sp>
        <p:nvSpPr>
          <p:cNvPr id="4" name="文本框 3">
            <a:extLst>
              <a:ext uri="{FF2B5EF4-FFF2-40B4-BE49-F238E27FC236}">
                <a16:creationId xmlns:a16="http://schemas.microsoft.com/office/drawing/2014/main" id="{FC579032-1EB9-0A4E-A6A6-3C766EB770BB}"/>
              </a:ext>
            </a:extLst>
          </p:cNvPr>
          <p:cNvSpPr txBox="1"/>
          <p:nvPr/>
        </p:nvSpPr>
        <p:spPr>
          <a:xfrm>
            <a:off x="0" y="1957785"/>
            <a:ext cx="12192000" cy="1560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1pPr algn="ctr">
              <a:lnSpc>
                <a:spcPct val="125000"/>
              </a:lnSpc>
              <a:spcBef>
                <a:spcPct val="0"/>
              </a:spcBef>
              <a:buClrTx/>
              <a:buFont typeface="Wingdings" pitchFamily="2" charset="2"/>
              <a:buNone/>
              <a:defRPr sz="4000" b="1">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lr>
                <a:schemeClr val="accent1"/>
              </a:buClr>
              <a:buFont typeface="Wingdings" pitchFamily="2" charset="2"/>
              <a:buChar char="§"/>
              <a:defRPr sz="2200">
                <a:latin typeface="Arial" panose="020B0604020202020204" pitchFamily="34" charset="0"/>
              </a:defRPr>
            </a:lvl2pPr>
            <a:lvl3pPr marL="1143000" indent="-228600">
              <a:spcBef>
                <a:spcPct val="20000"/>
              </a:spcBef>
              <a:buClr>
                <a:schemeClr val="tx1"/>
              </a:buClr>
              <a:buChar char="•"/>
              <a:defRPr sz="2000">
                <a:latin typeface="Arial" panose="020B0604020202020204" pitchFamily="34" charset="0"/>
              </a:defRPr>
            </a:lvl3pPr>
            <a:lvl4pPr marL="1600200" indent="-228600">
              <a:spcBef>
                <a:spcPct val="20000"/>
              </a:spcBef>
              <a:buChar char="–"/>
              <a:defRPr sz="1600">
                <a:latin typeface="Arial" panose="020B0604020202020204" pitchFamily="34" charset="0"/>
              </a:defRPr>
            </a:lvl4pPr>
            <a:lvl5pPr marL="2057400" indent="-228600">
              <a:spcBef>
                <a:spcPct val="20000"/>
              </a:spcBef>
              <a:buChar char="»"/>
              <a:defRPr sz="1600">
                <a:latin typeface="Arial" panose="020B0604020202020204" pitchFamily="34" charset="0"/>
              </a:defRPr>
            </a:lvl5pPr>
            <a:lvl6pPr marL="2514600" indent="-228600" eaLnBrk="0" fontAlgn="base" hangingPunct="0">
              <a:spcBef>
                <a:spcPct val="20000"/>
              </a:spcBef>
              <a:spcAft>
                <a:spcPct val="0"/>
              </a:spcAft>
              <a:buChar char="»"/>
              <a:defRPr sz="1600">
                <a:latin typeface="Arial" panose="020B0604020202020204" pitchFamily="34" charset="0"/>
              </a:defRPr>
            </a:lvl6pPr>
            <a:lvl7pPr marL="2971800" indent="-228600" eaLnBrk="0" fontAlgn="base" hangingPunct="0">
              <a:spcBef>
                <a:spcPct val="20000"/>
              </a:spcBef>
              <a:spcAft>
                <a:spcPct val="0"/>
              </a:spcAft>
              <a:buChar char="»"/>
              <a:defRPr sz="1600">
                <a:latin typeface="Arial" panose="020B0604020202020204" pitchFamily="34" charset="0"/>
              </a:defRPr>
            </a:lvl7pPr>
            <a:lvl8pPr marL="3429000" indent="-228600" eaLnBrk="0" fontAlgn="base" hangingPunct="0">
              <a:spcBef>
                <a:spcPct val="20000"/>
              </a:spcBef>
              <a:spcAft>
                <a:spcPct val="0"/>
              </a:spcAft>
              <a:buChar char="»"/>
              <a:defRPr sz="1600">
                <a:latin typeface="Arial" panose="020B0604020202020204" pitchFamily="34" charset="0"/>
              </a:defRPr>
            </a:lvl8pPr>
            <a:lvl9pPr marL="3886200" indent="-228600" eaLnBrk="0" fontAlgn="base" hangingPunct="0">
              <a:spcBef>
                <a:spcPct val="20000"/>
              </a:spcBef>
              <a:spcAft>
                <a:spcPct val="0"/>
              </a:spcAft>
              <a:buChar char="»"/>
              <a:defRPr sz="1600">
                <a:latin typeface="Arial" panose="020B0604020202020204" pitchFamily="34" charset="0"/>
              </a:defRPr>
            </a:lvl9pPr>
          </a:lstStyle>
          <a:p>
            <a:r>
              <a:rPr lang="zh-CN" altLang="en-US" dirty="0"/>
              <a:t>靶向新冠</a:t>
            </a:r>
            <a:r>
              <a:rPr lang="en-US" altLang="zh-CN" dirty="0"/>
              <a:t>3CL</a:t>
            </a:r>
            <a:r>
              <a:rPr lang="zh-CN" altLang="en-US" dirty="0"/>
              <a:t>蛋白异喹啉类化合物</a:t>
            </a:r>
            <a:endParaRPr lang="en-US" altLang="zh-CN" dirty="0"/>
          </a:p>
          <a:p>
            <a:r>
              <a:rPr lang="en-US" altLang="zh-CN" dirty="0"/>
              <a:t>FEP</a:t>
            </a:r>
            <a:r>
              <a:rPr lang="zh-CN" altLang="en-US" dirty="0"/>
              <a:t>计算及机器学习</a:t>
            </a:r>
          </a:p>
        </p:txBody>
      </p:sp>
      <p:sp>
        <p:nvSpPr>
          <p:cNvPr id="5" name="文本框 4">
            <a:extLst>
              <a:ext uri="{FF2B5EF4-FFF2-40B4-BE49-F238E27FC236}">
                <a16:creationId xmlns:a16="http://schemas.microsoft.com/office/drawing/2014/main" id="{BEC4263C-2C8F-707B-45E8-D185008F0B8F}"/>
              </a:ext>
            </a:extLst>
          </p:cNvPr>
          <p:cNvSpPr txBox="1"/>
          <p:nvPr/>
        </p:nvSpPr>
        <p:spPr>
          <a:xfrm>
            <a:off x="4196316" y="4283508"/>
            <a:ext cx="379936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0"/>
              </a:spcBef>
              <a:buClrTx/>
              <a:buFontTx/>
              <a:buNone/>
              <a:defRPr sz="2800" b="0">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lr>
                <a:schemeClr val="accent1"/>
              </a:buClr>
              <a:buFont typeface="Wingdings" pitchFamily="2" charset="2"/>
              <a:buChar char="§"/>
              <a:defRPr sz="2200">
                <a:latin typeface="Arial" panose="020B0604020202020204" pitchFamily="34" charset="0"/>
              </a:defRPr>
            </a:lvl2pPr>
            <a:lvl3pPr marL="1143000" indent="-228600">
              <a:spcBef>
                <a:spcPct val="20000"/>
              </a:spcBef>
              <a:buClr>
                <a:schemeClr val="tx1"/>
              </a:buClr>
              <a:buChar char="•"/>
              <a:defRPr sz="2000">
                <a:latin typeface="Arial" panose="020B0604020202020204" pitchFamily="34" charset="0"/>
              </a:defRPr>
            </a:lvl3pPr>
            <a:lvl4pPr marL="1600200" indent="-228600">
              <a:spcBef>
                <a:spcPct val="20000"/>
              </a:spcBef>
              <a:buChar char="–"/>
              <a:defRPr sz="1600">
                <a:latin typeface="Arial" panose="020B0604020202020204" pitchFamily="34" charset="0"/>
              </a:defRPr>
            </a:lvl4pPr>
            <a:lvl5pPr marL="2057400" indent="-228600">
              <a:spcBef>
                <a:spcPct val="20000"/>
              </a:spcBef>
              <a:buChar char="»"/>
              <a:defRPr sz="1600">
                <a:latin typeface="Arial" panose="020B0604020202020204" pitchFamily="34" charset="0"/>
              </a:defRPr>
            </a:lvl5pPr>
            <a:lvl6pPr marL="2514600" indent="-228600" eaLnBrk="0" fontAlgn="base" hangingPunct="0">
              <a:spcBef>
                <a:spcPct val="20000"/>
              </a:spcBef>
              <a:spcAft>
                <a:spcPct val="0"/>
              </a:spcAft>
              <a:buChar char="»"/>
              <a:defRPr sz="1600">
                <a:latin typeface="Arial" panose="020B0604020202020204" pitchFamily="34" charset="0"/>
              </a:defRPr>
            </a:lvl6pPr>
            <a:lvl7pPr marL="2971800" indent="-228600" eaLnBrk="0" fontAlgn="base" hangingPunct="0">
              <a:spcBef>
                <a:spcPct val="20000"/>
              </a:spcBef>
              <a:spcAft>
                <a:spcPct val="0"/>
              </a:spcAft>
              <a:buChar char="»"/>
              <a:defRPr sz="1600">
                <a:latin typeface="Arial" panose="020B0604020202020204" pitchFamily="34" charset="0"/>
              </a:defRPr>
            </a:lvl7pPr>
            <a:lvl8pPr marL="3429000" indent="-228600" eaLnBrk="0" fontAlgn="base" hangingPunct="0">
              <a:spcBef>
                <a:spcPct val="20000"/>
              </a:spcBef>
              <a:spcAft>
                <a:spcPct val="0"/>
              </a:spcAft>
              <a:buChar char="»"/>
              <a:defRPr sz="1600">
                <a:latin typeface="Arial" panose="020B0604020202020204" pitchFamily="34" charset="0"/>
              </a:defRPr>
            </a:lvl8pPr>
            <a:lvl9pPr marL="3886200" indent="-228600" eaLnBrk="0" fontAlgn="base" hangingPunct="0">
              <a:spcBef>
                <a:spcPct val="20000"/>
              </a:spcBef>
              <a:spcAft>
                <a:spcPct val="0"/>
              </a:spcAft>
              <a:buChar char="»"/>
              <a:defRPr sz="1600">
                <a:latin typeface="Arial" panose="020B0604020202020204" pitchFamily="34" charset="0"/>
              </a:defRPr>
            </a:lvl9pPr>
          </a:lstStyle>
          <a:p>
            <a:r>
              <a:rPr lang="zh-CN" altLang="en-US" dirty="0"/>
              <a:t>杨延青、</a:t>
            </a:r>
            <a:r>
              <a:rPr lang="en-US" altLang="zh-CN" dirty="0" err="1"/>
              <a:t>Leili</a:t>
            </a:r>
            <a:r>
              <a:rPr lang="en-US" altLang="zh-CN" dirty="0"/>
              <a:t> Zhang</a:t>
            </a:r>
          </a:p>
          <a:p>
            <a:r>
              <a:rPr lang="en-US" altLang="zh-CN" dirty="0"/>
              <a:t>2023/4/27</a:t>
            </a:r>
            <a:endParaRPr lang="zh-CN" altLang="en-US" dirty="0"/>
          </a:p>
        </p:txBody>
      </p:sp>
    </p:spTree>
    <p:extLst>
      <p:ext uri="{BB962C8B-B14F-4D97-AF65-F5344CB8AC3E}">
        <p14:creationId xmlns:p14="http://schemas.microsoft.com/office/powerpoint/2010/main" val="3289144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59F9E9FD-BC32-46AB-AB20-CC06C34A3729}"/>
              </a:ext>
            </a:extLst>
          </p:cNvPr>
          <p:cNvSpPr/>
          <p:nvPr/>
        </p:nvSpPr>
        <p:spPr>
          <a:xfrm>
            <a:off x="0" y="6488669"/>
            <a:ext cx="12192000" cy="369332"/>
          </a:xfrm>
          <a:prstGeom prst="rect">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89740DC7-6734-4B6E-985D-EEE6311C66E5}"/>
              </a:ext>
            </a:extLst>
          </p:cNvPr>
          <p:cNvGrpSpPr/>
          <p:nvPr/>
        </p:nvGrpSpPr>
        <p:grpSpPr>
          <a:xfrm>
            <a:off x="5041679" y="742563"/>
            <a:ext cx="5630986" cy="3920877"/>
            <a:chOff x="5041678" y="986403"/>
            <a:chExt cx="6309359" cy="4393231"/>
          </a:xfrm>
        </p:grpSpPr>
        <p:pic>
          <p:nvPicPr>
            <p:cNvPr id="16" name="图片 15">
              <a:extLst>
                <a:ext uri="{FF2B5EF4-FFF2-40B4-BE49-F238E27FC236}">
                  <a16:creationId xmlns:a16="http://schemas.microsoft.com/office/drawing/2014/main" id="{D63AC3F9-C4FC-4A68-BE10-7490068DE130}"/>
                </a:ext>
              </a:extLst>
            </p:cNvPr>
            <p:cNvPicPr>
              <a:picLocks noChangeAspect="1"/>
            </p:cNvPicPr>
            <p:nvPr/>
          </p:nvPicPr>
          <p:blipFill>
            <a:blip r:embed="rId3"/>
            <a:stretch>
              <a:fillRect/>
            </a:stretch>
          </p:blipFill>
          <p:spPr>
            <a:xfrm>
              <a:off x="5041678" y="986403"/>
              <a:ext cx="6309359" cy="4393231"/>
            </a:xfrm>
            <a:prstGeom prst="rect">
              <a:avLst/>
            </a:prstGeom>
          </p:spPr>
        </p:pic>
        <p:sp>
          <p:nvSpPr>
            <p:cNvPr id="17" name="矩形: 圆角 16">
              <a:extLst>
                <a:ext uri="{FF2B5EF4-FFF2-40B4-BE49-F238E27FC236}">
                  <a16:creationId xmlns:a16="http://schemas.microsoft.com/office/drawing/2014/main" id="{8375DE50-3DEE-472B-B01D-E1FA60D1152C}"/>
                </a:ext>
              </a:extLst>
            </p:cNvPr>
            <p:cNvSpPr/>
            <p:nvPr/>
          </p:nvSpPr>
          <p:spPr>
            <a:xfrm>
              <a:off x="10929723" y="3210775"/>
              <a:ext cx="335280" cy="1255214"/>
            </a:xfrm>
            <a:prstGeom prst="roundRect">
              <a:avLst/>
            </a:prstGeom>
            <a:solidFill>
              <a:srgbClr val="D4E4F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8F46833F-5E8F-4D84-89B9-E39735252515}"/>
                </a:ext>
              </a:extLst>
            </p:cNvPr>
            <p:cNvSpPr txBox="1"/>
            <p:nvPr/>
          </p:nvSpPr>
          <p:spPr>
            <a:xfrm rot="5400000">
              <a:off x="10545094" y="3647522"/>
              <a:ext cx="1132042" cy="261610"/>
            </a:xfrm>
            <a:prstGeom prst="rect">
              <a:avLst/>
            </a:prstGeom>
            <a:noFill/>
          </p:spPr>
          <p:txBody>
            <a:bodyPr wrap="none" rtlCol="0">
              <a:spAutoFit/>
            </a:bodyPr>
            <a:lstStyle/>
            <a:p>
              <a:r>
                <a:rPr lang="en-US" altLang="zh-CN" sz="1100" b="1" dirty="0" err="1">
                  <a:solidFill>
                    <a:srgbClr val="436899"/>
                  </a:solidFill>
                  <a:latin typeface="微软雅黑" panose="020B0503020204020204" pitchFamily="34" charset="-122"/>
                  <a:ea typeface="微软雅黑" panose="020B0503020204020204" pitchFamily="34" charset="-122"/>
                </a:rPr>
                <a:t>RdRp</a:t>
              </a:r>
              <a:r>
                <a:rPr lang="zh-CN" altLang="en-US" sz="1100" b="1" dirty="0">
                  <a:solidFill>
                    <a:srgbClr val="436899"/>
                  </a:solidFill>
                  <a:latin typeface="微软雅黑" panose="020B0503020204020204" pitchFamily="34" charset="-122"/>
                  <a:ea typeface="微软雅黑" panose="020B0503020204020204" pitchFamily="34" charset="-122"/>
                </a:rPr>
                <a:t>作用位点</a:t>
              </a:r>
            </a:p>
          </p:txBody>
        </p:sp>
        <p:cxnSp>
          <p:nvCxnSpPr>
            <p:cNvPr id="19" name="直接箭头连接符 18">
              <a:extLst>
                <a:ext uri="{FF2B5EF4-FFF2-40B4-BE49-F238E27FC236}">
                  <a16:creationId xmlns:a16="http://schemas.microsoft.com/office/drawing/2014/main" id="{CB314D3C-9893-4084-BE17-BB99B19437CC}"/>
                </a:ext>
              </a:extLst>
            </p:cNvPr>
            <p:cNvCxnSpPr>
              <a:cxnSpLocks/>
            </p:cNvCxnSpPr>
            <p:nvPr/>
          </p:nvCxnSpPr>
          <p:spPr>
            <a:xfrm flipH="1" flipV="1">
              <a:off x="9908581" y="3455740"/>
              <a:ext cx="1021143" cy="2884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D0395DE-0B31-4C81-BF32-A961DCB6B28C}"/>
                </a:ext>
              </a:extLst>
            </p:cNvPr>
            <p:cNvSpPr/>
            <p:nvPr/>
          </p:nvSpPr>
          <p:spPr>
            <a:xfrm>
              <a:off x="6593943" y="3515575"/>
              <a:ext cx="1897380" cy="541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灯片编号占位符 1">
            <a:extLst>
              <a:ext uri="{FF2B5EF4-FFF2-40B4-BE49-F238E27FC236}">
                <a16:creationId xmlns:a16="http://schemas.microsoft.com/office/drawing/2014/main" id="{105C54BE-0DCF-458F-86F0-616AB3048FDD}"/>
              </a:ext>
            </a:extLst>
          </p:cNvPr>
          <p:cNvSpPr>
            <a:spLocks noGrp="1"/>
          </p:cNvSpPr>
          <p:nvPr>
            <p:ph type="sldNum" sz="quarter" idx="12"/>
          </p:nvPr>
        </p:nvSpPr>
        <p:spPr>
          <a:xfrm>
            <a:off x="9448800" y="6475822"/>
            <a:ext cx="2743200" cy="365125"/>
          </a:xfrm>
        </p:spPr>
        <p:txBody>
          <a:bodyPr/>
          <a:lstStyle/>
          <a:p>
            <a:fld id="{2F0485D5-9E03-4020-B25B-C8A61AD6A676}" type="slidenum">
              <a:rPr lang="zh-CN" altLang="en-US" smtClean="0">
                <a:solidFill>
                  <a:schemeClr val="bg1"/>
                </a:solidFill>
              </a:rPr>
              <a:t>11</a:t>
            </a:fld>
            <a:endParaRPr lang="zh-CN" altLang="en-US" dirty="0">
              <a:solidFill>
                <a:schemeClr val="bg1"/>
              </a:solidFill>
            </a:endParaRPr>
          </a:p>
        </p:txBody>
      </p:sp>
      <p:pic>
        <p:nvPicPr>
          <p:cNvPr id="7" name="图片 6">
            <a:extLst>
              <a:ext uri="{FF2B5EF4-FFF2-40B4-BE49-F238E27FC236}">
                <a16:creationId xmlns:a16="http://schemas.microsoft.com/office/drawing/2014/main" id="{AF595C86-DB86-43A1-B2E0-9AFC45978DD0}"/>
              </a:ext>
            </a:extLst>
          </p:cNvPr>
          <p:cNvPicPr>
            <a:picLocks noChangeAspect="1"/>
          </p:cNvPicPr>
          <p:nvPr/>
        </p:nvPicPr>
        <p:blipFill>
          <a:blip r:embed="rId4"/>
          <a:stretch>
            <a:fillRect/>
          </a:stretch>
        </p:blipFill>
        <p:spPr>
          <a:xfrm>
            <a:off x="856673" y="986403"/>
            <a:ext cx="3872200" cy="5433045"/>
          </a:xfrm>
          <a:prstGeom prst="rect">
            <a:avLst/>
          </a:prstGeom>
        </p:spPr>
      </p:pic>
      <p:pic>
        <p:nvPicPr>
          <p:cNvPr id="22" name="图片 21">
            <a:extLst>
              <a:ext uri="{FF2B5EF4-FFF2-40B4-BE49-F238E27FC236}">
                <a16:creationId xmlns:a16="http://schemas.microsoft.com/office/drawing/2014/main" id="{F088D2FB-5CB1-4AB7-9303-4DE789038982}"/>
              </a:ext>
            </a:extLst>
          </p:cNvPr>
          <p:cNvPicPr>
            <a:picLocks noChangeAspect="1"/>
          </p:cNvPicPr>
          <p:nvPr/>
        </p:nvPicPr>
        <p:blipFill>
          <a:blip r:embed="rId5"/>
          <a:stretch>
            <a:fillRect/>
          </a:stretch>
        </p:blipFill>
        <p:spPr>
          <a:xfrm>
            <a:off x="4875207" y="4447087"/>
            <a:ext cx="4607972" cy="1984973"/>
          </a:xfrm>
          <a:prstGeom prst="rect">
            <a:avLst/>
          </a:prstGeom>
          <a:ln>
            <a:solidFill>
              <a:schemeClr val="bg1">
                <a:lumMod val="65000"/>
              </a:schemeClr>
            </a:solidFill>
          </a:ln>
        </p:spPr>
      </p:pic>
      <p:sp>
        <p:nvSpPr>
          <p:cNvPr id="24" name="文本框 23">
            <a:extLst>
              <a:ext uri="{FF2B5EF4-FFF2-40B4-BE49-F238E27FC236}">
                <a16:creationId xmlns:a16="http://schemas.microsoft.com/office/drawing/2014/main" id="{30C7FA78-03D9-49E8-8A43-0A6FCF7A052B}"/>
              </a:ext>
            </a:extLst>
          </p:cNvPr>
          <p:cNvSpPr txBox="1"/>
          <p:nvPr/>
        </p:nvSpPr>
        <p:spPr>
          <a:xfrm>
            <a:off x="1748894" y="6494563"/>
            <a:ext cx="3160129" cy="338554"/>
          </a:xfrm>
          <a:prstGeom prst="rect">
            <a:avLst/>
          </a:prstGeom>
        </p:spPr>
        <p:txBody>
          <a:bodyPr wrap="square">
            <a:spAutoFit/>
          </a:bodyPr>
          <a:lstStyle>
            <a:defPPr>
              <a:defRPr lang="zh-CN"/>
            </a:defPPr>
            <a:lvl1pPr>
              <a:defRPr sz="16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solidFill>
                  <a:schemeClr val="bg1"/>
                </a:solidFill>
                <a:hlinkClick r:id="rId6">
                  <a:extLst>
                    <a:ext uri="{A12FA001-AC4F-418D-AE19-62706E023703}">
                      <ahyp:hlinkClr xmlns:ahyp="http://schemas.microsoft.com/office/drawing/2018/hyperlinkcolor" val="tx"/>
                    </a:ext>
                  </a:extLst>
                </a:hlinkClick>
              </a:rPr>
              <a:t>Nature Communications. 2020.</a:t>
            </a:r>
            <a:endParaRPr lang="zh-CN" altLang="en-US" dirty="0">
              <a:solidFill>
                <a:schemeClr val="bg1"/>
              </a:solidFill>
            </a:endParaRPr>
          </a:p>
        </p:txBody>
      </p:sp>
      <p:sp>
        <p:nvSpPr>
          <p:cNvPr id="25" name="文本框 24">
            <a:extLst>
              <a:ext uri="{FF2B5EF4-FFF2-40B4-BE49-F238E27FC236}">
                <a16:creationId xmlns:a16="http://schemas.microsoft.com/office/drawing/2014/main" id="{ECB54096-8CA0-4474-B27D-A770FDA5E4E5}"/>
              </a:ext>
            </a:extLst>
          </p:cNvPr>
          <p:cNvSpPr txBox="1"/>
          <p:nvPr/>
        </p:nvSpPr>
        <p:spPr>
          <a:xfrm>
            <a:off x="135567" y="6489108"/>
            <a:ext cx="1613327" cy="338554"/>
          </a:xfrm>
          <a:prstGeom prst="rect">
            <a:avLst/>
          </a:prstGeom>
        </p:spPr>
        <p:txBody>
          <a:bodyPr wrap="square">
            <a:spAutoFit/>
          </a:bodyPr>
          <a:lstStyle>
            <a:defPPr>
              <a:defRPr lang="zh-CN"/>
            </a:defPPr>
            <a:lvl1pPr>
              <a:defRPr sz="16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solidFill>
                  <a:schemeClr val="bg1"/>
                </a:solidFill>
                <a:hlinkClick r:id="rId7">
                  <a:extLst>
                    <a:ext uri="{A12FA001-AC4F-418D-AE19-62706E023703}">
                      <ahyp:hlinkClr xmlns:ahyp="http://schemas.microsoft.com/office/drawing/2018/hyperlinkcolor" val="tx"/>
                    </a:ext>
                  </a:extLst>
                </a:hlinkClick>
              </a:rPr>
              <a:t>Science. 2021</a:t>
            </a:r>
            <a:endParaRPr lang="zh-CN" altLang="en-US" dirty="0">
              <a:solidFill>
                <a:schemeClr val="bg1"/>
              </a:solidFill>
            </a:endParaRPr>
          </a:p>
        </p:txBody>
      </p:sp>
      <p:sp>
        <p:nvSpPr>
          <p:cNvPr id="27" name="文本框 26">
            <a:extLst>
              <a:ext uri="{FF2B5EF4-FFF2-40B4-BE49-F238E27FC236}">
                <a16:creationId xmlns:a16="http://schemas.microsoft.com/office/drawing/2014/main" id="{EA51FEE0-5B58-49EA-B1BF-AF94E0718973}"/>
              </a:ext>
            </a:extLst>
          </p:cNvPr>
          <p:cNvSpPr txBox="1"/>
          <p:nvPr/>
        </p:nvSpPr>
        <p:spPr>
          <a:xfrm>
            <a:off x="5077853" y="6492166"/>
            <a:ext cx="2595488" cy="338554"/>
          </a:xfrm>
          <a:prstGeom prst="rect">
            <a:avLst/>
          </a:prstGeom>
        </p:spPr>
        <p:txBody>
          <a:bodyPr wrap="square">
            <a:spAutoFit/>
          </a:bodyPr>
          <a:lstStyle>
            <a:defPPr>
              <a:defRPr lang="zh-CN"/>
            </a:defPPr>
            <a:lvl1pPr>
              <a:defRPr sz="16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err="1">
                <a:solidFill>
                  <a:schemeClr val="bg1"/>
                </a:solidFill>
                <a:hlinkClick r:id="rId8">
                  <a:extLst>
                    <a:ext uri="{A12FA001-AC4F-418D-AE19-62706E023703}">
                      <ahyp:hlinkClr xmlns:ahyp="http://schemas.microsoft.com/office/drawing/2018/hyperlinkcolor" val="tx"/>
                    </a:ext>
                  </a:extLst>
                </a:hlinkClick>
              </a:rPr>
              <a:t>Comput</a:t>
            </a:r>
            <a:r>
              <a:rPr lang="en-US" altLang="zh-CN" dirty="0">
                <a:solidFill>
                  <a:schemeClr val="bg1"/>
                </a:solidFill>
                <a:hlinkClick r:id="rId8">
                  <a:extLst>
                    <a:ext uri="{A12FA001-AC4F-418D-AE19-62706E023703}">
                      <ahyp:hlinkClr xmlns:ahyp="http://schemas.microsoft.com/office/drawing/2018/hyperlinkcolor" val="tx"/>
                    </a:ext>
                  </a:extLst>
                </a:hlinkClick>
              </a:rPr>
              <a:t> Biol Med. 2022.</a:t>
            </a:r>
            <a:endParaRPr lang="zh-CN" altLang="en-US" dirty="0">
              <a:solidFill>
                <a:schemeClr val="bg1"/>
              </a:solidFill>
            </a:endParaRPr>
          </a:p>
        </p:txBody>
      </p:sp>
      <p:cxnSp>
        <p:nvCxnSpPr>
          <p:cNvPr id="29" name="直接连接符 28">
            <a:extLst>
              <a:ext uri="{FF2B5EF4-FFF2-40B4-BE49-F238E27FC236}">
                <a16:creationId xmlns:a16="http://schemas.microsoft.com/office/drawing/2014/main" id="{95F95723-5756-490C-9643-4A81FA790C4A}"/>
              </a:ext>
            </a:extLst>
          </p:cNvPr>
          <p:cNvCxnSpPr>
            <a:cxnSpLocks/>
          </p:cNvCxnSpPr>
          <p:nvPr/>
        </p:nvCxnSpPr>
        <p:spPr>
          <a:xfrm flipV="1">
            <a:off x="4875207" y="4179094"/>
            <a:ext cx="2189962" cy="26799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92158EA-0089-49FA-AD3A-C97CA26578F3}"/>
              </a:ext>
            </a:extLst>
          </p:cNvPr>
          <p:cNvCxnSpPr>
            <a:cxnSpLocks/>
          </p:cNvCxnSpPr>
          <p:nvPr/>
        </p:nvCxnSpPr>
        <p:spPr>
          <a:xfrm>
            <a:off x="8247976" y="4180059"/>
            <a:ext cx="1235203" cy="2670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7F4585A-4A99-4520-B3DB-144D654B832A}"/>
              </a:ext>
            </a:extLst>
          </p:cNvPr>
          <p:cNvSpPr txBox="1"/>
          <p:nvPr/>
        </p:nvSpPr>
        <p:spPr>
          <a:xfrm>
            <a:off x="9613721" y="4569635"/>
            <a:ext cx="2117887" cy="1750864"/>
          </a:xfrm>
          <a:prstGeom prst="rect">
            <a:avLst/>
          </a:prstGeom>
          <a:noFill/>
        </p:spPr>
        <p:txBody>
          <a:bodyPr wrap="none" rtlCol="0">
            <a:spAutoFit/>
          </a:bodyPr>
          <a:lstStyle/>
          <a:p>
            <a:pPr marL="285750" indent="-285750" algn="just">
              <a:lnSpc>
                <a:spcPct val="200000"/>
              </a:lnSpc>
              <a:buClr>
                <a:srgbClr val="0404FF"/>
              </a:buClr>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阻止</a:t>
            </a:r>
            <a:r>
              <a:rPr lang="en-US" altLang="zh-CN" sz="1400" dirty="0">
                <a:latin typeface="微软雅黑" panose="020B0503020204020204" pitchFamily="34" charset="-122"/>
                <a:ea typeface="微软雅黑" panose="020B0503020204020204" pitchFamily="34" charset="-122"/>
              </a:rPr>
              <a:t>3CL</a:t>
            </a:r>
            <a:r>
              <a:rPr lang="zh-CN" altLang="en-US" sz="1400" dirty="0">
                <a:latin typeface="微软雅黑" panose="020B0503020204020204" pitchFamily="34" charset="-122"/>
                <a:ea typeface="微软雅黑" panose="020B0503020204020204" pitchFamily="34" charset="-122"/>
              </a:rPr>
              <a:t>蛋白</a:t>
            </a:r>
            <a:r>
              <a:rPr lang="en-US" altLang="zh-CN"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RdRp</a:t>
            </a:r>
            <a:endParaRPr lang="en-US" altLang="zh-CN" sz="1400" dirty="0">
              <a:latin typeface="微软雅黑" panose="020B0503020204020204" pitchFamily="34" charset="-122"/>
              <a:ea typeface="微软雅黑" panose="020B0503020204020204" pitchFamily="34" charset="-122"/>
            </a:endParaRPr>
          </a:p>
          <a:p>
            <a:pPr algn="just">
              <a:lnSpc>
                <a:spcPct val="200000"/>
              </a:lnSpc>
              <a:buClr>
                <a:srgbClr val="0404FF"/>
              </a:buClr>
            </a:pPr>
            <a:r>
              <a:rPr lang="zh-CN" altLang="en-US" sz="1400" dirty="0">
                <a:latin typeface="微软雅黑" panose="020B0503020204020204" pitchFamily="34" charset="-122"/>
                <a:ea typeface="微软雅黑" panose="020B0503020204020204" pitchFamily="34" charset="-122"/>
              </a:rPr>
              <a:t>      可有效抑制病毒复制</a:t>
            </a:r>
            <a:endParaRPr lang="en-US" altLang="zh-CN" sz="1400" dirty="0">
              <a:latin typeface="微软雅黑" panose="020B0503020204020204" pitchFamily="34" charset="-122"/>
              <a:ea typeface="微软雅黑" panose="020B0503020204020204" pitchFamily="34" charset="-122"/>
            </a:endParaRPr>
          </a:p>
          <a:p>
            <a:pPr marL="285750" indent="-285750" algn="just">
              <a:lnSpc>
                <a:spcPct val="200000"/>
              </a:lnSpc>
              <a:buClr>
                <a:srgbClr val="0404FF"/>
              </a:buClr>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序列高度保守</a:t>
            </a:r>
            <a:endParaRPr lang="en-US" altLang="zh-CN" sz="1400" dirty="0">
              <a:latin typeface="微软雅黑" panose="020B0503020204020204" pitchFamily="34" charset="-122"/>
              <a:ea typeface="微软雅黑" panose="020B0503020204020204" pitchFamily="34" charset="-122"/>
            </a:endParaRPr>
          </a:p>
          <a:p>
            <a:pPr marL="285750" indent="-285750" algn="just">
              <a:lnSpc>
                <a:spcPct val="200000"/>
              </a:lnSpc>
              <a:buClr>
                <a:srgbClr val="0404FF"/>
              </a:buClr>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活性位点明确</a:t>
            </a:r>
            <a:endParaRPr lang="en-US" altLang="zh-CN" sz="1400" dirty="0">
              <a:latin typeface="微软雅黑" panose="020B0503020204020204" pitchFamily="34" charset="-122"/>
              <a:ea typeface="微软雅黑" panose="020B0503020204020204" pitchFamily="34" charset="-122"/>
            </a:endParaRPr>
          </a:p>
        </p:txBody>
      </p:sp>
      <p:sp>
        <p:nvSpPr>
          <p:cNvPr id="28" name="文本框 11">
            <a:extLst>
              <a:ext uri="{FF2B5EF4-FFF2-40B4-BE49-F238E27FC236}">
                <a16:creationId xmlns:a16="http://schemas.microsoft.com/office/drawing/2014/main" id="{2850C02C-2F04-49A6-92DF-D8D27CCA06E1}"/>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Background</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05776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8610600" y="5899150"/>
            <a:ext cx="2743200" cy="365125"/>
          </a:xfrm>
        </p:spPr>
        <p:txBody>
          <a:bodyPr/>
          <a:lstStyle/>
          <a:p>
            <a:fld id="{2F0485D5-9E03-4020-B25B-C8A61AD6A676}" type="slidenum">
              <a:rPr lang="zh-CN" altLang="en-US" smtClean="0"/>
              <a:t>12</a:t>
            </a:fld>
            <a:endParaRPr lang="zh-CN" altLang="en-US"/>
          </a:p>
        </p:txBody>
      </p:sp>
      <p:sp>
        <p:nvSpPr>
          <p:cNvPr id="7" name="矩形 6">
            <a:extLst>
              <a:ext uri="{FF2B5EF4-FFF2-40B4-BE49-F238E27FC236}">
                <a16:creationId xmlns:a16="http://schemas.microsoft.com/office/drawing/2014/main" id="{28FE147B-0F9C-41B4-91D9-69854ECA5FE8}"/>
              </a:ext>
            </a:extLst>
          </p:cNvPr>
          <p:cNvSpPr/>
          <p:nvPr/>
        </p:nvSpPr>
        <p:spPr>
          <a:xfrm>
            <a:off x="0" y="6488669"/>
            <a:ext cx="12192000" cy="369332"/>
          </a:xfrm>
          <a:prstGeom prst="rect">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2E54F1C2-4161-4BDF-934F-11B0E991D2A0}"/>
              </a:ext>
            </a:extLst>
          </p:cNvPr>
          <p:cNvPicPr>
            <a:picLocks noChangeAspect="1"/>
          </p:cNvPicPr>
          <p:nvPr/>
        </p:nvPicPr>
        <p:blipFill>
          <a:blip r:embed="rId3"/>
          <a:stretch>
            <a:fillRect/>
          </a:stretch>
        </p:blipFill>
        <p:spPr>
          <a:xfrm>
            <a:off x="946184" y="1174546"/>
            <a:ext cx="4850096" cy="2535807"/>
          </a:xfrm>
          <a:prstGeom prst="rect">
            <a:avLst/>
          </a:prstGeom>
        </p:spPr>
      </p:pic>
      <p:sp>
        <p:nvSpPr>
          <p:cNvPr id="31" name="文本框 30">
            <a:extLst>
              <a:ext uri="{FF2B5EF4-FFF2-40B4-BE49-F238E27FC236}">
                <a16:creationId xmlns:a16="http://schemas.microsoft.com/office/drawing/2014/main" id="{2FD7F224-8CD1-4664-8AB3-3BE3B8229B07}"/>
              </a:ext>
            </a:extLst>
          </p:cNvPr>
          <p:cNvSpPr txBox="1"/>
          <p:nvPr/>
        </p:nvSpPr>
        <p:spPr>
          <a:xfrm>
            <a:off x="573199" y="6475969"/>
            <a:ext cx="2040856"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en-US" altLang="zh-CN" dirty="0">
                <a:solidFill>
                  <a:schemeClr val="bg1"/>
                </a:solidFill>
                <a:hlinkClick r:id="rId4">
                  <a:extLst>
                    <a:ext uri="{A12FA001-AC4F-418D-AE19-62706E023703}">
                      <ahyp:hlinkClr xmlns:ahyp="http://schemas.microsoft.com/office/drawing/2018/hyperlinkcolor" val="tx"/>
                    </a:ext>
                  </a:extLst>
                </a:hlinkClick>
              </a:rPr>
              <a:t>Nat </a:t>
            </a:r>
            <a:r>
              <a:rPr lang="en-US" altLang="zh-CN" dirty="0" err="1">
                <a:solidFill>
                  <a:schemeClr val="bg1"/>
                </a:solidFill>
                <a:hlinkClick r:id="rId4">
                  <a:extLst>
                    <a:ext uri="{A12FA001-AC4F-418D-AE19-62706E023703}">
                      <ahyp:hlinkClr xmlns:ahyp="http://schemas.microsoft.com/office/drawing/2018/hyperlinkcolor" val="tx"/>
                    </a:ext>
                  </a:extLst>
                </a:hlinkClick>
              </a:rPr>
              <a:t>Commun</a:t>
            </a:r>
            <a:r>
              <a:rPr lang="en-US" altLang="zh-CN" dirty="0">
                <a:solidFill>
                  <a:schemeClr val="bg1"/>
                </a:solidFill>
                <a:hlinkClick r:id="rId4">
                  <a:extLst>
                    <a:ext uri="{A12FA001-AC4F-418D-AE19-62706E023703}">
                      <ahyp:hlinkClr xmlns:ahyp="http://schemas.microsoft.com/office/drawing/2018/hyperlinkcolor" val="tx"/>
                    </a:ext>
                  </a:extLst>
                </a:hlinkClick>
              </a:rPr>
              <a:t>. 2020.</a:t>
            </a:r>
            <a:endParaRPr lang="zh-CN" altLang="en-US" dirty="0">
              <a:solidFill>
                <a:schemeClr val="bg1"/>
              </a:solidFill>
            </a:endParaRPr>
          </a:p>
        </p:txBody>
      </p:sp>
      <p:grpSp>
        <p:nvGrpSpPr>
          <p:cNvPr id="32" name="组合 31">
            <a:extLst>
              <a:ext uri="{FF2B5EF4-FFF2-40B4-BE49-F238E27FC236}">
                <a16:creationId xmlns:a16="http://schemas.microsoft.com/office/drawing/2014/main" id="{435797C8-2456-4DC4-B296-08F3918BC201}"/>
              </a:ext>
            </a:extLst>
          </p:cNvPr>
          <p:cNvGrpSpPr/>
          <p:nvPr/>
        </p:nvGrpSpPr>
        <p:grpSpPr>
          <a:xfrm>
            <a:off x="399645" y="4209024"/>
            <a:ext cx="10682644" cy="1941388"/>
            <a:chOff x="110085" y="920355"/>
            <a:chExt cx="10682644" cy="1941388"/>
          </a:xfrm>
        </p:grpSpPr>
        <p:pic>
          <p:nvPicPr>
            <p:cNvPr id="37" name="图片 36">
              <a:extLst>
                <a:ext uri="{FF2B5EF4-FFF2-40B4-BE49-F238E27FC236}">
                  <a16:creationId xmlns:a16="http://schemas.microsoft.com/office/drawing/2014/main" id="{6471EB94-4C95-45A6-B5C3-FF5ACCFC7D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9271" y="920355"/>
              <a:ext cx="9393458" cy="1617508"/>
            </a:xfrm>
            <a:prstGeom prst="rect">
              <a:avLst/>
            </a:prstGeom>
          </p:spPr>
        </p:pic>
        <p:sp>
          <p:nvSpPr>
            <p:cNvPr id="41" name="文本框 40">
              <a:extLst>
                <a:ext uri="{FF2B5EF4-FFF2-40B4-BE49-F238E27FC236}">
                  <a16:creationId xmlns:a16="http://schemas.microsoft.com/office/drawing/2014/main" id="{E24CAB43-5E32-4803-8C23-DD9CCE558BFD}"/>
                </a:ext>
              </a:extLst>
            </p:cNvPr>
            <p:cNvSpPr txBox="1"/>
            <p:nvPr/>
          </p:nvSpPr>
          <p:spPr>
            <a:xfrm>
              <a:off x="110085" y="2442573"/>
              <a:ext cx="1448858" cy="369332"/>
            </a:xfrm>
            <a:prstGeom prst="rect">
              <a:avLst/>
            </a:prstGeom>
            <a:noFill/>
          </p:spPr>
          <p:txBody>
            <a:bodyPr wrap="none" rtlCol="0">
              <a:spAutoFit/>
            </a:bodyPr>
            <a:lstStyle>
              <a:defPPr>
                <a:defRPr lang="zh-CN"/>
              </a:defPPr>
              <a:lvl1pPr>
                <a:defRPr>
                  <a:solidFill>
                    <a:srgbClr val="034092"/>
                  </a:solidFill>
                  <a:latin typeface="Arial" panose="020B0604020202020204" pitchFamily="34" charset="0"/>
                  <a:cs typeface="Arial" panose="020B0604020202020204" pitchFamily="34" charset="0"/>
                </a:defRPr>
              </a:lvl1pPr>
            </a:lstStyle>
            <a:p>
              <a:r>
                <a:rPr lang="en-US" altLang="zh-CN" dirty="0"/>
                <a:t>3CL IC</a:t>
              </a:r>
              <a:r>
                <a:rPr lang="en-US" altLang="zh-CN" baseline="-25000" dirty="0"/>
                <a:t>50</a:t>
              </a:r>
              <a:r>
                <a:rPr lang="en-US" altLang="zh-CN" dirty="0"/>
                <a:t>/</a:t>
              </a:r>
              <a:r>
                <a:rPr lang="en-US" altLang="zh-CN" dirty="0" err="1"/>
                <a:t>uM</a:t>
              </a:r>
              <a:endParaRPr lang="zh-CN" altLang="en-US" dirty="0"/>
            </a:p>
          </p:txBody>
        </p:sp>
        <p:sp>
          <p:nvSpPr>
            <p:cNvPr id="44" name="文本框 43">
              <a:extLst>
                <a:ext uri="{FF2B5EF4-FFF2-40B4-BE49-F238E27FC236}">
                  <a16:creationId xmlns:a16="http://schemas.microsoft.com/office/drawing/2014/main" id="{D80067EE-A973-4E09-9DF4-191FD1831403}"/>
                </a:ext>
              </a:extLst>
            </p:cNvPr>
            <p:cNvSpPr txBox="1"/>
            <p:nvPr/>
          </p:nvSpPr>
          <p:spPr>
            <a:xfrm>
              <a:off x="1862576" y="2458820"/>
              <a:ext cx="633507" cy="369332"/>
            </a:xfrm>
            <a:prstGeom prst="rect">
              <a:avLst/>
            </a:prstGeom>
            <a:noFill/>
          </p:spPr>
          <p:txBody>
            <a:bodyPr wrap="none" rtlCol="0">
              <a:spAutoFit/>
            </a:bodyPr>
            <a:lstStyle>
              <a:defPPr>
                <a:defRPr lang="zh-CN"/>
              </a:defPPr>
              <a:lvl1pPr>
                <a:defRPr>
                  <a:solidFill>
                    <a:srgbClr val="034092"/>
                  </a:solidFill>
                  <a:latin typeface="Arial" panose="020B0604020202020204" pitchFamily="34" charset="0"/>
                  <a:cs typeface="Arial" panose="020B0604020202020204" pitchFamily="34" charset="0"/>
                </a:defRPr>
              </a:lvl1pPr>
            </a:lstStyle>
            <a:p>
              <a:r>
                <a:rPr lang="en-US" altLang="zh-CN" dirty="0"/>
                <a:t>2.00</a:t>
              </a:r>
              <a:endParaRPr lang="zh-CN" altLang="en-US" dirty="0"/>
            </a:p>
          </p:txBody>
        </p:sp>
        <p:sp>
          <p:nvSpPr>
            <p:cNvPr id="45" name="文本框 44">
              <a:extLst>
                <a:ext uri="{FF2B5EF4-FFF2-40B4-BE49-F238E27FC236}">
                  <a16:creationId xmlns:a16="http://schemas.microsoft.com/office/drawing/2014/main" id="{FBB5A2E8-B1B4-4950-ADDE-61806B96C114}"/>
                </a:ext>
              </a:extLst>
            </p:cNvPr>
            <p:cNvSpPr txBox="1"/>
            <p:nvPr/>
          </p:nvSpPr>
          <p:spPr>
            <a:xfrm>
              <a:off x="4576003" y="2442573"/>
              <a:ext cx="633507" cy="369332"/>
            </a:xfrm>
            <a:prstGeom prst="rect">
              <a:avLst/>
            </a:prstGeom>
            <a:noFill/>
          </p:spPr>
          <p:txBody>
            <a:bodyPr wrap="none" rtlCol="0">
              <a:spAutoFit/>
            </a:bodyPr>
            <a:lstStyle>
              <a:defPPr>
                <a:defRPr lang="zh-CN"/>
              </a:defPPr>
              <a:lvl1pPr>
                <a:defRPr>
                  <a:solidFill>
                    <a:srgbClr val="034092"/>
                  </a:solidFill>
                  <a:latin typeface="Arial" panose="020B0604020202020204" pitchFamily="34" charset="0"/>
                  <a:cs typeface="Arial" panose="020B0604020202020204" pitchFamily="34" charset="0"/>
                </a:defRPr>
              </a:lvl1pPr>
            </a:lstStyle>
            <a:p>
              <a:r>
                <a:rPr lang="en-US" altLang="zh-CN" dirty="0"/>
                <a:t>1.60</a:t>
              </a:r>
              <a:endParaRPr lang="zh-CN" altLang="en-US" dirty="0"/>
            </a:p>
          </p:txBody>
        </p:sp>
        <p:sp>
          <p:nvSpPr>
            <p:cNvPr id="46" name="文本框 45">
              <a:extLst>
                <a:ext uri="{FF2B5EF4-FFF2-40B4-BE49-F238E27FC236}">
                  <a16:creationId xmlns:a16="http://schemas.microsoft.com/office/drawing/2014/main" id="{E9766D2A-86EC-421C-9B93-345525720DED}"/>
                </a:ext>
              </a:extLst>
            </p:cNvPr>
            <p:cNvSpPr txBox="1"/>
            <p:nvPr/>
          </p:nvSpPr>
          <p:spPr>
            <a:xfrm>
              <a:off x="6972676" y="2458820"/>
              <a:ext cx="633507" cy="369332"/>
            </a:xfrm>
            <a:prstGeom prst="rect">
              <a:avLst/>
            </a:prstGeom>
            <a:noFill/>
          </p:spPr>
          <p:txBody>
            <a:bodyPr wrap="none" rtlCol="0">
              <a:spAutoFit/>
            </a:bodyPr>
            <a:lstStyle>
              <a:defPPr>
                <a:defRPr lang="zh-CN"/>
              </a:defPPr>
              <a:lvl1pPr>
                <a:defRPr>
                  <a:solidFill>
                    <a:srgbClr val="034092"/>
                  </a:solidFill>
                  <a:latin typeface="Arial" panose="020B0604020202020204" pitchFamily="34" charset="0"/>
                  <a:cs typeface="Arial" panose="020B0604020202020204" pitchFamily="34" charset="0"/>
                </a:defRPr>
              </a:lvl1pPr>
            </a:lstStyle>
            <a:p>
              <a:r>
                <a:rPr lang="en-US" altLang="zh-CN" dirty="0"/>
                <a:t>0.20</a:t>
              </a:r>
              <a:endParaRPr lang="zh-CN" altLang="en-US" dirty="0"/>
            </a:p>
          </p:txBody>
        </p:sp>
        <p:sp>
          <p:nvSpPr>
            <p:cNvPr id="47" name="文本框 46">
              <a:extLst>
                <a:ext uri="{FF2B5EF4-FFF2-40B4-BE49-F238E27FC236}">
                  <a16:creationId xmlns:a16="http://schemas.microsoft.com/office/drawing/2014/main" id="{621B8BF8-5BB2-44B7-AB33-EAF6D3296DE0}"/>
                </a:ext>
              </a:extLst>
            </p:cNvPr>
            <p:cNvSpPr txBox="1"/>
            <p:nvPr/>
          </p:nvSpPr>
          <p:spPr>
            <a:xfrm>
              <a:off x="9615999" y="2492411"/>
              <a:ext cx="633507" cy="369332"/>
            </a:xfrm>
            <a:prstGeom prst="rect">
              <a:avLst/>
            </a:prstGeom>
            <a:noFill/>
          </p:spPr>
          <p:txBody>
            <a:bodyPr wrap="none" rtlCol="0">
              <a:spAutoFit/>
            </a:bodyPr>
            <a:lstStyle>
              <a:defPPr>
                <a:defRPr lang="zh-CN"/>
              </a:defPPr>
              <a:lvl1pPr>
                <a:defRPr>
                  <a:solidFill>
                    <a:srgbClr val="034092"/>
                  </a:solidFill>
                  <a:latin typeface="Arial" panose="020B0604020202020204" pitchFamily="34" charset="0"/>
                  <a:cs typeface="Arial" panose="020B0604020202020204" pitchFamily="34" charset="0"/>
                </a:defRPr>
              </a:lvl1pPr>
            </a:lstStyle>
            <a:p>
              <a:r>
                <a:rPr lang="en-US" altLang="zh-CN" dirty="0"/>
                <a:t>0.02</a:t>
              </a:r>
              <a:endParaRPr lang="zh-CN" altLang="en-US" dirty="0"/>
            </a:p>
          </p:txBody>
        </p:sp>
      </p:grpSp>
      <p:sp>
        <p:nvSpPr>
          <p:cNvPr id="49" name="星形: 五角 48">
            <a:extLst>
              <a:ext uri="{FF2B5EF4-FFF2-40B4-BE49-F238E27FC236}">
                <a16:creationId xmlns:a16="http://schemas.microsoft.com/office/drawing/2014/main" id="{DC0A451E-9BC0-4FE5-A791-6DB43243C813}"/>
              </a:ext>
            </a:extLst>
          </p:cNvPr>
          <p:cNvSpPr>
            <a:spLocks noChangeAspect="1"/>
          </p:cNvSpPr>
          <p:nvPr/>
        </p:nvSpPr>
        <p:spPr>
          <a:xfrm>
            <a:off x="10576315" y="5819521"/>
            <a:ext cx="91440" cy="9144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a:extLst>
              <a:ext uri="{FF2B5EF4-FFF2-40B4-BE49-F238E27FC236}">
                <a16:creationId xmlns:a16="http://schemas.microsoft.com/office/drawing/2014/main" id="{48CEC545-B34F-42B2-AF3E-E6F66041C2DD}"/>
              </a:ext>
            </a:extLst>
          </p:cNvPr>
          <p:cNvPicPr>
            <a:picLocks noChangeAspect="1"/>
          </p:cNvPicPr>
          <p:nvPr/>
        </p:nvPicPr>
        <p:blipFill>
          <a:blip r:embed="rId6"/>
          <a:stretch>
            <a:fillRect/>
          </a:stretch>
        </p:blipFill>
        <p:spPr>
          <a:xfrm>
            <a:off x="6382827" y="1078874"/>
            <a:ext cx="4578475" cy="1160251"/>
          </a:xfrm>
          <a:prstGeom prst="rect">
            <a:avLst/>
          </a:prstGeom>
        </p:spPr>
      </p:pic>
      <p:pic>
        <p:nvPicPr>
          <p:cNvPr id="52" name="图片 51">
            <a:extLst>
              <a:ext uri="{FF2B5EF4-FFF2-40B4-BE49-F238E27FC236}">
                <a16:creationId xmlns:a16="http://schemas.microsoft.com/office/drawing/2014/main" id="{0B981A15-7E3A-4FEC-B865-E92581F92C21}"/>
              </a:ext>
            </a:extLst>
          </p:cNvPr>
          <p:cNvPicPr>
            <a:picLocks noChangeAspect="1"/>
          </p:cNvPicPr>
          <p:nvPr/>
        </p:nvPicPr>
        <p:blipFill>
          <a:blip r:embed="rId7"/>
          <a:stretch>
            <a:fillRect/>
          </a:stretch>
        </p:blipFill>
        <p:spPr>
          <a:xfrm>
            <a:off x="6403991" y="2344102"/>
            <a:ext cx="3067602" cy="1432627"/>
          </a:xfrm>
          <a:prstGeom prst="rect">
            <a:avLst/>
          </a:prstGeom>
        </p:spPr>
      </p:pic>
      <p:sp>
        <p:nvSpPr>
          <p:cNvPr id="53" name="文本框 52">
            <a:extLst>
              <a:ext uri="{FF2B5EF4-FFF2-40B4-BE49-F238E27FC236}">
                <a16:creationId xmlns:a16="http://schemas.microsoft.com/office/drawing/2014/main" id="{013E9FED-8DB7-4515-AB15-08BB762FB8D6}"/>
              </a:ext>
            </a:extLst>
          </p:cNvPr>
          <p:cNvSpPr txBox="1"/>
          <p:nvPr/>
        </p:nvSpPr>
        <p:spPr>
          <a:xfrm>
            <a:off x="2796935" y="6491445"/>
            <a:ext cx="3238499" cy="338554"/>
          </a:xfrm>
          <a:prstGeom prst="rect">
            <a:avLst/>
          </a:prstGeom>
          <a:noFill/>
        </p:spPr>
        <p:txBody>
          <a:bodyPr wrap="square">
            <a:spAutoFit/>
          </a:bodyPr>
          <a:lstStyle/>
          <a:p>
            <a:r>
              <a:rPr lang="fr-FR" altLang="zh-CN" sz="1600" dirty="0">
                <a:solidFill>
                  <a:schemeClr val="bg1"/>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ACS Pharmacol Transl Sci. 2022.</a:t>
            </a:r>
            <a:endParaRPr lang="zh-CN" altLang="en-US" sz="1600" dirty="0">
              <a:solidFill>
                <a:schemeClr val="bg1"/>
              </a:solidFill>
              <a:latin typeface="Arial" panose="020B0604020202020204" pitchFamily="34" charset="0"/>
              <a:cs typeface="Arial" panose="020B0604020202020204" pitchFamily="34" charset="0"/>
            </a:endParaRPr>
          </a:p>
        </p:txBody>
      </p:sp>
      <p:sp>
        <p:nvSpPr>
          <p:cNvPr id="21" name="矩形 20">
            <a:extLst>
              <a:ext uri="{FF2B5EF4-FFF2-40B4-BE49-F238E27FC236}">
                <a16:creationId xmlns:a16="http://schemas.microsoft.com/office/drawing/2014/main" id="{0453D512-E14A-48CA-A184-C4611CF231F1}"/>
              </a:ext>
            </a:extLst>
          </p:cNvPr>
          <p:cNvSpPr/>
          <p:nvPr/>
        </p:nvSpPr>
        <p:spPr>
          <a:xfrm>
            <a:off x="9835026" y="6092309"/>
            <a:ext cx="774571"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I3C-3</a:t>
            </a:r>
            <a:endParaRPr lang="zh-CN" altLang="en-US" dirty="0"/>
          </a:p>
        </p:txBody>
      </p:sp>
      <p:sp>
        <p:nvSpPr>
          <p:cNvPr id="22" name="文本框 11">
            <a:extLst>
              <a:ext uri="{FF2B5EF4-FFF2-40B4-BE49-F238E27FC236}">
                <a16:creationId xmlns:a16="http://schemas.microsoft.com/office/drawing/2014/main" id="{4C1F67F3-FDA9-4C3A-8549-ED0EA7205660}"/>
              </a:ext>
            </a:extLst>
          </p:cNvPr>
          <p:cNvSpPr txBox="1"/>
          <p:nvPr/>
        </p:nvSpPr>
        <p:spPr>
          <a:xfrm>
            <a:off x="1335360" y="327739"/>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Background</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5660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8610600" y="5899150"/>
            <a:ext cx="2743200" cy="365125"/>
          </a:xfrm>
        </p:spPr>
        <p:txBody>
          <a:bodyPr/>
          <a:lstStyle/>
          <a:p>
            <a:fld id="{2F0485D5-9E03-4020-B25B-C8A61AD6A676}" type="slidenum">
              <a:rPr lang="zh-CN" altLang="en-US" smtClean="0"/>
              <a:t>13</a:t>
            </a:fld>
            <a:endParaRPr lang="zh-CN" altLang="en-US" dirty="0"/>
          </a:p>
        </p:txBody>
      </p:sp>
      <p:sp>
        <p:nvSpPr>
          <p:cNvPr id="14" name="文本框 13">
            <a:extLst>
              <a:ext uri="{FF2B5EF4-FFF2-40B4-BE49-F238E27FC236}">
                <a16:creationId xmlns:a16="http://schemas.microsoft.com/office/drawing/2014/main" id="{EBE2E7B8-E8D3-44B9-978D-3454A2DE88B1}"/>
              </a:ext>
            </a:extLst>
          </p:cNvPr>
          <p:cNvSpPr txBox="1"/>
          <p:nvPr/>
        </p:nvSpPr>
        <p:spPr>
          <a:xfrm>
            <a:off x="958544" y="169884"/>
            <a:ext cx="7403487"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FEP</a:t>
            </a:r>
            <a:r>
              <a:rPr lang="zh-CN" altLang="en-US" dirty="0"/>
              <a:t>计算结果与实验测得的活性数据高度相符</a:t>
            </a:r>
          </a:p>
        </p:txBody>
      </p:sp>
      <p:pic>
        <p:nvPicPr>
          <p:cNvPr id="3" name="图片 2">
            <a:extLst>
              <a:ext uri="{FF2B5EF4-FFF2-40B4-BE49-F238E27FC236}">
                <a16:creationId xmlns:a16="http://schemas.microsoft.com/office/drawing/2014/main" id="{59F7AE71-1170-4249-A246-ED3DA1491923}"/>
              </a:ext>
            </a:extLst>
          </p:cNvPr>
          <p:cNvPicPr>
            <a:picLocks noChangeAspect="1"/>
          </p:cNvPicPr>
          <p:nvPr/>
        </p:nvPicPr>
        <p:blipFill>
          <a:blip r:embed="rId3"/>
          <a:stretch>
            <a:fillRect/>
          </a:stretch>
        </p:blipFill>
        <p:spPr>
          <a:xfrm>
            <a:off x="1901873" y="1066911"/>
            <a:ext cx="8722295" cy="5202206"/>
          </a:xfrm>
          <a:prstGeom prst="rect">
            <a:avLst/>
          </a:prstGeom>
        </p:spPr>
      </p:pic>
      <p:sp>
        <p:nvSpPr>
          <p:cNvPr id="15" name="矩形 14">
            <a:extLst>
              <a:ext uri="{FF2B5EF4-FFF2-40B4-BE49-F238E27FC236}">
                <a16:creationId xmlns:a16="http://schemas.microsoft.com/office/drawing/2014/main" id="{22148F8A-1397-456C-B3F5-69846F79E516}"/>
              </a:ext>
            </a:extLst>
          </p:cNvPr>
          <p:cNvSpPr/>
          <p:nvPr/>
        </p:nvSpPr>
        <p:spPr>
          <a:xfrm>
            <a:off x="0" y="6488669"/>
            <a:ext cx="12192000" cy="369332"/>
          </a:xfrm>
          <a:prstGeom prst="rect">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7A1A574F-60B3-416F-A4ED-A678A9BFE526}"/>
              </a:ext>
            </a:extLst>
          </p:cNvPr>
          <p:cNvSpPr txBox="1"/>
          <p:nvPr/>
        </p:nvSpPr>
        <p:spPr>
          <a:xfrm>
            <a:off x="334046" y="6504105"/>
            <a:ext cx="9773592"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en-US" altLang="zh-CN" dirty="0">
                <a:solidFill>
                  <a:schemeClr val="bg1"/>
                </a:solidFill>
              </a:rPr>
              <a:t>*  </a:t>
            </a:r>
            <a:r>
              <a:rPr lang="en-US" altLang="zh-CN" dirty="0">
                <a:solidFill>
                  <a:schemeClr val="bg1"/>
                </a:solidFill>
                <a:hlinkClick r:id="rId4">
                  <a:extLst>
                    <a:ext uri="{A12FA001-AC4F-418D-AE19-62706E023703}">
                      <ahyp:hlinkClr xmlns:ahyp="http://schemas.microsoft.com/office/drawing/2018/hyperlinkcolor" val="tx"/>
                    </a:ext>
                  </a:extLst>
                </a:hlinkClick>
              </a:rPr>
              <a:t>Open Science Discovery of Oral Non-Covalent SARS-CoV-2 Main Protease Inhibitor Therapeutics. 2022</a:t>
            </a:r>
            <a:endParaRPr lang="en-US" altLang="zh-CN" dirty="0">
              <a:solidFill>
                <a:schemeClr val="bg1"/>
              </a:solidFill>
            </a:endParaRPr>
          </a:p>
        </p:txBody>
      </p:sp>
    </p:spTree>
    <p:extLst>
      <p:ext uri="{BB962C8B-B14F-4D97-AF65-F5344CB8AC3E}">
        <p14:creationId xmlns:p14="http://schemas.microsoft.com/office/powerpoint/2010/main" val="2356595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8027ABF-1A3A-44B6-9B6B-A8CC592696FE}"/>
              </a:ext>
            </a:extLst>
          </p:cNvPr>
          <p:cNvPicPr>
            <a:picLocks noChangeAspect="1"/>
          </p:cNvPicPr>
          <p:nvPr/>
        </p:nvPicPr>
        <p:blipFill rotWithShape="1">
          <a:blip r:embed="rId3">
            <a:extLst>
              <a:ext uri="{28A0092B-C50C-407E-A947-70E740481C1C}">
                <a14:useLocalDpi xmlns:a14="http://schemas.microsoft.com/office/drawing/2010/main" val="0"/>
              </a:ext>
            </a:extLst>
          </a:blip>
          <a:srcRect l="27078" r="23633"/>
          <a:stretch/>
        </p:blipFill>
        <p:spPr>
          <a:xfrm>
            <a:off x="651634" y="899248"/>
            <a:ext cx="6827213" cy="5931121"/>
          </a:xfrm>
          <a:prstGeom prst="rect">
            <a:avLst/>
          </a:prstGeom>
        </p:spPr>
      </p:pic>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9384323" y="6465244"/>
            <a:ext cx="2743200" cy="365125"/>
          </a:xfrm>
        </p:spPr>
        <p:txBody>
          <a:bodyPr/>
          <a:lstStyle/>
          <a:p>
            <a:fld id="{2F0485D5-9E03-4020-B25B-C8A61AD6A676}" type="slidenum">
              <a:rPr lang="zh-CN" altLang="en-US" smtClean="0"/>
              <a:t>14</a:t>
            </a:fld>
            <a:endParaRPr lang="zh-CN" altLang="en-US" dirty="0"/>
          </a:p>
        </p:txBody>
      </p:sp>
      <p:sp>
        <p:nvSpPr>
          <p:cNvPr id="14" name="文本框 13">
            <a:extLst>
              <a:ext uri="{FF2B5EF4-FFF2-40B4-BE49-F238E27FC236}">
                <a16:creationId xmlns:a16="http://schemas.microsoft.com/office/drawing/2014/main" id="{EBE2E7B8-E8D3-44B9-978D-3454A2DE88B1}"/>
              </a:ext>
            </a:extLst>
          </p:cNvPr>
          <p:cNvSpPr txBox="1"/>
          <p:nvPr/>
        </p:nvSpPr>
        <p:spPr>
          <a:xfrm>
            <a:off x="1019422" y="117397"/>
            <a:ext cx="3502128"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t>来自</a:t>
            </a:r>
            <a:r>
              <a:rPr lang="en-US" altLang="zh-CN" dirty="0" err="1"/>
              <a:t>Paxlovid</a:t>
            </a:r>
            <a:r>
              <a:rPr lang="zh-CN" altLang="en-US" dirty="0"/>
              <a:t>的启发</a:t>
            </a:r>
            <a:endParaRPr lang="en-US" altLang="zh-CN" dirty="0"/>
          </a:p>
        </p:txBody>
      </p:sp>
      <p:sp>
        <p:nvSpPr>
          <p:cNvPr id="16" name="文本框 15">
            <a:extLst>
              <a:ext uri="{FF2B5EF4-FFF2-40B4-BE49-F238E27FC236}">
                <a16:creationId xmlns:a16="http://schemas.microsoft.com/office/drawing/2014/main" id="{A083EE9D-10AC-4FE1-9F43-A7DBC9183FF7}"/>
              </a:ext>
            </a:extLst>
          </p:cNvPr>
          <p:cNvSpPr txBox="1"/>
          <p:nvPr/>
        </p:nvSpPr>
        <p:spPr>
          <a:xfrm>
            <a:off x="7908283" y="5072987"/>
            <a:ext cx="3632083" cy="1002967"/>
          </a:xfrm>
          <a:prstGeom prst="rect">
            <a:avLst/>
          </a:prstGeom>
          <a:noFill/>
        </p:spPr>
        <p:txBody>
          <a:bodyPr wrap="square" rtlCol="0">
            <a:spAutoFit/>
          </a:bodyPr>
          <a:lstStyle/>
          <a:p>
            <a:pPr marL="285750" indent="-285750" algn="just">
              <a:lnSpc>
                <a:spcPct val="200000"/>
              </a:lnSpc>
              <a:buClr>
                <a:srgbClr val="0404FF"/>
              </a:buClr>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借鉴已上市 </a:t>
            </a:r>
            <a:r>
              <a:rPr lang="en-US" altLang="zh-CN" sz="1600" dirty="0">
                <a:latin typeface="微软雅黑" panose="020B0503020204020204" pitchFamily="34" charset="-122"/>
                <a:ea typeface="微软雅黑" panose="020B0503020204020204" pitchFamily="34" charset="-122"/>
              </a:rPr>
              <a:t>COVID-19 </a:t>
            </a:r>
            <a:r>
              <a:rPr lang="zh-CN" altLang="en-US" sz="1600" dirty="0">
                <a:latin typeface="微软雅黑" panose="020B0503020204020204" pitchFamily="34" charset="-122"/>
                <a:ea typeface="微软雅黑" panose="020B0503020204020204" pitchFamily="34" charset="-122"/>
              </a:rPr>
              <a:t>药物 </a:t>
            </a:r>
            <a:r>
              <a:rPr lang="en-US" altLang="zh-CN" sz="1600" dirty="0" err="1">
                <a:latin typeface="微软雅黑" panose="020B0503020204020204" pitchFamily="34" charset="-122"/>
                <a:ea typeface="微软雅黑" panose="020B0503020204020204" pitchFamily="34" charset="-122"/>
              </a:rPr>
              <a:t>Paxlovid</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的结合模式进行改造</a:t>
            </a:r>
            <a:endParaRPr lang="en-US" altLang="zh-CN" sz="1600"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F1A01782-FD28-4DDF-901D-E7759ECECC5A}"/>
              </a:ext>
            </a:extLst>
          </p:cNvPr>
          <p:cNvPicPr>
            <a:picLocks noChangeAspect="1"/>
          </p:cNvPicPr>
          <p:nvPr/>
        </p:nvPicPr>
        <p:blipFill>
          <a:blip r:embed="rId4"/>
          <a:stretch>
            <a:fillRect/>
          </a:stretch>
        </p:blipFill>
        <p:spPr>
          <a:xfrm>
            <a:off x="8072237" y="1282018"/>
            <a:ext cx="3165234" cy="3220213"/>
          </a:xfrm>
          <a:prstGeom prst="rect">
            <a:avLst/>
          </a:prstGeom>
        </p:spPr>
      </p:pic>
      <p:sp>
        <p:nvSpPr>
          <p:cNvPr id="17" name="矩形 16">
            <a:extLst>
              <a:ext uri="{FF2B5EF4-FFF2-40B4-BE49-F238E27FC236}">
                <a16:creationId xmlns:a16="http://schemas.microsoft.com/office/drawing/2014/main" id="{511CE5B2-C234-471B-911A-0C269918BB41}"/>
              </a:ext>
            </a:extLst>
          </p:cNvPr>
          <p:cNvSpPr/>
          <p:nvPr/>
        </p:nvSpPr>
        <p:spPr>
          <a:xfrm>
            <a:off x="9026689" y="4502231"/>
            <a:ext cx="1101584" cy="369332"/>
          </a:xfrm>
          <a:prstGeom prst="rect">
            <a:avLst/>
          </a:prstGeom>
        </p:spPr>
        <p:txBody>
          <a:bodyPr wrap="none">
            <a:spAutoFit/>
          </a:bodyPr>
          <a:lstStyle/>
          <a:p>
            <a:r>
              <a:rPr lang="en-US" altLang="zh-CN" dirty="0" err="1">
                <a:latin typeface="微软雅黑" panose="020B0503020204020204" pitchFamily="34" charset="-122"/>
                <a:ea typeface="微软雅黑" panose="020B0503020204020204" pitchFamily="34" charset="-122"/>
              </a:rPr>
              <a:t>Paxlovid</a:t>
            </a:r>
            <a:endParaRPr lang="zh-CN" altLang="en-US" dirty="0"/>
          </a:p>
        </p:txBody>
      </p:sp>
      <p:sp>
        <p:nvSpPr>
          <p:cNvPr id="3" name="矩形 2">
            <a:extLst>
              <a:ext uri="{FF2B5EF4-FFF2-40B4-BE49-F238E27FC236}">
                <a16:creationId xmlns:a16="http://schemas.microsoft.com/office/drawing/2014/main" id="{8389B43C-C63D-4F0C-94F7-553C84D89BC9}"/>
              </a:ext>
            </a:extLst>
          </p:cNvPr>
          <p:cNvSpPr/>
          <p:nvPr/>
        </p:nvSpPr>
        <p:spPr>
          <a:xfrm>
            <a:off x="5937632" y="6409785"/>
            <a:ext cx="1662635" cy="369332"/>
          </a:xfrm>
          <a:prstGeom prst="rect">
            <a:avLst/>
          </a:prstGeom>
        </p:spPr>
        <p:txBody>
          <a:bodyPr wrap="none">
            <a:spAutoFit/>
          </a:bodyPr>
          <a:lstStyle/>
          <a:p>
            <a:r>
              <a:rPr lang="en-US" altLang="zh-CN" dirty="0">
                <a:solidFill>
                  <a:srgbClr val="2782DD"/>
                </a:solidFill>
                <a:latin typeface="微软雅黑" panose="020B0503020204020204" pitchFamily="34" charset="-122"/>
                <a:ea typeface="微软雅黑" panose="020B0503020204020204" pitchFamily="34" charset="-122"/>
              </a:rPr>
              <a:t>(</a:t>
            </a:r>
            <a:r>
              <a:rPr lang="en-US" altLang="zh-CN" dirty="0" err="1">
                <a:solidFill>
                  <a:srgbClr val="2782DD"/>
                </a:solidFill>
                <a:latin typeface="微软雅黑" panose="020B0503020204020204" pitchFamily="34" charset="-122"/>
                <a:ea typeface="微软雅黑" panose="020B0503020204020204" pitchFamily="34" charset="-122"/>
              </a:rPr>
              <a:t>PDBid</a:t>
            </a:r>
            <a:r>
              <a:rPr lang="en-US" altLang="zh-CN" dirty="0">
                <a:solidFill>
                  <a:srgbClr val="2782DD"/>
                </a:solidFill>
                <a:latin typeface="微软雅黑" panose="020B0503020204020204" pitchFamily="34" charset="-122"/>
                <a:ea typeface="微软雅黑" panose="020B0503020204020204" pitchFamily="34" charset="-122"/>
              </a:rPr>
              <a:t>: 7TE0)</a:t>
            </a:r>
            <a:endParaRPr lang="zh-CN" altLang="en-US" dirty="0">
              <a:solidFill>
                <a:srgbClr val="2782DD"/>
              </a:solidFill>
            </a:endParaRPr>
          </a:p>
        </p:txBody>
      </p:sp>
      <p:sp>
        <p:nvSpPr>
          <p:cNvPr id="4" name="矩形 3">
            <a:extLst>
              <a:ext uri="{FF2B5EF4-FFF2-40B4-BE49-F238E27FC236}">
                <a16:creationId xmlns:a16="http://schemas.microsoft.com/office/drawing/2014/main" id="{5355A183-FEE8-46B1-B76C-E57C82985F28}"/>
              </a:ext>
            </a:extLst>
          </p:cNvPr>
          <p:cNvSpPr/>
          <p:nvPr/>
        </p:nvSpPr>
        <p:spPr>
          <a:xfrm>
            <a:off x="5985803" y="5601593"/>
            <a:ext cx="422031" cy="49237"/>
          </a:xfrm>
          <a:prstGeom prst="rect">
            <a:avLst/>
          </a:prstGeom>
          <a:solidFill>
            <a:srgbClr val="FBFB37"/>
          </a:solidFill>
          <a:ln>
            <a:solidFill>
              <a:srgbClr val="FBFB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0DEE40B0-968B-443A-A77E-189D3D0C2159}"/>
              </a:ext>
            </a:extLst>
          </p:cNvPr>
          <p:cNvSpPr/>
          <p:nvPr/>
        </p:nvSpPr>
        <p:spPr>
          <a:xfrm>
            <a:off x="6531709" y="5439852"/>
            <a:ext cx="774571"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I3C-3</a:t>
            </a:r>
            <a:endParaRPr lang="zh-CN" altLang="en-US" dirty="0"/>
          </a:p>
        </p:txBody>
      </p:sp>
      <p:sp>
        <p:nvSpPr>
          <p:cNvPr id="19" name="矩形 18">
            <a:extLst>
              <a:ext uri="{FF2B5EF4-FFF2-40B4-BE49-F238E27FC236}">
                <a16:creationId xmlns:a16="http://schemas.microsoft.com/office/drawing/2014/main" id="{A4D0CDB1-17F3-42D5-BEA6-CF8E6B6DA49E}"/>
              </a:ext>
            </a:extLst>
          </p:cNvPr>
          <p:cNvSpPr/>
          <p:nvPr/>
        </p:nvSpPr>
        <p:spPr>
          <a:xfrm>
            <a:off x="5985803" y="6022813"/>
            <a:ext cx="422031" cy="49237"/>
          </a:xfrm>
          <a:prstGeom prst="rect">
            <a:avLst/>
          </a:prstGeom>
          <a:solidFill>
            <a:srgbClr val="CE00CE"/>
          </a:solidFill>
          <a:ln>
            <a:solidFill>
              <a:srgbClr val="CE00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25DFAEE-136C-4F36-A2F0-D8CFA04D0417}"/>
              </a:ext>
            </a:extLst>
          </p:cNvPr>
          <p:cNvSpPr/>
          <p:nvPr/>
        </p:nvSpPr>
        <p:spPr>
          <a:xfrm>
            <a:off x="6531709" y="5867261"/>
            <a:ext cx="1101584" cy="369332"/>
          </a:xfrm>
          <a:prstGeom prst="rect">
            <a:avLst/>
          </a:prstGeom>
        </p:spPr>
        <p:txBody>
          <a:bodyPr wrap="none">
            <a:spAutoFit/>
          </a:bodyPr>
          <a:lstStyle/>
          <a:p>
            <a:r>
              <a:rPr lang="en-US" altLang="zh-CN" dirty="0" err="1">
                <a:latin typeface="微软雅黑" panose="020B0503020204020204" pitchFamily="34" charset="-122"/>
                <a:ea typeface="微软雅黑" panose="020B0503020204020204" pitchFamily="34" charset="-122"/>
              </a:rPr>
              <a:t>Paxlovid</a:t>
            </a:r>
            <a:endParaRPr lang="zh-CN" altLang="en-US" dirty="0"/>
          </a:p>
        </p:txBody>
      </p:sp>
    </p:spTree>
    <p:extLst>
      <p:ext uri="{BB962C8B-B14F-4D97-AF65-F5344CB8AC3E}">
        <p14:creationId xmlns:p14="http://schemas.microsoft.com/office/powerpoint/2010/main" val="2887271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A967DDEF-CE3A-49B3-B9EC-82C125359772}"/>
              </a:ext>
            </a:extLst>
          </p:cNvPr>
          <p:cNvPicPr>
            <a:picLocks noChangeAspect="1"/>
          </p:cNvPicPr>
          <p:nvPr/>
        </p:nvPicPr>
        <p:blipFill>
          <a:blip r:embed="rId3"/>
          <a:stretch>
            <a:fillRect/>
          </a:stretch>
        </p:blipFill>
        <p:spPr>
          <a:xfrm>
            <a:off x="187509" y="1250531"/>
            <a:ext cx="3113705" cy="2933767"/>
          </a:xfrm>
          <a:prstGeom prst="rect">
            <a:avLst/>
          </a:prstGeom>
        </p:spPr>
      </p:pic>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9448800" y="6492875"/>
            <a:ext cx="2743200" cy="365125"/>
          </a:xfrm>
        </p:spPr>
        <p:txBody>
          <a:bodyPr/>
          <a:lstStyle/>
          <a:p>
            <a:fld id="{2F0485D5-9E03-4020-B25B-C8A61AD6A676}" type="slidenum">
              <a:rPr lang="zh-CN" altLang="en-US" smtClean="0"/>
              <a:t>15</a:t>
            </a:fld>
            <a:endParaRPr lang="zh-CN" altLang="en-US" dirty="0"/>
          </a:p>
        </p:txBody>
      </p:sp>
      <p:sp>
        <p:nvSpPr>
          <p:cNvPr id="14" name="文本框 13">
            <a:extLst>
              <a:ext uri="{FF2B5EF4-FFF2-40B4-BE49-F238E27FC236}">
                <a16:creationId xmlns:a16="http://schemas.microsoft.com/office/drawing/2014/main" id="{EBE2E7B8-E8D3-44B9-978D-3454A2DE88B1}"/>
              </a:ext>
            </a:extLst>
          </p:cNvPr>
          <p:cNvSpPr txBox="1"/>
          <p:nvPr/>
        </p:nvSpPr>
        <p:spPr>
          <a:xfrm>
            <a:off x="962666" y="103147"/>
            <a:ext cx="5185886"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t>第一轮化合物改造</a:t>
            </a:r>
            <a:r>
              <a:rPr lang="en-US" altLang="zh-CN" dirty="0"/>
              <a:t>FEP</a:t>
            </a:r>
            <a:r>
              <a:rPr lang="zh-CN" altLang="en-US" dirty="0"/>
              <a:t>计算结果</a:t>
            </a:r>
          </a:p>
        </p:txBody>
      </p:sp>
      <p:sp>
        <p:nvSpPr>
          <p:cNvPr id="15" name="椭圆 14">
            <a:extLst>
              <a:ext uri="{FF2B5EF4-FFF2-40B4-BE49-F238E27FC236}">
                <a16:creationId xmlns:a16="http://schemas.microsoft.com/office/drawing/2014/main" id="{887480C3-AA81-4ED6-A793-D10577DE76E5}"/>
              </a:ext>
            </a:extLst>
          </p:cNvPr>
          <p:cNvSpPr/>
          <p:nvPr/>
        </p:nvSpPr>
        <p:spPr>
          <a:xfrm rot="555473">
            <a:off x="1156213" y="2889973"/>
            <a:ext cx="2036127" cy="1352946"/>
          </a:xfrm>
          <a:prstGeom prst="ellipse">
            <a:avLst/>
          </a:prstGeom>
          <a:noFill/>
          <a:ln w="19050">
            <a:solidFill>
              <a:srgbClr val="040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18461CDC-42CA-4B47-883A-BC0B5F93223A}"/>
              </a:ext>
            </a:extLst>
          </p:cNvPr>
          <p:cNvSpPr txBox="1"/>
          <p:nvPr/>
        </p:nvSpPr>
        <p:spPr>
          <a:xfrm>
            <a:off x="1244503" y="4718098"/>
            <a:ext cx="1651229" cy="1458220"/>
          </a:xfrm>
          <a:prstGeom prst="rect">
            <a:avLst/>
          </a:prstGeom>
          <a:noFill/>
        </p:spPr>
        <p:txBody>
          <a:bodyPr wrap="square" rtlCol="0">
            <a:spAutoFit/>
          </a:bodyPr>
          <a:lstStyle/>
          <a:p>
            <a:pPr algn="just">
              <a:lnSpc>
                <a:spcPct val="200000"/>
              </a:lnSpc>
              <a:buClr>
                <a:srgbClr val="0404FF"/>
              </a:buClr>
            </a:pPr>
            <a:r>
              <a:rPr lang="en-US" altLang="zh-CN" sz="2400" dirty="0">
                <a:latin typeface="微软雅黑" panose="020B0503020204020204" pitchFamily="34" charset="-122"/>
                <a:ea typeface="微软雅黑" panose="020B0503020204020204" pitchFamily="34" charset="-122"/>
              </a:rPr>
              <a:t>Trials: 30</a:t>
            </a:r>
          </a:p>
          <a:p>
            <a:pPr algn="just">
              <a:lnSpc>
                <a:spcPct val="200000"/>
              </a:lnSpc>
              <a:buClr>
                <a:srgbClr val="0404FF"/>
              </a:buClr>
            </a:pPr>
            <a:r>
              <a:rPr lang="en-US" altLang="zh-CN" sz="2400" dirty="0">
                <a:latin typeface="微软雅黑" panose="020B0503020204020204" pitchFamily="34" charset="-122"/>
                <a:ea typeface="微软雅黑" panose="020B0503020204020204" pitchFamily="34" charset="-122"/>
              </a:rPr>
              <a:t>Hits: 2</a:t>
            </a:r>
          </a:p>
        </p:txBody>
      </p:sp>
      <p:sp>
        <p:nvSpPr>
          <p:cNvPr id="17" name="文本框 16">
            <a:extLst>
              <a:ext uri="{FF2B5EF4-FFF2-40B4-BE49-F238E27FC236}">
                <a16:creationId xmlns:a16="http://schemas.microsoft.com/office/drawing/2014/main" id="{6D70EAF9-7B0A-4E05-9679-15539915661A}"/>
              </a:ext>
            </a:extLst>
          </p:cNvPr>
          <p:cNvSpPr txBox="1"/>
          <p:nvPr/>
        </p:nvSpPr>
        <p:spPr>
          <a:xfrm>
            <a:off x="1468830" y="4153917"/>
            <a:ext cx="796225" cy="510524"/>
          </a:xfrm>
          <a:prstGeom prst="rect">
            <a:avLst/>
          </a:prstGeom>
          <a:noFill/>
        </p:spPr>
        <p:txBody>
          <a:bodyPr wrap="square" rtlCol="0">
            <a:spAutoFit/>
          </a:bodyPr>
          <a:lstStyle/>
          <a:p>
            <a:pPr algn="just">
              <a:lnSpc>
                <a:spcPct val="200000"/>
              </a:lnSpc>
              <a:buClr>
                <a:srgbClr val="0404FF"/>
              </a:buClr>
            </a:pPr>
            <a:r>
              <a:rPr lang="en-US" altLang="zh-CN" sz="1600" dirty="0">
                <a:latin typeface="微软雅黑" panose="020B0503020204020204" pitchFamily="34" charset="-122"/>
                <a:ea typeface="微软雅黑" panose="020B0503020204020204" pitchFamily="34" charset="-122"/>
              </a:rPr>
              <a:t>I3C-3</a:t>
            </a:r>
          </a:p>
        </p:txBody>
      </p:sp>
      <p:grpSp>
        <p:nvGrpSpPr>
          <p:cNvPr id="6" name="组合 5">
            <a:extLst>
              <a:ext uri="{FF2B5EF4-FFF2-40B4-BE49-F238E27FC236}">
                <a16:creationId xmlns:a16="http://schemas.microsoft.com/office/drawing/2014/main" id="{0E9C5C5B-40D3-4159-86AF-97BB569322B4}"/>
              </a:ext>
            </a:extLst>
          </p:cNvPr>
          <p:cNvGrpSpPr/>
          <p:nvPr/>
        </p:nvGrpSpPr>
        <p:grpSpPr>
          <a:xfrm>
            <a:off x="3348791" y="1096837"/>
            <a:ext cx="8475104" cy="5534308"/>
            <a:chOff x="3348791" y="1096837"/>
            <a:chExt cx="8475104" cy="5534308"/>
          </a:xfrm>
        </p:grpSpPr>
        <p:pic>
          <p:nvPicPr>
            <p:cNvPr id="7" name="图片 6">
              <a:extLst>
                <a:ext uri="{FF2B5EF4-FFF2-40B4-BE49-F238E27FC236}">
                  <a16:creationId xmlns:a16="http://schemas.microsoft.com/office/drawing/2014/main" id="{4687E0DC-355B-4FF3-B606-1515B176B746}"/>
                </a:ext>
              </a:extLst>
            </p:cNvPr>
            <p:cNvPicPr>
              <a:picLocks noChangeAspect="1"/>
            </p:cNvPicPr>
            <p:nvPr/>
          </p:nvPicPr>
          <p:blipFill>
            <a:blip r:embed="rId4"/>
            <a:stretch>
              <a:fillRect/>
            </a:stretch>
          </p:blipFill>
          <p:spPr>
            <a:xfrm>
              <a:off x="3467624" y="1096837"/>
              <a:ext cx="8337908" cy="5534308"/>
            </a:xfrm>
            <a:prstGeom prst="rect">
              <a:avLst/>
            </a:prstGeom>
          </p:spPr>
        </p:pic>
        <p:sp>
          <p:nvSpPr>
            <p:cNvPr id="18" name="文本框 17">
              <a:extLst>
                <a:ext uri="{FF2B5EF4-FFF2-40B4-BE49-F238E27FC236}">
                  <a16:creationId xmlns:a16="http://schemas.microsoft.com/office/drawing/2014/main" id="{14A3CC5D-5A5B-4D67-A95B-DAD394CE43A0}"/>
                </a:ext>
              </a:extLst>
            </p:cNvPr>
            <p:cNvSpPr txBox="1"/>
            <p:nvPr/>
          </p:nvSpPr>
          <p:spPr>
            <a:xfrm>
              <a:off x="5445008" y="3330590"/>
              <a:ext cx="772914" cy="458202"/>
            </a:xfrm>
            <a:prstGeom prst="rect">
              <a:avLst/>
            </a:prstGeom>
            <a:noFill/>
          </p:spPr>
          <p:txBody>
            <a:bodyPr wrap="square" rtlCol="0">
              <a:spAutoFit/>
            </a:bodyPr>
            <a:lstStyle/>
            <a:p>
              <a:pPr algn="just">
                <a:lnSpc>
                  <a:spcPct val="200000"/>
                </a:lnSpc>
                <a:buClr>
                  <a:srgbClr val="0404FF"/>
                </a:buClr>
              </a:pPr>
              <a:r>
                <a:rPr lang="en-US" altLang="zh-CN" sz="1400" dirty="0">
                  <a:latin typeface="微软雅黑" panose="020B0503020204020204" pitchFamily="34" charset="-122"/>
                  <a:ea typeface="微软雅黑" panose="020B0503020204020204" pitchFamily="34" charset="-122"/>
                </a:rPr>
                <a:t>I3C-26</a:t>
              </a:r>
            </a:p>
          </p:txBody>
        </p:sp>
        <p:sp>
          <p:nvSpPr>
            <p:cNvPr id="19" name="文本框 18">
              <a:extLst>
                <a:ext uri="{FF2B5EF4-FFF2-40B4-BE49-F238E27FC236}">
                  <a16:creationId xmlns:a16="http://schemas.microsoft.com/office/drawing/2014/main" id="{91C2501D-4EC5-4C2D-A091-34D809EF650E}"/>
                </a:ext>
              </a:extLst>
            </p:cNvPr>
            <p:cNvSpPr txBox="1"/>
            <p:nvPr/>
          </p:nvSpPr>
          <p:spPr>
            <a:xfrm>
              <a:off x="9498037" y="3334171"/>
              <a:ext cx="772914" cy="458202"/>
            </a:xfrm>
            <a:prstGeom prst="rect">
              <a:avLst/>
            </a:prstGeom>
            <a:noFill/>
          </p:spPr>
          <p:txBody>
            <a:bodyPr wrap="square" rtlCol="0">
              <a:spAutoFit/>
            </a:bodyPr>
            <a:lstStyle/>
            <a:p>
              <a:pPr algn="just">
                <a:lnSpc>
                  <a:spcPct val="200000"/>
                </a:lnSpc>
                <a:buClr>
                  <a:srgbClr val="0404FF"/>
                </a:buClr>
              </a:pPr>
              <a:r>
                <a:rPr lang="en-US" altLang="zh-CN" sz="1400" dirty="0">
                  <a:latin typeface="微软雅黑" panose="020B0503020204020204" pitchFamily="34" charset="-122"/>
                  <a:ea typeface="微软雅黑" panose="020B0503020204020204" pitchFamily="34" charset="-122"/>
                </a:rPr>
                <a:t>I3C-29</a:t>
              </a:r>
            </a:p>
          </p:txBody>
        </p:sp>
        <p:sp>
          <p:nvSpPr>
            <p:cNvPr id="8" name="矩形 7">
              <a:extLst>
                <a:ext uri="{FF2B5EF4-FFF2-40B4-BE49-F238E27FC236}">
                  <a16:creationId xmlns:a16="http://schemas.microsoft.com/office/drawing/2014/main" id="{FF31D071-1263-40D2-99EE-E55686AB40B9}"/>
                </a:ext>
              </a:extLst>
            </p:cNvPr>
            <p:cNvSpPr/>
            <p:nvPr/>
          </p:nvSpPr>
          <p:spPr>
            <a:xfrm>
              <a:off x="11655083" y="3788792"/>
              <a:ext cx="168812"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6C521F6-2EE4-4CD8-A874-52A9645AE946}"/>
                </a:ext>
              </a:extLst>
            </p:cNvPr>
            <p:cNvPicPr>
              <a:picLocks noChangeAspect="1"/>
            </p:cNvPicPr>
            <p:nvPr/>
          </p:nvPicPr>
          <p:blipFill>
            <a:blip r:embed="rId5"/>
            <a:stretch>
              <a:fillRect/>
            </a:stretch>
          </p:blipFill>
          <p:spPr>
            <a:xfrm>
              <a:off x="3348791" y="2868386"/>
              <a:ext cx="151732" cy="113799"/>
            </a:xfrm>
            <a:prstGeom prst="rect">
              <a:avLst/>
            </a:prstGeom>
          </p:spPr>
        </p:pic>
      </p:grpSp>
    </p:spTree>
    <p:extLst>
      <p:ext uri="{BB962C8B-B14F-4D97-AF65-F5344CB8AC3E}">
        <p14:creationId xmlns:p14="http://schemas.microsoft.com/office/powerpoint/2010/main" val="4100471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8610600" y="5899150"/>
            <a:ext cx="2743200" cy="365125"/>
          </a:xfrm>
        </p:spPr>
        <p:txBody>
          <a:bodyPr/>
          <a:lstStyle/>
          <a:p>
            <a:fld id="{2F0485D5-9E03-4020-B25B-C8A61AD6A676}" type="slidenum">
              <a:rPr lang="zh-CN" altLang="en-US" smtClean="0"/>
              <a:t>16</a:t>
            </a:fld>
            <a:endParaRPr lang="zh-CN" altLang="en-US"/>
          </a:p>
        </p:txBody>
      </p:sp>
      <p:sp>
        <p:nvSpPr>
          <p:cNvPr id="14" name="文本框 13">
            <a:extLst>
              <a:ext uri="{FF2B5EF4-FFF2-40B4-BE49-F238E27FC236}">
                <a16:creationId xmlns:a16="http://schemas.microsoft.com/office/drawing/2014/main" id="{EBE2E7B8-E8D3-44B9-978D-3454A2DE88B1}"/>
              </a:ext>
            </a:extLst>
          </p:cNvPr>
          <p:cNvSpPr txBox="1"/>
          <p:nvPr/>
        </p:nvSpPr>
        <p:spPr>
          <a:xfrm>
            <a:off x="912214" y="130010"/>
            <a:ext cx="4397611"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en-US" altLang="zh-CN" dirty="0"/>
              <a:t>Best hit I3C-26 </a:t>
            </a:r>
            <a:r>
              <a:rPr lang="zh-CN" altLang="en-US" dirty="0"/>
              <a:t>互作分析</a:t>
            </a:r>
          </a:p>
        </p:txBody>
      </p:sp>
      <p:grpSp>
        <p:nvGrpSpPr>
          <p:cNvPr id="6" name="组合 5">
            <a:extLst>
              <a:ext uri="{FF2B5EF4-FFF2-40B4-BE49-F238E27FC236}">
                <a16:creationId xmlns:a16="http://schemas.microsoft.com/office/drawing/2014/main" id="{A55FD272-7B68-4DD5-91C8-B54FB2A5C860}"/>
              </a:ext>
            </a:extLst>
          </p:cNvPr>
          <p:cNvGrpSpPr/>
          <p:nvPr/>
        </p:nvGrpSpPr>
        <p:grpSpPr>
          <a:xfrm>
            <a:off x="377521" y="1006200"/>
            <a:ext cx="5894363" cy="5356144"/>
            <a:chOff x="1143782" y="1012142"/>
            <a:chExt cx="5894363" cy="5356144"/>
          </a:xfrm>
        </p:grpSpPr>
        <p:pic>
          <p:nvPicPr>
            <p:cNvPr id="4" name="图片 3">
              <a:extLst>
                <a:ext uri="{FF2B5EF4-FFF2-40B4-BE49-F238E27FC236}">
                  <a16:creationId xmlns:a16="http://schemas.microsoft.com/office/drawing/2014/main" id="{CC691C38-CD69-4C1B-AF5F-35161ECF3875}"/>
                </a:ext>
              </a:extLst>
            </p:cNvPr>
            <p:cNvPicPr>
              <a:picLocks noChangeAspect="1"/>
            </p:cNvPicPr>
            <p:nvPr/>
          </p:nvPicPr>
          <p:blipFill rotWithShape="1">
            <a:blip r:embed="rId3">
              <a:extLst>
                <a:ext uri="{28A0092B-C50C-407E-A947-70E740481C1C}">
                  <a14:useLocalDpi xmlns:a14="http://schemas.microsoft.com/office/drawing/2010/main" val="0"/>
                </a:ext>
              </a:extLst>
            </a:blip>
            <a:srcRect l="24857" r="26796"/>
            <a:stretch/>
          </p:blipFill>
          <p:spPr>
            <a:xfrm>
              <a:off x="1143782" y="1012142"/>
              <a:ext cx="5894363" cy="5356144"/>
            </a:xfrm>
            <a:prstGeom prst="rect">
              <a:avLst/>
            </a:prstGeom>
          </p:spPr>
        </p:pic>
        <p:sp>
          <p:nvSpPr>
            <p:cNvPr id="5" name="箭头: 环形 4">
              <a:extLst>
                <a:ext uri="{FF2B5EF4-FFF2-40B4-BE49-F238E27FC236}">
                  <a16:creationId xmlns:a16="http://schemas.microsoft.com/office/drawing/2014/main" id="{F24ADDC3-813F-43B5-8643-192813680465}"/>
                </a:ext>
              </a:extLst>
            </p:cNvPr>
            <p:cNvSpPr/>
            <p:nvPr/>
          </p:nvSpPr>
          <p:spPr>
            <a:xfrm rot="1136085">
              <a:off x="4287421" y="2688610"/>
              <a:ext cx="934329" cy="790575"/>
            </a:xfrm>
            <a:prstGeom prst="circularArrow">
              <a:avLst/>
            </a:prstGeom>
            <a:solidFill>
              <a:srgbClr val="2DE42D"/>
            </a:solidFill>
            <a:ln>
              <a:solidFill>
                <a:srgbClr val="2DE4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21" name="图片 20">
            <a:extLst>
              <a:ext uri="{FF2B5EF4-FFF2-40B4-BE49-F238E27FC236}">
                <a16:creationId xmlns:a16="http://schemas.microsoft.com/office/drawing/2014/main" id="{0F5AA738-A0BD-450B-82F9-F84E6EC6E4F7}"/>
              </a:ext>
            </a:extLst>
          </p:cNvPr>
          <p:cNvPicPr>
            <a:picLocks noChangeAspect="1"/>
          </p:cNvPicPr>
          <p:nvPr/>
        </p:nvPicPr>
        <p:blipFill>
          <a:blip r:embed="rId4"/>
          <a:stretch>
            <a:fillRect/>
          </a:stretch>
        </p:blipFill>
        <p:spPr>
          <a:xfrm>
            <a:off x="6436099" y="1473586"/>
            <a:ext cx="2592373" cy="2399607"/>
          </a:xfrm>
          <a:prstGeom prst="rect">
            <a:avLst/>
          </a:prstGeom>
        </p:spPr>
      </p:pic>
      <p:pic>
        <p:nvPicPr>
          <p:cNvPr id="22" name="图片 21">
            <a:extLst>
              <a:ext uri="{FF2B5EF4-FFF2-40B4-BE49-F238E27FC236}">
                <a16:creationId xmlns:a16="http://schemas.microsoft.com/office/drawing/2014/main" id="{6EDEBD14-07C3-4CFA-9D09-630EA339C43C}"/>
              </a:ext>
            </a:extLst>
          </p:cNvPr>
          <p:cNvPicPr>
            <a:picLocks noChangeAspect="1"/>
          </p:cNvPicPr>
          <p:nvPr/>
        </p:nvPicPr>
        <p:blipFill>
          <a:blip r:embed="rId5"/>
          <a:stretch>
            <a:fillRect/>
          </a:stretch>
        </p:blipFill>
        <p:spPr>
          <a:xfrm>
            <a:off x="9312534" y="1488518"/>
            <a:ext cx="2612144" cy="2399607"/>
          </a:xfrm>
          <a:prstGeom prst="rect">
            <a:avLst/>
          </a:prstGeom>
        </p:spPr>
      </p:pic>
      <p:sp>
        <p:nvSpPr>
          <p:cNvPr id="23" name="矩形 22">
            <a:extLst>
              <a:ext uri="{FF2B5EF4-FFF2-40B4-BE49-F238E27FC236}">
                <a16:creationId xmlns:a16="http://schemas.microsoft.com/office/drawing/2014/main" id="{1D18ADA4-6B27-4F99-9B8B-2FFDF3A8B27B}"/>
              </a:ext>
            </a:extLst>
          </p:cNvPr>
          <p:cNvSpPr/>
          <p:nvPr/>
        </p:nvSpPr>
        <p:spPr>
          <a:xfrm>
            <a:off x="7498718" y="3895720"/>
            <a:ext cx="774571"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I3C-3</a:t>
            </a:r>
            <a:endParaRPr lang="zh-CN" altLang="en-US" dirty="0"/>
          </a:p>
        </p:txBody>
      </p:sp>
      <p:sp>
        <p:nvSpPr>
          <p:cNvPr id="24" name="矩形 23">
            <a:extLst>
              <a:ext uri="{FF2B5EF4-FFF2-40B4-BE49-F238E27FC236}">
                <a16:creationId xmlns:a16="http://schemas.microsoft.com/office/drawing/2014/main" id="{18EB318E-B381-4612-B9E6-28200D2EA2E0}"/>
              </a:ext>
            </a:extLst>
          </p:cNvPr>
          <p:cNvSpPr/>
          <p:nvPr/>
        </p:nvSpPr>
        <p:spPr>
          <a:xfrm>
            <a:off x="10274696" y="3895720"/>
            <a:ext cx="909223"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I3C-26</a:t>
            </a:r>
            <a:endParaRPr lang="zh-CN" altLang="en-US" dirty="0"/>
          </a:p>
        </p:txBody>
      </p:sp>
      <p:sp>
        <p:nvSpPr>
          <p:cNvPr id="26" name="箭头: 右 25">
            <a:extLst>
              <a:ext uri="{FF2B5EF4-FFF2-40B4-BE49-F238E27FC236}">
                <a16:creationId xmlns:a16="http://schemas.microsoft.com/office/drawing/2014/main" id="{A52AD6CA-B395-4E3E-A839-DA9C52E03141}"/>
              </a:ext>
            </a:extLst>
          </p:cNvPr>
          <p:cNvSpPr/>
          <p:nvPr/>
        </p:nvSpPr>
        <p:spPr>
          <a:xfrm>
            <a:off x="8779817" y="2753170"/>
            <a:ext cx="497309" cy="228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FDA62F8-7715-456C-8B60-C24F23F59797}"/>
              </a:ext>
            </a:extLst>
          </p:cNvPr>
          <p:cNvSpPr txBox="1"/>
          <p:nvPr/>
        </p:nvSpPr>
        <p:spPr>
          <a:xfrm>
            <a:off x="8551237" y="4845252"/>
            <a:ext cx="2874551" cy="1002967"/>
          </a:xfrm>
          <a:prstGeom prst="rect">
            <a:avLst/>
          </a:prstGeom>
          <a:noFill/>
        </p:spPr>
        <p:txBody>
          <a:bodyPr wrap="square" rtlCol="0">
            <a:spAutoFit/>
          </a:bodyPr>
          <a:lstStyle/>
          <a:p>
            <a:pPr marL="285750" indent="-285750" algn="just">
              <a:lnSpc>
                <a:spcPct val="200000"/>
              </a:lnSpc>
              <a:buClr>
                <a:srgbClr val="0404FF"/>
              </a:buClr>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改造后的化合物 </a:t>
            </a:r>
            <a:r>
              <a:rPr lang="en-US" altLang="zh-CN" sz="1600" dirty="0">
                <a:latin typeface="微软雅黑" panose="020B0503020204020204" pitchFamily="34" charset="-122"/>
                <a:ea typeface="微软雅黑" panose="020B0503020204020204" pitchFamily="34" charset="-122"/>
              </a:rPr>
              <a:t>I3C-26 </a:t>
            </a:r>
            <a:r>
              <a:rPr lang="zh-CN" altLang="en-US" sz="1600" dirty="0">
                <a:latin typeface="微软雅黑" panose="020B0503020204020204" pitchFamily="34" charset="-122"/>
                <a:ea typeface="微软雅黑" panose="020B0503020204020204" pitchFamily="34" charset="-122"/>
              </a:rPr>
              <a:t>达到了预期的结合模式</a:t>
            </a:r>
            <a:endParaRPr lang="en-US" altLang="zh-CN" sz="1600"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ED66DEAF-A9B5-4F92-8D80-8A2343C087AC}"/>
              </a:ext>
            </a:extLst>
          </p:cNvPr>
          <p:cNvSpPr/>
          <p:nvPr/>
        </p:nvSpPr>
        <p:spPr>
          <a:xfrm>
            <a:off x="6351693" y="5825294"/>
            <a:ext cx="422031" cy="49237"/>
          </a:xfrm>
          <a:prstGeom prst="rect">
            <a:avLst/>
          </a:prstGeom>
          <a:solidFill>
            <a:srgbClr val="2CFFFF"/>
          </a:solidFill>
          <a:ln>
            <a:solidFill>
              <a:srgbClr val="2C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B3235E4-298A-48E7-BD3F-04CA097C4AFC}"/>
              </a:ext>
            </a:extLst>
          </p:cNvPr>
          <p:cNvSpPr/>
          <p:nvPr/>
        </p:nvSpPr>
        <p:spPr>
          <a:xfrm>
            <a:off x="6897599" y="5663553"/>
            <a:ext cx="774571"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I3C-3</a:t>
            </a:r>
            <a:endParaRPr lang="zh-CN" altLang="en-US" dirty="0"/>
          </a:p>
        </p:txBody>
      </p:sp>
      <p:sp>
        <p:nvSpPr>
          <p:cNvPr id="18" name="矩形 17">
            <a:extLst>
              <a:ext uri="{FF2B5EF4-FFF2-40B4-BE49-F238E27FC236}">
                <a16:creationId xmlns:a16="http://schemas.microsoft.com/office/drawing/2014/main" id="{D6A52878-DC23-4949-9F8C-3836E831E2FA}"/>
              </a:ext>
            </a:extLst>
          </p:cNvPr>
          <p:cNvSpPr/>
          <p:nvPr/>
        </p:nvSpPr>
        <p:spPr>
          <a:xfrm>
            <a:off x="6351693" y="6246514"/>
            <a:ext cx="422031" cy="49237"/>
          </a:xfrm>
          <a:prstGeom prst="rect">
            <a:avLst/>
          </a:prstGeom>
          <a:solidFill>
            <a:srgbClr val="B1238D"/>
          </a:solidFill>
          <a:ln>
            <a:solidFill>
              <a:srgbClr val="B12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18E4DB6E-4289-4126-9117-8465249B1DE4}"/>
              </a:ext>
            </a:extLst>
          </p:cNvPr>
          <p:cNvSpPr/>
          <p:nvPr/>
        </p:nvSpPr>
        <p:spPr>
          <a:xfrm>
            <a:off x="6916489" y="6100711"/>
            <a:ext cx="909223"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I3C-26</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4622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9296400" y="6387265"/>
            <a:ext cx="2743200" cy="365125"/>
          </a:xfrm>
        </p:spPr>
        <p:txBody>
          <a:bodyPr/>
          <a:lstStyle/>
          <a:p>
            <a:fld id="{2F0485D5-9E03-4020-B25B-C8A61AD6A676}" type="slidenum">
              <a:rPr lang="zh-CN" altLang="en-US" smtClean="0"/>
              <a:t>17</a:t>
            </a:fld>
            <a:endParaRPr lang="zh-CN" altLang="en-US" dirty="0"/>
          </a:p>
        </p:txBody>
      </p:sp>
      <p:grpSp>
        <p:nvGrpSpPr>
          <p:cNvPr id="5" name="组合 4">
            <a:extLst>
              <a:ext uri="{FF2B5EF4-FFF2-40B4-BE49-F238E27FC236}">
                <a16:creationId xmlns:a16="http://schemas.microsoft.com/office/drawing/2014/main" id="{5D27B828-B356-4593-9F31-8F94E61914FA}"/>
              </a:ext>
            </a:extLst>
          </p:cNvPr>
          <p:cNvGrpSpPr/>
          <p:nvPr/>
        </p:nvGrpSpPr>
        <p:grpSpPr>
          <a:xfrm>
            <a:off x="508561" y="1627291"/>
            <a:ext cx="2742400" cy="2304147"/>
            <a:chOff x="747711" y="1006200"/>
            <a:chExt cx="2742400" cy="2304147"/>
          </a:xfrm>
        </p:grpSpPr>
        <p:pic>
          <p:nvPicPr>
            <p:cNvPr id="3" name="图片 2">
              <a:extLst>
                <a:ext uri="{FF2B5EF4-FFF2-40B4-BE49-F238E27FC236}">
                  <a16:creationId xmlns:a16="http://schemas.microsoft.com/office/drawing/2014/main" id="{1A883ADA-B177-483C-9A76-5D632577F82B}"/>
                </a:ext>
              </a:extLst>
            </p:cNvPr>
            <p:cNvPicPr>
              <a:picLocks noChangeAspect="1"/>
            </p:cNvPicPr>
            <p:nvPr/>
          </p:nvPicPr>
          <p:blipFill>
            <a:blip r:embed="rId3"/>
            <a:stretch>
              <a:fillRect/>
            </a:stretch>
          </p:blipFill>
          <p:spPr>
            <a:xfrm>
              <a:off x="747711" y="1006200"/>
              <a:ext cx="2742400" cy="2304147"/>
            </a:xfrm>
            <a:prstGeom prst="rect">
              <a:avLst/>
            </a:prstGeom>
          </p:spPr>
        </p:pic>
        <p:sp>
          <p:nvSpPr>
            <p:cNvPr id="10" name="椭圆 9">
              <a:extLst>
                <a:ext uri="{FF2B5EF4-FFF2-40B4-BE49-F238E27FC236}">
                  <a16:creationId xmlns:a16="http://schemas.microsoft.com/office/drawing/2014/main" id="{1E15D82B-1073-4753-88D9-C6D8A767D9C3}"/>
                </a:ext>
              </a:extLst>
            </p:cNvPr>
            <p:cNvSpPr/>
            <p:nvPr/>
          </p:nvSpPr>
          <p:spPr>
            <a:xfrm rot="21064718">
              <a:off x="2118715" y="2554223"/>
              <a:ext cx="1217623" cy="691629"/>
            </a:xfrm>
            <a:prstGeom prst="ellipse">
              <a:avLst/>
            </a:prstGeom>
            <a:noFill/>
            <a:ln w="19050">
              <a:solidFill>
                <a:srgbClr val="040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5" name="文本框 14">
            <a:extLst>
              <a:ext uri="{FF2B5EF4-FFF2-40B4-BE49-F238E27FC236}">
                <a16:creationId xmlns:a16="http://schemas.microsoft.com/office/drawing/2014/main" id="{EB5A7F41-81C6-4448-81D5-82E3065F1A89}"/>
              </a:ext>
            </a:extLst>
          </p:cNvPr>
          <p:cNvSpPr txBox="1"/>
          <p:nvPr/>
        </p:nvSpPr>
        <p:spPr>
          <a:xfrm>
            <a:off x="1040853" y="4711369"/>
            <a:ext cx="1584896" cy="1458220"/>
          </a:xfrm>
          <a:prstGeom prst="rect">
            <a:avLst/>
          </a:prstGeom>
          <a:noFill/>
        </p:spPr>
        <p:txBody>
          <a:bodyPr wrap="square" rtlCol="0">
            <a:spAutoFit/>
          </a:bodyPr>
          <a:lstStyle>
            <a:defPPr>
              <a:defRPr lang="zh-CN"/>
            </a:defPPr>
            <a:lvl1pPr algn="just">
              <a:lnSpc>
                <a:spcPct val="200000"/>
              </a:lnSpc>
              <a:buClr>
                <a:srgbClr val="0404FF"/>
              </a:buClr>
              <a:defRPr sz="2400">
                <a:latin typeface="微软雅黑" panose="020B0503020204020204" pitchFamily="34" charset="-122"/>
                <a:ea typeface="微软雅黑" panose="020B0503020204020204" pitchFamily="34" charset="-122"/>
              </a:defRPr>
            </a:lvl1pPr>
          </a:lstStyle>
          <a:p>
            <a:r>
              <a:rPr lang="en-US" altLang="zh-CN" dirty="0"/>
              <a:t>Trials: 20</a:t>
            </a:r>
          </a:p>
          <a:p>
            <a:r>
              <a:rPr lang="en-US" altLang="zh-CN" dirty="0"/>
              <a:t>Hits: 3</a:t>
            </a:r>
          </a:p>
        </p:txBody>
      </p:sp>
      <p:sp>
        <p:nvSpPr>
          <p:cNvPr id="16" name="文本框 15">
            <a:extLst>
              <a:ext uri="{FF2B5EF4-FFF2-40B4-BE49-F238E27FC236}">
                <a16:creationId xmlns:a16="http://schemas.microsoft.com/office/drawing/2014/main" id="{7D9DA5ED-8320-457A-B8E7-2101CE172888}"/>
              </a:ext>
            </a:extLst>
          </p:cNvPr>
          <p:cNvSpPr txBox="1"/>
          <p:nvPr/>
        </p:nvSpPr>
        <p:spPr>
          <a:xfrm>
            <a:off x="902686" y="143885"/>
            <a:ext cx="5315234"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t>第二轮化合物改造</a:t>
            </a:r>
            <a:r>
              <a:rPr lang="en-US" altLang="zh-CN" dirty="0"/>
              <a:t>FEP</a:t>
            </a:r>
            <a:r>
              <a:rPr lang="zh-CN" altLang="en-US" dirty="0"/>
              <a:t>计算结果</a:t>
            </a:r>
          </a:p>
        </p:txBody>
      </p:sp>
      <p:sp>
        <p:nvSpPr>
          <p:cNvPr id="14" name="文本框 13">
            <a:extLst>
              <a:ext uri="{FF2B5EF4-FFF2-40B4-BE49-F238E27FC236}">
                <a16:creationId xmlns:a16="http://schemas.microsoft.com/office/drawing/2014/main" id="{EBC453A1-866A-4DD8-B016-D9DEF7465BE0}"/>
              </a:ext>
            </a:extLst>
          </p:cNvPr>
          <p:cNvSpPr txBox="1"/>
          <p:nvPr/>
        </p:nvSpPr>
        <p:spPr>
          <a:xfrm>
            <a:off x="1433068" y="3931438"/>
            <a:ext cx="893385" cy="510524"/>
          </a:xfrm>
          <a:prstGeom prst="rect">
            <a:avLst/>
          </a:prstGeom>
          <a:noFill/>
        </p:spPr>
        <p:txBody>
          <a:bodyPr wrap="square" rtlCol="0">
            <a:spAutoFit/>
          </a:bodyPr>
          <a:lstStyle/>
          <a:p>
            <a:pPr algn="just">
              <a:lnSpc>
                <a:spcPct val="200000"/>
              </a:lnSpc>
              <a:buClr>
                <a:srgbClr val="0404FF"/>
              </a:buClr>
            </a:pPr>
            <a:r>
              <a:rPr lang="en-US" altLang="zh-CN" sz="1600" dirty="0">
                <a:latin typeface="微软雅黑" panose="020B0503020204020204" pitchFamily="34" charset="-122"/>
                <a:ea typeface="微软雅黑" panose="020B0503020204020204" pitchFamily="34" charset="-122"/>
              </a:rPr>
              <a:t>I3C-26</a:t>
            </a:r>
          </a:p>
        </p:txBody>
      </p:sp>
      <p:pic>
        <p:nvPicPr>
          <p:cNvPr id="7" name="图片 6">
            <a:extLst>
              <a:ext uri="{FF2B5EF4-FFF2-40B4-BE49-F238E27FC236}">
                <a16:creationId xmlns:a16="http://schemas.microsoft.com/office/drawing/2014/main" id="{C8B1355F-3E9E-4DEF-9513-AC43E4163AE3}"/>
              </a:ext>
            </a:extLst>
          </p:cNvPr>
          <p:cNvPicPr>
            <a:picLocks noChangeAspect="1"/>
          </p:cNvPicPr>
          <p:nvPr/>
        </p:nvPicPr>
        <p:blipFill>
          <a:blip r:embed="rId4"/>
          <a:stretch>
            <a:fillRect/>
          </a:stretch>
        </p:blipFill>
        <p:spPr>
          <a:xfrm>
            <a:off x="3207061" y="1154649"/>
            <a:ext cx="8616726" cy="5391852"/>
          </a:xfrm>
          <a:prstGeom prst="rect">
            <a:avLst/>
          </a:prstGeom>
        </p:spPr>
      </p:pic>
      <p:sp>
        <p:nvSpPr>
          <p:cNvPr id="18" name="文本框 17">
            <a:extLst>
              <a:ext uri="{FF2B5EF4-FFF2-40B4-BE49-F238E27FC236}">
                <a16:creationId xmlns:a16="http://schemas.microsoft.com/office/drawing/2014/main" id="{1FE46B75-5CE0-47CB-B1EA-0A4A0C2C80F0}"/>
              </a:ext>
            </a:extLst>
          </p:cNvPr>
          <p:cNvSpPr txBox="1"/>
          <p:nvPr/>
        </p:nvSpPr>
        <p:spPr>
          <a:xfrm>
            <a:off x="5202615" y="4344090"/>
            <a:ext cx="893385" cy="458202"/>
          </a:xfrm>
          <a:prstGeom prst="rect">
            <a:avLst/>
          </a:prstGeom>
          <a:noFill/>
        </p:spPr>
        <p:txBody>
          <a:bodyPr wrap="square" rtlCol="0">
            <a:spAutoFit/>
          </a:bodyPr>
          <a:lstStyle/>
          <a:p>
            <a:pPr algn="just">
              <a:lnSpc>
                <a:spcPct val="200000"/>
              </a:lnSpc>
              <a:buClr>
                <a:srgbClr val="0404FF"/>
              </a:buClr>
            </a:pPr>
            <a:r>
              <a:rPr lang="en-US" altLang="zh-CN" sz="1400" dirty="0">
                <a:latin typeface="微软雅黑" panose="020B0503020204020204" pitchFamily="34" charset="-122"/>
                <a:ea typeface="微软雅黑" panose="020B0503020204020204" pitchFamily="34" charset="-122"/>
              </a:rPr>
              <a:t>I3C-45</a:t>
            </a:r>
          </a:p>
        </p:txBody>
      </p:sp>
      <p:sp>
        <p:nvSpPr>
          <p:cNvPr id="19" name="文本框 18">
            <a:extLst>
              <a:ext uri="{FF2B5EF4-FFF2-40B4-BE49-F238E27FC236}">
                <a16:creationId xmlns:a16="http://schemas.microsoft.com/office/drawing/2014/main" id="{B8A88140-0D24-4EC4-A4ED-698B093DA3B1}"/>
              </a:ext>
            </a:extLst>
          </p:cNvPr>
          <p:cNvSpPr txBox="1"/>
          <p:nvPr/>
        </p:nvSpPr>
        <p:spPr>
          <a:xfrm>
            <a:off x="5259306" y="6015801"/>
            <a:ext cx="893385" cy="458202"/>
          </a:xfrm>
          <a:prstGeom prst="rect">
            <a:avLst/>
          </a:prstGeom>
          <a:noFill/>
        </p:spPr>
        <p:txBody>
          <a:bodyPr wrap="square" rtlCol="0">
            <a:spAutoFit/>
          </a:bodyPr>
          <a:lstStyle/>
          <a:p>
            <a:pPr algn="just">
              <a:lnSpc>
                <a:spcPct val="200000"/>
              </a:lnSpc>
              <a:buClr>
                <a:srgbClr val="0404FF"/>
              </a:buClr>
            </a:pPr>
            <a:r>
              <a:rPr lang="en-US" altLang="zh-CN" sz="1400" dirty="0">
                <a:latin typeface="微软雅黑" panose="020B0503020204020204" pitchFamily="34" charset="-122"/>
                <a:ea typeface="微软雅黑" panose="020B0503020204020204" pitchFamily="34" charset="-122"/>
              </a:rPr>
              <a:t>I3C-48</a:t>
            </a:r>
          </a:p>
        </p:txBody>
      </p:sp>
      <p:sp>
        <p:nvSpPr>
          <p:cNvPr id="20" name="文本框 19">
            <a:extLst>
              <a:ext uri="{FF2B5EF4-FFF2-40B4-BE49-F238E27FC236}">
                <a16:creationId xmlns:a16="http://schemas.microsoft.com/office/drawing/2014/main" id="{518484E2-439D-4F9D-B3DB-8012D2C3D976}"/>
              </a:ext>
            </a:extLst>
          </p:cNvPr>
          <p:cNvSpPr txBox="1"/>
          <p:nvPr/>
        </p:nvSpPr>
        <p:spPr>
          <a:xfrm>
            <a:off x="9413544" y="6015801"/>
            <a:ext cx="893385" cy="458202"/>
          </a:xfrm>
          <a:prstGeom prst="rect">
            <a:avLst/>
          </a:prstGeom>
          <a:noFill/>
        </p:spPr>
        <p:txBody>
          <a:bodyPr wrap="square" rtlCol="0">
            <a:spAutoFit/>
          </a:bodyPr>
          <a:lstStyle/>
          <a:p>
            <a:pPr algn="just">
              <a:lnSpc>
                <a:spcPct val="200000"/>
              </a:lnSpc>
              <a:buClr>
                <a:srgbClr val="0404FF"/>
              </a:buClr>
            </a:pPr>
            <a:r>
              <a:rPr lang="en-US" altLang="zh-CN" sz="1400" dirty="0">
                <a:latin typeface="微软雅黑" panose="020B0503020204020204" pitchFamily="34" charset="-122"/>
                <a:ea typeface="微软雅黑" panose="020B0503020204020204" pitchFamily="34" charset="-122"/>
              </a:rPr>
              <a:t>I3C-49</a:t>
            </a:r>
          </a:p>
        </p:txBody>
      </p:sp>
    </p:spTree>
    <p:extLst>
      <p:ext uri="{BB962C8B-B14F-4D97-AF65-F5344CB8AC3E}">
        <p14:creationId xmlns:p14="http://schemas.microsoft.com/office/powerpoint/2010/main" val="3892768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A6CC9E-D045-4225-B492-B5F338DABD39}"/>
              </a:ext>
            </a:extLst>
          </p:cNvPr>
          <p:cNvSpPr>
            <a:spLocks noGrp="1"/>
          </p:cNvSpPr>
          <p:nvPr>
            <p:ph type="sldNum" sz="quarter" idx="12"/>
          </p:nvPr>
        </p:nvSpPr>
        <p:spPr>
          <a:xfrm>
            <a:off x="8610600" y="5899150"/>
            <a:ext cx="2743200" cy="365125"/>
          </a:xfrm>
        </p:spPr>
        <p:txBody>
          <a:bodyPr/>
          <a:lstStyle/>
          <a:p>
            <a:fld id="{2F0485D5-9E03-4020-B25B-C8A61AD6A676}" type="slidenum">
              <a:rPr lang="zh-CN" altLang="en-US" smtClean="0"/>
              <a:t>18</a:t>
            </a:fld>
            <a:endParaRPr lang="zh-CN" altLang="en-US" dirty="0"/>
          </a:p>
        </p:txBody>
      </p:sp>
      <p:sp>
        <p:nvSpPr>
          <p:cNvPr id="14" name="文本框 13">
            <a:extLst>
              <a:ext uri="{FF2B5EF4-FFF2-40B4-BE49-F238E27FC236}">
                <a16:creationId xmlns:a16="http://schemas.microsoft.com/office/drawing/2014/main" id="{EBE2E7B8-E8D3-44B9-978D-3454A2DE88B1}"/>
              </a:ext>
            </a:extLst>
          </p:cNvPr>
          <p:cNvSpPr txBox="1"/>
          <p:nvPr/>
        </p:nvSpPr>
        <p:spPr>
          <a:xfrm>
            <a:off x="994195" y="91516"/>
            <a:ext cx="1055321" cy="523220"/>
          </a:xfrm>
          <a:prstGeom prst="rect">
            <a:avLst/>
          </a:prstGeom>
          <a:noFill/>
        </p:spPr>
        <p:txBody>
          <a:bodyPr wrap="square">
            <a:spAutoFit/>
          </a:bodyPr>
          <a:lstStyle>
            <a:defPPr>
              <a:defRPr lang="zh-CN"/>
            </a:defPPr>
            <a:lvl1pPr>
              <a:defRPr sz="28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t>小结 </a:t>
            </a:r>
          </a:p>
        </p:txBody>
      </p:sp>
      <p:sp>
        <p:nvSpPr>
          <p:cNvPr id="15" name="箭头: 右 14">
            <a:extLst>
              <a:ext uri="{FF2B5EF4-FFF2-40B4-BE49-F238E27FC236}">
                <a16:creationId xmlns:a16="http://schemas.microsoft.com/office/drawing/2014/main" id="{F81E68A3-2E68-4608-94A6-045609375DFB}"/>
              </a:ext>
            </a:extLst>
          </p:cNvPr>
          <p:cNvSpPr/>
          <p:nvPr/>
        </p:nvSpPr>
        <p:spPr>
          <a:xfrm>
            <a:off x="3882332" y="2713354"/>
            <a:ext cx="497309" cy="228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4436A48-DD26-408A-8B86-DCE782F007FA}"/>
              </a:ext>
            </a:extLst>
          </p:cNvPr>
          <p:cNvSpPr/>
          <p:nvPr/>
        </p:nvSpPr>
        <p:spPr>
          <a:xfrm>
            <a:off x="4665170" y="4299763"/>
            <a:ext cx="3403496" cy="738664"/>
          </a:xfrm>
          <a:prstGeom prst="rect">
            <a:avLst/>
          </a:prstGeom>
        </p:spPr>
        <p:txBody>
          <a:bodyPr wrap="none">
            <a:spAutoFit/>
          </a:bodyPr>
          <a:lstStyle/>
          <a:p>
            <a:pPr algn="ctr"/>
            <a:r>
              <a:rPr lang="en-US" altLang="zh-CN" sz="1400" dirty="0">
                <a:solidFill>
                  <a:srgbClr val="0404FF"/>
                </a:solidFill>
                <a:latin typeface="微软雅黑" panose="020B0503020204020204" pitchFamily="34" charset="-122"/>
                <a:ea typeface="微软雅黑" panose="020B0503020204020204" pitchFamily="34" charset="-122"/>
              </a:rPr>
              <a:t>I3C-26</a:t>
            </a:r>
          </a:p>
          <a:p>
            <a:pPr algn="ctr"/>
            <a:r>
              <a:rPr lang="zh-CN" altLang="en-US" sz="1400" dirty="0">
                <a:solidFill>
                  <a:srgbClr val="0404FF"/>
                </a:solidFill>
                <a:latin typeface="微软雅黑" panose="020B0503020204020204" pitchFamily="34" charset="-122"/>
                <a:ea typeface="微软雅黑" panose="020B0503020204020204" pitchFamily="34" charset="-122"/>
              </a:rPr>
              <a:t>第一代 （相较 </a:t>
            </a:r>
            <a:r>
              <a:rPr lang="en-US" altLang="zh-CN" sz="1400" dirty="0">
                <a:solidFill>
                  <a:srgbClr val="0404FF"/>
                </a:solidFill>
                <a:latin typeface="微软雅黑" panose="020B0503020204020204" pitchFamily="34" charset="-122"/>
                <a:ea typeface="微软雅黑" panose="020B0503020204020204" pitchFamily="34" charset="-122"/>
              </a:rPr>
              <a:t>Lead </a:t>
            </a:r>
            <a:r>
              <a:rPr lang="zh-CN" altLang="en-US" sz="1400" dirty="0">
                <a:solidFill>
                  <a:srgbClr val="0404FF"/>
                </a:solidFill>
                <a:latin typeface="微软雅黑" panose="020B0503020204020204" pitchFamily="34" charset="-122"/>
                <a:ea typeface="微软雅黑" panose="020B0503020204020204" pitchFamily="34" charset="-122"/>
              </a:rPr>
              <a:t>活性提升约</a:t>
            </a:r>
            <a:r>
              <a:rPr lang="en-US" altLang="zh-CN" sz="1400" dirty="0">
                <a:solidFill>
                  <a:srgbClr val="0404FF"/>
                </a:solidFill>
                <a:latin typeface="微软雅黑" panose="020B0503020204020204" pitchFamily="34" charset="-122"/>
                <a:ea typeface="微软雅黑" panose="020B0503020204020204" pitchFamily="34" charset="-122"/>
              </a:rPr>
              <a:t>300</a:t>
            </a:r>
            <a:r>
              <a:rPr lang="zh-CN" altLang="en-US" sz="1400" dirty="0">
                <a:solidFill>
                  <a:srgbClr val="0404FF"/>
                </a:solidFill>
                <a:latin typeface="微软雅黑" panose="020B0503020204020204" pitchFamily="34" charset="-122"/>
                <a:ea typeface="微软雅黑" panose="020B0503020204020204" pitchFamily="34" charset="-122"/>
              </a:rPr>
              <a:t>倍）</a:t>
            </a:r>
            <a:endParaRPr lang="en-US" altLang="zh-CN" sz="1400" dirty="0">
              <a:solidFill>
                <a:srgbClr val="0404FF"/>
              </a:solidFill>
              <a:latin typeface="微软雅黑" panose="020B0503020204020204" pitchFamily="34" charset="-122"/>
              <a:ea typeface="微软雅黑" panose="020B0503020204020204" pitchFamily="34" charset="-122"/>
            </a:endParaRPr>
          </a:p>
          <a:p>
            <a:pPr algn="ctr"/>
            <a:r>
              <a:rPr lang="en-US" altLang="zh-CN" sz="1400" dirty="0">
                <a:solidFill>
                  <a:srgbClr val="0404FF"/>
                </a:solidFill>
                <a:latin typeface="微软雅黑" panose="020B0503020204020204" pitchFamily="34" charset="-122"/>
                <a:ea typeface="微软雅黑" panose="020B0503020204020204" pitchFamily="34" charset="-122"/>
              </a:rPr>
              <a:t>12</a:t>
            </a:r>
            <a:r>
              <a:rPr lang="zh-CN" altLang="en-US" sz="1400" dirty="0">
                <a:solidFill>
                  <a:srgbClr val="0404FF"/>
                </a:solidFill>
                <a:latin typeface="微软雅黑" panose="020B0503020204020204" pitchFamily="34" charset="-122"/>
                <a:ea typeface="微软雅黑" panose="020B0503020204020204" pitchFamily="34" charset="-122"/>
              </a:rPr>
              <a:t>个新化合物</a:t>
            </a:r>
          </a:p>
        </p:txBody>
      </p:sp>
      <p:pic>
        <p:nvPicPr>
          <p:cNvPr id="5" name="图片 4">
            <a:extLst>
              <a:ext uri="{FF2B5EF4-FFF2-40B4-BE49-F238E27FC236}">
                <a16:creationId xmlns:a16="http://schemas.microsoft.com/office/drawing/2014/main" id="{F090ACD6-2AC7-40B3-8EDA-0E6728D01319}"/>
              </a:ext>
            </a:extLst>
          </p:cNvPr>
          <p:cNvPicPr>
            <a:picLocks noChangeAspect="1"/>
          </p:cNvPicPr>
          <p:nvPr/>
        </p:nvPicPr>
        <p:blipFill>
          <a:blip r:embed="rId3"/>
          <a:stretch>
            <a:fillRect/>
          </a:stretch>
        </p:blipFill>
        <p:spPr>
          <a:xfrm>
            <a:off x="768627" y="1260372"/>
            <a:ext cx="3113705" cy="2933767"/>
          </a:xfrm>
          <a:prstGeom prst="rect">
            <a:avLst/>
          </a:prstGeom>
        </p:spPr>
      </p:pic>
      <p:sp>
        <p:nvSpPr>
          <p:cNvPr id="22" name="矩形 21">
            <a:extLst>
              <a:ext uri="{FF2B5EF4-FFF2-40B4-BE49-F238E27FC236}">
                <a16:creationId xmlns:a16="http://schemas.microsoft.com/office/drawing/2014/main" id="{DCBF1D0B-7AEF-453C-80F3-2DD36B9FF991}"/>
              </a:ext>
            </a:extLst>
          </p:cNvPr>
          <p:cNvSpPr/>
          <p:nvPr/>
        </p:nvSpPr>
        <p:spPr>
          <a:xfrm>
            <a:off x="1894110" y="4140861"/>
            <a:ext cx="862737" cy="953723"/>
          </a:xfrm>
          <a:prstGeom prst="rect">
            <a:avLst/>
          </a:prstGeom>
        </p:spPr>
        <p:txBody>
          <a:bodyPr wrap="none">
            <a:spAutoFit/>
          </a:bodyPr>
          <a:lstStyle/>
          <a:p>
            <a:pPr algn="ctr">
              <a:lnSpc>
                <a:spcPct val="120000"/>
              </a:lnSpc>
            </a:pPr>
            <a:r>
              <a:rPr lang="en-US" altLang="zh-CN" sz="1600" dirty="0">
                <a:solidFill>
                  <a:srgbClr val="0404FF"/>
                </a:solidFill>
                <a:latin typeface="微软雅黑" panose="020B0503020204020204" pitchFamily="34" charset="-122"/>
                <a:ea typeface="微软雅黑" panose="020B0503020204020204" pitchFamily="34" charset="-122"/>
              </a:rPr>
              <a:t>I3C-3</a:t>
            </a:r>
          </a:p>
          <a:p>
            <a:pPr algn="ctr">
              <a:lnSpc>
                <a:spcPct val="120000"/>
              </a:lnSpc>
            </a:pPr>
            <a:r>
              <a:rPr lang="en-US" altLang="zh-CN" sz="1600" dirty="0">
                <a:solidFill>
                  <a:srgbClr val="0404FF"/>
                </a:solidFill>
                <a:latin typeface="微软雅黑" panose="020B0503020204020204" pitchFamily="34" charset="-122"/>
                <a:ea typeface="微软雅黑" panose="020B0503020204020204" pitchFamily="34" charset="-122"/>
              </a:rPr>
              <a:t>0.2</a:t>
            </a:r>
            <a:r>
              <a:rPr lang="zh-CN" altLang="en-US" sz="1600" dirty="0">
                <a:solidFill>
                  <a:srgbClr val="0404FF"/>
                </a:solidFill>
                <a:latin typeface="微软雅黑" panose="020B0503020204020204" pitchFamily="34" charset="-122"/>
                <a:ea typeface="微软雅黑" panose="020B0503020204020204" pitchFamily="34" charset="-122"/>
              </a:rPr>
              <a:t> </a:t>
            </a:r>
            <a:r>
              <a:rPr lang="en-US" altLang="zh-CN" sz="1600" dirty="0" err="1">
                <a:solidFill>
                  <a:srgbClr val="0404FF"/>
                </a:solidFill>
                <a:latin typeface="微软雅黑" panose="020B0503020204020204" pitchFamily="34" charset="-122"/>
                <a:ea typeface="微软雅黑" panose="020B0503020204020204" pitchFamily="34" charset="-122"/>
              </a:rPr>
              <a:t>uM</a:t>
            </a:r>
            <a:endParaRPr lang="en-US" altLang="zh-CN" sz="1600" dirty="0">
              <a:solidFill>
                <a:srgbClr val="0404FF"/>
              </a:solidFill>
              <a:latin typeface="微软雅黑" panose="020B0503020204020204" pitchFamily="34" charset="-122"/>
              <a:ea typeface="微软雅黑" panose="020B0503020204020204" pitchFamily="34" charset="-122"/>
            </a:endParaRPr>
          </a:p>
          <a:p>
            <a:pPr algn="ctr">
              <a:lnSpc>
                <a:spcPct val="120000"/>
              </a:lnSpc>
            </a:pPr>
            <a:r>
              <a:rPr lang="en-US" altLang="zh-CN" sz="1600" dirty="0">
                <a:solidFill>
                  <a:srgbClr val="0404FF"/>
                </a:solidFill>
                <a:latin typeface="微软雅黑" panose="020B0503020204020204" pitchFamily="34" charset="-122"/>
                <a:ea typeface="微软雅黑" panose="020B0503020204020204" pitchFamily="34" charset="-122"/>
              </a:rPr>
              <a:t>Lead</a:t>
            </a:r>
            <a:endParaRPr lang="zh-CN" altLang="en-US" sz="1600" dirty="0">
              <a:solidFill>
                <a:srgbClr val="0404FF"/>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17E039A-D07D-4144-AEC3-97A8D4E3E052}"/>
              </a:ext>
            </a:extLst>
          </p:cNvPr>
          <p:cNvPicPr>
            <a:picLocks noChangeAspect="1"/>
          </p:cNvPicPr>
          <p:nvPr/>
        </p:nvPicPr>
        <p:blipFill>
          <a:blip r:embed="rId4"/>
          <a:stretch>
            <a:fillRect/>
          </a:stretch>
        </p:blipFill>
        <p:spPr>
          <a:xfrm>
            <a:off x="4555036" y="1408568"/>
            <a:ext cx="3037649" cy="2738606"/>
          </a:xfrm>
          <a:prstGeom prst="rect">
            <a:avLst/>
          </a:prstGeom>
        </p:spPr>
      </p:pic>
      <p:sp>
        <p:nvSpPr>
          <p:cNvPr id="23" name="箭头: 右 22">
            <a:extLst>
              <a:ext uri="{FF2B5EF4-FFF2-40B4-BE49-F238E27FC236}">
                <a16:creationId xmlns:a16="http://schemas.microsoft.com/office/drawing/2014/main" id="{81F837EB-D19B-403D-86D9-DEA19FC2C712}"/>
              </a:ext>
            </a:extLst>
          </p:cNvPr>
          <p:cNvSpPr/>
          <p:nvPr/>
        </p:nvSpPr>
        <p:spPr>
          <a:xfrm>
            <a:off x="7540138" y="2713353"/>
            <a:ext cx="497309" cy="228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7F12CED1-C877-472E-B472-07D3BD8D5C38}"/>
              </a:ext>
            </a:extLst>
          </p:cNvPr>
          <p:cNvPicPr>
            <a:picLocks noChangeAspect="1"/>
          </p:cNvPicPr>
          <p:nvPr/>
        </p:nvPicPr>
        <p:blipFill>
          <a:blip r:embed="rId5"/>
          <a:stretch>
            <a:fillRect/>
          </a:stretch>
        </p:blipFill>
        <p:spPr>
          <a:xfrm>
            <a:off x="8424251" y="1474658"/>
            <a:ext cx="3389793" cy="2578738"/>
          </a:xfrm>
          <a:prstGeom prst="rect">
            <a:avLst/>
          </a:prstGeom>
        </p:spPr>
      </p:pic>
      <p:sp>
        <p:nvSpPr>
          <p:cNvPr id="25" name="矩形 24">
            <a:extLst>
              <a:ext uri="{FF2B5EF4-FFF2-40B4-BE49-F238E27FC236}">
                <a16:creationId xmlns:a16="http://schemas.microsoft.com/office/drawing/2014/main" id="{F2261419-F513-4174-878F-D348BBCBB2CE}"/>
              </a:ext>
            </a:extLst>
          </p:cNvPr>
          <p:cNvSpPr/>
          <p:nvPr/>
        </p:nvSpPr>
        <p:spPr>
          <a:xfrm>
            <a:off x="8624858" y="4284374"/>
            <a:ext cx="3403496" cy="738664"/>
          </a:xfrm>
          <a:prstGeom prst="rect">
            <a:avLst/>
          </a:prstGeom>
        </p:spPr>
        <p:txBody>
          <a:bodyPr wrap="none">
            <a:spAutoFit/>
          </a:bodyPr>
          <a:lstStyle/>
          <a:p>
            <a:pPr algn="ctr"/>
            <a:r>
              <a:rPr lang="en-US" altLang="zh-CN" sz="1400" dirty="0">
                <a:solidFill>
                  <a:srgbClr val="0404FF"/>
                </a:solidFill>
                <a:latin typeface="微软雅黑" panose="020B0503020204020204" pitchFamily="34" charset="-122"/>
                <a:ea typeface="微软雅黑" panose="020B0503020204020204" pitchFamily="34" charset="-122"/>
              </a:rPr>
              <a:t>I3C-49</a:t>
            </a:r>
          </a:p>
          <a:p>
            <a:pPr algn="ctr"/>
            <a:r>
              <a:rPr lang="zh-CN" altLang="en-US" sz="1400" dirty="0">
                <a:solidFill>
                  <a:srgbClr val="0404FF"/>
                </a:solidFill>
                <a:latin typeface="微软雅黑" panose="020B0503020204020204" pitchFamily="34" charset="-122"/>
                <a:ea typeface="微软雅黑" panose="020B0503020204020204" pitchFamily="34" charset="-122"/>
              </a:rPr>
              <a:t>第二代 （相较 </a:t>
            </a:r>
            <a:r>
              <a:rPr lang="en-US" altLang="zh-CN" sz="1400" dirty="0">
                <a:solidFill>
                  <a:srgbClr val="0404FF"/>
                </a:solidFill>
                <a:latin typeface="微软雅黑" panose="020B0503020204020204" pitchFamily="34" charset="-122"/>
                <a:ea typeface="微软雅黑" panose="020B0503020204020204" pitchFamily="34" charset="-122"/>
              </a:rPr>
              <a:t>Lead </a:t>
            </a:r>
            <a:r>
              <a:rPr lang="zh-CN" altLang="en-US" sz="1400" dirty="0">
                <a:solidFill>
                  <a:srgbClr val="0404FF"/>
                </a:solidFill>
                <a:latin typeface="微软雅黑" panose="020B0503020204020204" pitchFamily="34" charset="-122"/>
                <a:ea typeface="微软雅黑" panose="020B0503020204020204" pitchFamily="34" charset="-122"/>
              </a:rPr>
              <a:t>活性提升约</a:t>
            </a:r>
            <a:r>
              <a:rPr lang="en-US" altLang="zh-CN" sz="1400" dirty="0">
                <a:solidFill>
                  <a:srgbClr val="0404FF"/>
                </a:solidFill>
                <a:latin typeface="微软雅黑" panose="020B0503020204020204" pitchFamily="34" charset="-122"/>
                <a:ea typeface="微软雅黑" panose="020B0503020204020204" pitchFamily="34" charset="-122"/>
              </a:rPr>
              <a:t>500</a:t>
            </a:r>
            <a:r>
              <a:rPr lang="zh-CN" altLang="en-US" sz="1400" dirty="0">
                <a:solidFill>
                  <a:srgbClr val="0404FF"/>
                </a:solidFill>
                <a:latin typeface="微软雅黑" panose="020B0503020204020204" pitchFamily="34" charset="-122"/>
                <a:ea typeface="微软雅黑" panose="020B0503020204020204" pitchFamily="34" charset="-122"/>
              </a:rPr>
              <a:t>倍）</a:t>
            </a:r>
            <a:endParaRPr lang="en-US" altLang="zh-CN" sz="1400" dirty="0">
              <a:solidFill>
                <a:srgbClr val="0404FF"/>
              </a:solidFill>
              <a:latin typeface="微软雅黑" panose="020B0503020204020204" pitchFamily="34" charset="-122"/>
              <a:ea typeface="微软雅黑" panose="020B0503020204020204" pitchFamily="34" charset="-122"/>
            </a:endParaRPr>
          </a:p>
          <a:p>
            <a:pPr algn="ctr"/>
            <a:r>
              <a:rPr lang="en-US" altLang="zh-CN" sz="1400" dirty="0">
                <a:solidFill>
                  <a:srgbClr val="0404FF"/>
                </a:solidFill>
                <a:latin typeface="微软雅黑" panose="020B0503020204020204" pitchFamily="34" charset="-122"/>
                <a:ea typeface="微软雅黑" panose="020B0503020204020204" pitchFamily="34" charset="-122"/>
              </a:rPr>
              <a:t>3</a:t>
            </a:r>
            <a:r>
              <a:rPr lang="zh-CN" altLang="en-US" sz="1400" dirty="0">
                <a:solidFill>
                  <a:srgbClr val="0404FF"/>
                </a:solidFill>
                <a:latin typeface="微软雅黑" panose="020B0503020204020204" pitchFamily="34" charset="-122"/>
                <a:ea typeface="微软雅黑" panose="020B0503020204020204" pitchFamily="34" charset="-122"/>
              </a:rPr>
              <a:t>个新化合物</a:t>
            </a:r>
          </a:p>
        </p:txBody>
      </p:sp>
      <p:sp>
        <p:nvSpPr>
          <p:cNvPr id="26" name="文本框 25">
            <a:extLst>
              <a:ext uri="{FF2B5EF4-FFF2-40B4-BE49-F238E27FC236}">
                <a16:creationId xmlns:a16="http://schemas.microsoft.com/office/drawing/2014/main" id="{2C689A7C-63E8-44F4-86E9-E0C799C2FAC3}"/>
              </a:ext>
            </a:extLst>
          </p:cNvPr>
          <p:cNvSpPr txBox="1"/>
          <p:nvPr/>
        </p:nvSpPr>
        <p:spPr>
          <a:xfrm>
            <a:off x="1263473" y="5240297"/>
            <a:ext cx="8379930" cy="1002967"/>
          </a:xfrm>
          <a:prstGeom prst="rect">
            <a:avLst/>
          </a:prstGeom>
          <a:noFill/>
        </p:spPr>
        <p:txBody>
          <a:bodyPr wrap="square" rtlCol="0">
            <a:spAutoFit/>
          </a:bodyPr>
          <a:lstStyle/>
          <a:p>
            <a:pPr marL="285750" indent="-285750" algn="just">
              <a:lnSpc>
                <a:spcPct val="200000"/>
              </a:lnSpc>
              <a:buClr>
                <a:srgbClr val="0404FF"/>
              </a:buClr>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借鉴</a:t>
            </a:r>
            <a:r>
              <a:rPr lang="en-US" altLang="zh-CN" sz="1600" dirty="0" err="1">
                <a:latin typeface="微软雅黑" panose="020B0503020204020204" pitchFamily="34" charset="-122"/>
                <a:ea typeface="微软雅黑" panose="020B0503020204020204" pitchFamily="34" charset="-122"/>
              </a:rPr>
              <a:t>Paxlovid</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3CL</a:t>
            </a:r>
            <a:r>
              <a:rPr lang="zh-CN" altLang="en-US" sz="1600" dirty="0">
                <a:latin typeface="微软雅黑" panose="020B0503020204020204" pitchFamily="34" charset="-122"/>
                <a:ea typeface="微软雅黑" panose="020B0503020204020204" pitchFamily="34" charset="-122"/>
              </a:rPr>
              <a:t>的结合模式，对异喹啉类化合物 </a:t>
            </a:r>
            <a:r>
              <a:rPr lang="en-US" altLang="zh-CN" sz="1600" dirty="0">
                <a:latin typeface="微软雅黑" panose="020B0503020204020204" pitchFamily="34" charset="-122"/>
                <a:ea typeface="微软雅黑" panose="020B0503020204020204" pitchFamily="34" charset="-122"/>
              </a:rPr>
              <a:t>Lead </a:t>
            </a:r>
            <a:r>
              <a:rPr lang="zh-CN" altLang="en-US" sz="1600" dirty="0">
                <a:latin typeface="微软雅黑" panose="020B0503020204020204" pitchFamily="34" charset="-122"/>
                <a:ea typeface="微软雅黑" panose="020B0503020204020204" pitchFamily="34" charset="-122"/>
              </a:rPr>
              <a:t>进行结构改造</a:t>
            </a:r>
            <a:endParaRPr lang="en-US" altLang="zh-CN" sz="1600" dirty="0">
              <a:latin typeface="微软雅黑" panose="020B0503020204020204" pitchFamily="34" charset="-122"/>
              <a:ea typeface="微软雅黑" panose="020B0503020204020204" pitchFamily="34" charset="-122"/>
            </a:endParaRPr>
          </a:p>
          <a:p>
            <a:pPr marL="285750" indent="-285750" algn="just">
              <a:lnSpc>
                <a:spcPct val="200000"/>
              </a:lnSpc>
              <a:buClr>
                <a:srgbClr val="0404FF"/>
              </a:buClr>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理论上设计出 </a:t>
            </a:r>
            <a:r>
              <a:rPr lang="en-US" altLang="zh-CN" sz="1600" b="1" dirty="0">
                <a:latin typeface="微软雅黑" panose="020B0503020204020204" pitchFamily="34" charset="-122"/>
                <a:ea typeface="微软雅黑" panose="020B0503020204020204" pitchFamily="34" charset="-122"/>
              </a:rPr>
              <a:t>15</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个预测活性相较 </a:t>
            </a:r>
            <a:r>
              <a:rPr lang="en-US" altLang="zh-CN" sz="1600" dirty="0">
                <a:latin typeface="微软雅黑" panose="020B0503020204020204" pitchFamily="34" charset="-122"/>
                <a:ea typeface="微软雅黑" panose="020B0503020204020204" pitchFamily="34" charset="-122"/>
              </a:rPr>
              <a:t>Lead </a:t>
            </a:r>
            <a:r>
              <a:rPr lang="zh-CN" altLang="en-US" sz="1600" dirty="0">
                <a:latin typeface="微软雅黑" panose="020B0503020204020204" pitchFamily="34" charset="-122"/>
                <a:ea typeface="微软雅黑" panose="020B0503020204020204" pitchFamily="34" charset="-122"/>
              </a:rPr>
              <a:t>提升 </a:t>
            </a:r>
            <a:r>
              <a:rPr lang="en-US" altLang="zh-CN" sz="1600" b="1" dirty="0">
                <a:latin typeface="微软雅黑" panose="020B0503020204020204" pitchFamily="34" charset="-122"/>
                <a:ea typeface="微软雅黑" panose="020B0503020204020204" pitchFamily="34" charset="-122"/>
              </a:rPr>
              <a:t>300-500</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倍的新型化合物</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26206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DC9097-327F-5678-26E2-7416F1506137}"/>
              </a:ext>
            </a:extLst>
          </p:cNvPr>
          <p:cNvSpPr>
            <a:spLocks noGrp="1"/>
          </p:cNvSpPr>
          <p:nvPr>
            <p:ph type="sldNum" sz="quarter" idx="12"/>
          </p:nvPr>
        </p:nvSpPr>
        <p:spPr/>
        <p:txBody>
          <a:bodyPr/>
          <a:lstStyle/>
          <a:p>
            <a:fld id="{2F0485D5-9E03-4020-B25B-C8A61AD6A676}" type="slidenum">
              <a:rPr lang="zh-CN" altLang="en-US" smtClean="0"/>
              <a:t>19</a:t>
            </a:fld>
            <a:endParaRPr lang="zh-CN" altLang="en-US"/>
          </a:p>
        </p:txBody>
      </p:sp>
      <p:grpSp>
        <p:nvGrpSpPr>
          <p:cNvPr id="4" name="组合 3">
            <a:extLst>
              <a:ext uri="{FF2B5EF4-FFF2-40B4-BE49-F238E27FC236}">
                <a16:creationId xmlns:a16="http://schemas.microsoft.com/office/drawing/2014/main" id="{69018CE1-46A9-45B6-9B86-9B6B80ACA20F}"/>
              </a:ext>
            </a:extLst>
          </p:cNvPr>
          <p:cNvGrpSpPr/>
          <p:nvPr/>
        </p:nvGrpSpPr>
        <p:grpSpPr>
          <a:xfrm>
            <a:off x="2565249" y="1013667"/>
            <a:ext cx="6333555" cy="5342683"/>
            <a:chOff x="2986694" y="952005"/>
            <a:chExt cx="6333555" cy="5342683"/>
          </a:xfrm>
        </p:grpSpPr>
        <p:grpSp>
          <p:nvGrpSpPr>
            <p:cNvPr id="13" name="组合 12">
              <a:extLst>
                <a:ext uri="{FF2B5EF4-FFF2-40B4-BE49-F238E27FC236}">
                  <a16:creationId xmlns:a16="http://schemas.microsoft.com/office/drawing/2014/main" id="{2801C1C1-6A34-6840-E52E-EB9CF7400B41}"/>
                </a:ext>
              </a:extLst>
            </p:cNvPr>
            <p:cNvGrpSpPr/>
            <p:nvPr/>
          </p:nvGrpSpPr>
          <p:grpSpPr>
            <a:xfrm>
              <a:off x="3022119" y="952005"/>
              <a:ext cx="6298130" cy="4329576"/>
              <a:chOff x="452388" y="733923"/>
              <a:chExt cx="7382577" cy="5118236"/>
            </a:xfrm>
          </p:grpSpPr>
          <p:pic>
            <p:nvPicPr>
              <p:cNvPr id="14" name="图片 13">
                <a:extLst>
                  <a:ext uri="{FF2B5EF4-FFF2-40B4-BE49-F238E27FC236}">
                    <a16:creationId xmlns:a16="http://schemas.microsoft.com/office/drawing/2014/main" id="{D7C283D8-231B-508F-E25B-F5A016D9F9E3}"/>
                  </a:ext>
                </a:extLst>
              </p:cNvPr>
              <p:cNvPicPr>
                <a:picLocks noChangeAspect="1"/>
              </p:cNvPicPr>
              <p:nvPr/>
            </p:nvPicPr>
            <p:blipFill>
              <a:blip r:embed="rId2"/>
              <a:stretch>
                <a:fillRect/>
              </a:stretch>
            </p:blipFill>
            <p:spPr>
              <a:xfrm>
                <a:off x="452388" y="733923"/>
                <a:ext cx="7382577" cy="2086554"/>
              </a:xfrm>
              <a:prstGeom prst="rect">
                <a:avLst/>
              </a:prstGeom>
            </p:spPr>
          </p:pic>
          <p:pic>
            <p:nvPicPr>
              <p:cNvPr id="15" name="图片 14">
                <a:extLst>
                  <a:ext uri="{FF2B5EF4-FFF2-40B4-BE49-F238E27FC236}">
                    <a16:creationId xmlns:a16="http://schemas.microsoft.com/office/drawing/2014/main" id="{AE28AD0A-DCC7-A58C-1BD0-F33C2F03E757}"/>
                  </a:ext>
                </a:extLst>
              </p:cNvPr>
              <p:cNvPicPr>
                <a:picLocks noChangeAspect="1"/>
              </p:cNvPicPr>
              <p:nvPr/>
            </p:nvPicPr>
            <p:blipFill>
              <a:blip r:embed="rId3"/>
              <a:stretch>
                <a:fillRect/>
              </a:stretch>
            </p:blipFill>
            <p:spPr>
              <a:xfrm>
                <a:off x="452388" y="2820477"/>
                <a:ext cx="7382577" cy="1395435"/>
              </a:xfrm>
              <a:prstGeom prst="rect">
                <a:avLst/>
              </a:prstGeom>
            </p:spPr>
          </p:pic>
          <p:pic>
            <p:nvPicPr>
              <p:cNvPr id="16" name="图片 15">
                <a:extLst>
                  <a:ext uri="{FF2B5EF4-FFF2-40B4-BE49-F238E27FC236}">
                    <a16:creationId xmlns:a16="http://schemas.microsoft.com/office/drawing/2014/main" id="{4FD09516-C464-B0BF-33A4-6F488025AA17}"/>
                  </a:ext>
                </a:extLst>
              </p:cNvPr>
              <p:cNvPicPr>
                <a:picLocks noChangeAspect="1"/>
              </p:cNvPicPr>
              <p:nvPr/>
            </p:nvPicPr>
            <p:blipFill rotWithShape="1">
              <a:blip r:embed="rId4"/>
              <a:srcRect b="48727"/>
              <a:stretch/>
            </p:blipFill>
            <p:spPr>
              <a:xfrm>
                <a:off x="452388" y="4215912"/>
                <a:ext cx="7382577" cy="1636247"/>
              </a:xfrm>
              <a:prstGeom prst="rect">
                <a:avLst/>
              </a:prstGeom>
            </p:spPr>
          </p:pic>
        </p:grpSp>
        <p:sp>
          <p:nvSpPr>
            <p:cNvPr id="18" name="文本框 17">
              <a:extLst>
                <a:ext uri="{FF2B5EF4-FFF2-40B4-BE49-F238E27FC236}">
                  <a16:creationId xmlns:a16="http://schemas.microsoft.com/office/drawing/2014/main" id="{64592FA1-50D3-92E1-5BA1-C091D64EF774}"/>
                </a:ext>
              </a:extLst>
            </p:cNvPr>
            <p:cNvSpPr txBox="1"/>
            <p:nvPr/>
          </p:nvSpPr>
          <p:spPr>
            <a:xfrm>
              <a:off x="2986694" y="5956134"/>
              <a:ext cx="4419802"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pt-BR" altLang="zh-CN" dirty="0"/>
                <a:t>doi: https://doi.org/10.1101/2020.10.29.339317</a:t>
              </a:r>
              <a:endParaRPr lang="zh-CN" altLang="en-US" dirty="0"/>
            </a:p>
          </p:txBody>
        </p:sp>
        <p:sp>
          <p:nvSpPr>
            <p:cNvPr id="20" name="文本框 19">
              <a:extLst>
                <a:ext uri="{FF2B5EF4-FFF2-40B4-BE49-F238E27FC236}">
                  <a16:creationId xmlns:a16="http://schemas.microsoft.com/office/drawing/2014/main" id="{20779A9A-305E-35C5-AD4E-407EB80E8E97}"/>
                </a:ext>
              </a:extLst>
            </p:cNvPr>
            <p:cNvSpPr txBox="1"/>
            <p:nvPr/>
          </p:nvSpPr>
          <p:spPr>
            <a:xfrm>
              <a:off x="6443431" y="5557389"/>
              <a:ext cx="2658979"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sv-SE" altLang="zh-CN" dirty="0">
                  <a:hlinkClick r:id="rId5"/>
                </a:rPr>
                <a:t>Nat Chem. 2020;12(7):581.</a:t>
              </a:r>
              <a:endParaRPr lang="zh-CN" altLang="en-US" dirty="0"/>
            </a:p>
          </p:txBody>
        </p:sp>
        <p:sp>
          <p:nvSpPr>
            <p:cNvPr id="21" name="文本框 20">
              <a:extLst>
                <a:ext uri="{FF2B5EF4-FFF2-40B4-BE49-F238E27FC236}">
                  <a16:creationId xmlns:a16="http://schemas.microsoft.com/office/drawing/2014/main" id="{6703A4CB-DB2D-140F-36AD-6B8F3F65A0C8}"/>
                </a:ext>
              </a:extLst>
            </p:cNvPr>
            <p:cNvSpPr txBox="1"/>
            <p:nvPr/>
          </p:nvSpPr>
          <p:spPr>
            <a:xfrm>
              <a:off x="3013914" y="5575213"/>
              <a:ext cx="2947738"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en-US" altLang="zh-CN" dirty="0"/>
                <a:t>https://covid.postera.ai/submit</a:t>
              </a:r>
              <a:endParaRPr lang="zh-CN" altLang="en-US" dirty="0"/>
            </a:p>
          </p:txBody>
        </p:sp>
      </p:grpSp>
      <p:sp>
        <p:nvSpPr>
          <p:cNvPr id="3" name="文本框 11">
            <a:extLst>
              <a:ext uri="{FF2B5EF4-FFF2-40B4-BE49-F238E27FC236}">
                <a16:creationId xmlns:a16="http://schemas.microsoft.com/office/drawing/2014/main" id="{18E313E3-BAAE-5F00-3DB7-9D5F79192623}"/>
              </a:ext>
            </a:extLst>
          </p:cNvPr>
          <p:cNvSpPr txBox="1"/>
          <p:nvPr/>
        </p:nvSpPr>
        <p:spPr>
          <a:xfrm>
            <a:off x="1143000" y="84970"/>
            <a:ext cx="7467600"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Background</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grpSp>
        <p:nvGrpSpPr>
          <p:cNvPr id="22" name="组合 21">
            <a:extLst>
              <a:ext uri="{FF2B5EF4-FFF2-40B4-BE49-F238E27FC236}">
                <a16:creationId xmlns:a16="http://schemas.microsoft.com/office/drawing/2014/main" id="{EACC2DB5-DA08-46CE-9135-7A01551BE4EA}"/>
              </a:ext>
            </a:extLst>
          </p:cNvPr>
          <p:cNvGrpSpPr/>
          <p:nvPr/>
        </p:nvGrpSpPr>
        <p:grpSpPr>
          <a:xfrm>
            <a:off x="8807842" y="1626059"/>
            <a:ext cx="3447211" cy="3871120"/>
            <a:chOff x="359240" y="2848260"/>
            <a:chExt cx="3447211" cy="3871120"/>
          </a:xfrm>
        </p:grpSpPr>
        <p:grpSp>
          <p:nvGrpSpPr>
            <p:cNvPr id="23" name="组合 22">
              <a:extLst>
                <a:ext uri="{FF2B5EF4-FFF2-40B4-BE49-F238E27FC236}">
                  <a16:creationId xmlns:a16="http://schemas.microsoft.com/office/drawing/2014/main" id="{CCEB4941-D18B-48F5-AC36-B23ECA0FF40A}"/>
                </a:ext>
              </a:extLst>
            </p:cNvPr>
            <p:cNvGrpSpPr/>
            <p:nvPr/>
          </p:nvGrpSpPr>
          <p:grpSpPr>
            <a:xfrm>
              <a:off x="359240" y="2848260"/>
              <a:ext cx="3447211" cy="3871120"/>
              <a:chOff x="224320" y="1378171"/>
              <a:chExt cx="3447211" cy="3871120"/>
            </a:xfrm>
          </p:grpSpPr>
          <p:pic>
            <p:nvPicPr>
              <p:cNvPr id="25" name="图片 24">
                <a:extLst>
                  <a:ext uri="{FF2B5EF4-FFF2-40B4-BE49-F238E27FC236}">
                    <a16:creationId xmlns:a16="http://schemas.microsoft.com/office/drawing/2014/main" id="{1CF2EB17-5354-4326-879B-DD3383279F0A}"/>
                  </a:ext>
                </a:extLst>
              </p:cNvPr>
              <p:cNvPicPr>
                <a:picLocks noChangeAspect="1"/>
              </p:cNvPicPr>
              <p:nvPr/>
            </p:nvPicPr>
            <p:blipFill>
              <a:blip r:embed="rId6"/>
              <a:stretch>
                <a:fillRect/>
              </a:stretch>
            </p:blipFill>
            <p:spPr>
              <a:xfrm>
                <a:off x="285859" y="1378171"/>
                <a:ext cx="2483318" cy="336594"/>
              </a:xfrm>
              <a:prstGeom prst="rect">
                <a:avLst/>
              </a:prstGeom>
            </p:spPr>
          </p:pic>
          <p:grpSp>
            <p:nvGrpSpPr>
              <p:cNvPr id="26" name="组合 25">
                <a:extLst>
                  <a:ext uri="{FF2B5EF4-FFF2-40B4-BE49-F238E27FC236}">
                    <a16:creationId xmlns:a16="http://schemas.microsoft.com/office/drawing/2014/main" id="{C42D0840-60FB-48D6-921C-76653E4086EB}"/>
                  </a:ext>
                </a:extLst>
              </p:cNvPr>
              <p:cNvGrpSpPr/>
              <p:nvPr/>
            </p:nvGrpSpPr>
            <p:grpSpPr>
              <a:xfrm>
                <a:off x="224320" y="3415860"/>
                <a:ext cx="3447211" cy="1833431"/>
                <a:chOff x="2062745" y="3853524"/>
                <a:chExt cx="3447211" cy="1833431"/>
              </a:xfrm>
            </p:grpSpPr>
            <p:pic>
              <p:nvPicPr>
                <p:cNvPr id="28" name="图片 27">
                  <a:extLst>
                    <a:ext uri="{FF2B5EF4-FFF2-40B4-BE49-F238E27FC236}">
                      <a16:creationId xmlns:a16="http://schemas.microsoft.com/office/drawing/2014/main" id="{FF68F7E7-FE71-41F0-8958-9B4E8C6F6830}"/>
                    </a:ext>
                  </a:extLst>
                </p:cNvPr>
                <p:cNvPicPr>
                  <a:picLocks noChangeAspect="1"/>
                </p:cNvPicPr>
                <p:nvPr/>
              </p:nvPicPr>
              <p:blipFill rotWithShape="1">
                <a:blip r:embed="rId7"/>
                <a:srcRect r="10212" b="52795"/>
                <a:stretch/>
              </p:blipFill>
              <p:spPr>
                <a:xfrm>
                  <a:off x="2062745" y="4278440"/>
                  <a:ext cx="3211387" cy="1408515"/>
                </a:xfrm>
                <a:prstGeom prst="rect">
                  <a:avLst/>
                </a:prstGeom>
              </p:spPr>
            </p:pic>
            <p:pic>
              <p:nvPicPr>
                <p:cNvPr id="29" name="图片 28">
                  <a:extLst>
                    <a:ext uri="{FF2B5EF4-FFF2-40B4-BE49-F238E27FC236}">
                      <a16:creationId xmlns:a16="http://schemas.microsoft.com/office/drawing/2014/main" id="{E6478ACD-BC3C-4499-A6A1-9D515E2F3003}"/>
                    </a:ext>
                  </a:extLst>
                </p:cNvPr>
                <p:cNvPicPr>
                  <a:picLocks noChangeAspect="1"/>
                </p:cNvPicPr>
                <p:nvPr/>
              </p:nvPicPr>
              <p:blipFill>
                <a:blip r:embed="rId8"/>
                <a:stretch>
                  <a:fillRect/>
                </a:stretch>
              </p:blipFill>
              <p:spPr>
                <a:xfrm>
                  <a:off x="2192179" y="3853524"/>
                  <a:ext cx="3317777" cy="424916"/>
                </a:xfrm>
                <a:prstGeom prst="rect">
                  <a:avLst/>
                </a:prstGeom>
              </p:spPr>
            </p:pic>
          </p:grpSp>
          <p:sp>
            <p:nvSpPr>
              <p:cNvPr id="27" name="椭圆 26">
                <a:extLst>
                  <a:ext uri="{FF2B5EF4-FFF2-40B4-BE49-F238E27FC236}">
                    <a16:creationId xmlns:a16="http://schemas.microsoft.com/office/drawing/2014/main" id="{889D993E-F3D4-400F-91D5-4F0A08D3FE97}"/>
                  </a:ext>
                </a:extLst>
              </p:cNvPr>
              <p:cNvSpPr/>
              <p:nvPr/>
            </p:nvSpPr>
            <p:spPr>
              <a:xfrm rot="314697">
                <a:off x="317493" y="3797415"/>
                <a:ext cx="1115504" cy="7322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4" name="图片 23">
              <a:extLst>
                <a:ext uri="{FF2B5EF4-FFF2-40B4-BE49-F238E27FC236}">
                  <a16:creationId xmlns:a16="http://schemas.microsoft.com/office/drawing/2014/main" id="{AB0F1C86-B071-43CC-9116-84A8F022ED63}"/>
                </a:ext>
              </a:extLst>
            </p:cNvPr>
            <p:cNvPicPr>
              <a:picLocks noChangeAspect="1"/>
            </p:cNvPicPr>
            <p:nvPr/>
          </p:nvPicPr>
          <p:blipFill>
            <a:blip r:embed="rId9"/>
            <a:stretch>
              <a:fillRect/>
            </a:stretch>
          </p:blipFill>
          <p:spPr>
            <a:xfrm>
              <a:off x="422310" y="3134054"/>
              <a:ext cx="3068530" cy="1797948"/>
            </a:xfrm>
            <a:prstGeom prst="rect">
              <a:avLst/>
            </a:prstGeom>
          </p:spPr>
        </p:pic>
      </p:grpSp>
      <p:sp>
        <p:nvSpPr>
          <p:cNvPr id="30" name="文本框 29">
            <a:extLst>
              <a:ext uri="{FF2B5EF4-FFF2-40B4-BE49-F238E27FC236}">
                <a16:creationId xmlns:a16="http://schemas.microsoft.com/office/drawing/2014/main" id="{69B7AF58-547F-4DFF-B835-BEEA7C6CF4B3}"/>
              </a:ext>
            </a:extLst>
          </p:cNvPr>
          <p:cNvSpPr txBox="1"/>
          <p:nvPr/>
        </p:nvSpPr>
        <p:spPr>
          <a:xfrm>
            <a:off x="9708619" y="5706765"/>
            <a:ext cx="2387751" cy="338554"/>
          </a:xfrm>
          <a:prstGeom prst="rect">
            <a:avLst/>
          </a:prstGeom>
          <a:noFill/>
        </p:spPr>
        <p:txBody>
          <a:bodyPr wrap="square">
            <a:spAutoFit/>
          </a:bodyPr>
          <a:lstStyle>
            <a:defPPr>
              <a:defRPr lang="zh-CN"/>
            </a:defPPr>
            <a:lvl1pPr>
              <a:defRPr sz="1600">
                <a:latin typeface="Arial" panose="020B0604020202020204" pitchFamily="34" charset="0"/>
                <a:cs typeface="Arial" panose="020B0604020202020204" pitchFamily="34" charset="0"/>
              </a:defRPr>
            </a:lvl1pPr>
          </a:lstStyle>
          <a:p>
            <a:r>
              <a:rPr lang="zh-CN" altLang="en-US" b="1" dirty="0"/>
              <a:t>相似骨架化合物：</a:t>
            </a:r>
            <a:r>
              <a:rPr lang="en-US" altLang="zh-CN" b="1" dirty="0"/>
              <a:t>707</a:t>
            </a:r>
            <a:r>
              <a:rPr lang="zh-CN" altLang="en-US" b="1" dirty="0"/>
              <a:t>个</a:t>
            </a:r>
          </a:p>
        </p:txBody>
      </p:sp>
      <p:sp>
        <p:nvSpPr>
          <p:cNvPr id="5" name="文本框 4">
            <a:extLst>
              <a:ext uri="{FF2B5EF4-FFF2-40B4-BE49-F238E27FC236}">
                <a16:creationId xmlns:a16="http://schemas.microsoft.com/office/drawing/2014/main" id="{E0F669F4-CC76-4602-865E-3BC323CAA77A}"/>
              </a:ext>
            </a:extLst>
          </p:cNvPr>
          <p:cNvSpPr txBox="1"/>
          <p:nvPr/>
        </p:nvSpPr>
        <p:spPr>
          <a:xfrm>
            <a:off x="21893" y="901822"/>
            <a:ext cx="2570576" cy="3043525"/>
          </a:xfrm>
          <a:prstGeom prst="rect">
            <a:avLst/>
          </a:prstGeom>
          <a:noFill/>
        </p:spPr>
        <p:txBody>
          <a:bodyPr wrap="square" rtlCol="0">
            <a:spAutoFit/>
          </a:bodyPr>
          <a:lstStyle>
            <a:defPPr>
              <a:defRPr lang="zh-CN"/>
            </a:defPPr>
            <a:lvl1pPr marL="285750" indent="-285750" algn="just">
              <a:lnSpc>
                <a:spcPct val="200000"/>
              </a:lnSpc>
              <a:buClr>
                <a:srgbClr val="0404FF"/>
              </a:buClr>
              <a:buFont typeface="Wingdings" panose="05000000000000000000" pitchFamily="2" charset="2"/>
              <a:buChar char="Ø"/>
              <a:defRPr sz="1400">
                <a:latin typeface="微软雅黑" panose="020B0503020204020204" pitchFamily="34" charset="-122"/>
                <a:ea typeface="微软雅黑" panose="020B0503020204020204" pitchFamily="34" charset="-122"/>
              </a:defRPr>
            </a:lvl1pPr>
          </a:lstStyle>
          <a:p>
            <a:r>
              <a:rPr lang="zh-CN" altLang="en-US" b="1" dirty="0"/>
              <a:t>小分子化学空间大，仅根据经验改造无法充分挖掘化学空间</a:t>
            </a:r>
            <a:endParaRPr lang="en-US" altLang="zh-CN" b="1" dirty="0"/>
          </a:p>
          <a:p>
            <a:r>
              <a:rPr lang="zh-CN" altLang="en-US" b="1" dirty="0"/>
              <a:t>传统化合物改造需要一定的化合物改造先验经验</a:t>
            </a:r>
            <a:endParaRPr lang="en-US" altLang="zh-CN" b="1" dirty="0"/>
          </a:p>
          <a:p>
            <a:r>
              <a:rPr lang="zh-CN" altLang="en-US" b="1" dirty="0"/>
              <a:t>目前尚未有专门针对</a:t>
            </a:r>
            <a:r>
              <a:rPr lang="en-US" altLang="zh-CN" b="1" dirty="0"/>
              <a:t>FEP</a:t>
            </a:r>
            <a:r>
              <a:rPr lang="zh-CN" altLang="en-US" b="1" dirty="0"/>
              <a:t>计算的小分子推荐方法</a:t>
            </a:r>
            <a:endParaRPr lang="en-US" altLang="zh-CN" b="1" dirty="0"/>
          </a:p>
        </p:txBody>
      </p:sp>
      <p:sp>
        <p:nvSpPr>
          <p:cNvPr id="31" name="文本框 30">
            <a:extLst>
              <a:ext uri="{FF2B5EF4-FFF2-40B4-BE49-F238E27FC236}">
                <a16:creationId xmlns:a16="http://schemas.microsoft.com/office/drawing/2014/main" id="{52FD29AC-7F9C-4CEF-BA9E-70A7703EAE61}"/>
              </a:ext>
            </a:extLst>
          </p:cNvPr>
          <p:cNvSpPr txBox="1"/>
          <p:nvPr/>
        </p:nvSpPr>
        <p:spPr>
          <a:xfrm>
            <a:off x="69129" y="4605486"/>
            <a:ext cx="2147742" cy="1750864"/>
          </a:xfrm>
          <a:prstGeom prst="rect">
            <a:avLst/>
          </a:prstGeom>
          <a:noFill/>
        </p:spPr>
        <p:txBody>
          <a:bodyPr wrap="square" rtlCol="0">
            <a:spAutoFit/>
          </a:bodyPr>
          <a:lstStyle>
            <a:defPPr>
              <a:defRPr lang="zh-CN"/>
            </a:defPPr>
            <a:lvl1pPr marL="285750" indent="-285750" algn="just">
              <a:lnSpc>
                <a:spcPct val="200000"/>
              </a:lnSpc>
              <a:buClr>
                <a:srgbClr val="0404FF"/>
              </a:buClr>
              <a:buFont typeface="Wingdings" panose="05000000000000000000" pitchFamily="2" charset="2"/>
              <a:buChar char="Ø"/>
              <a:defRPr sz="1400">
                <a:latin typeface="微软雅黑" panose="020B0503020204020204" pitchFamily="34" charset="-122"/>
                <a:ea typeface="微软雅黑" panose="020B0503020204020204" pitchFamily="34" charset="-122"/>
              </a:defRPr>
            </a:lvl1pPr>
          </a:lstStyle>
          <a:p>
            <a:r>
              <a:rPr lang="zh-CN" altLang="en-US" b="1" dirty="0"/>
              <a:t>利用已有的</a:t>
            </a:r>
            <a:r>
              <a:rPr lang="en-US" altLang="zh-CN" b="1" dirty="0"/>
              <a:t>3CL</a:t>
            </a:r>
            <a:r>
              <a:rPr lang="zh-CN" altLang="en-US" b="1" dirty="0"/>
              <a:t>活性数据以及</a:t>
            </a:r>
            <a:r>
              <a:rPr lang="en-US" altLang="zh-CN" b="1" dirty="0"/>
              <a:t>FEP</a:t>
            </a:r>
            <a:r>
              <a:rPr lang="zh-CN" altLang="en-US" b="1" dirty="0"/>
              <a:t>计算数据设计一套小分子优化策略</a:t>
            </a:r>
            <a:endParaRPr lang="en-US" altLang="zh-CN" b="1" dirty="0"/>
          </a:p>
        </p:txBody>
      </p:sp>
      <p:sp>
        <p:nvSpPr>
          <p:cNvPr id="6" name="箭头: 下 5">
            <a:extLst>
              <a:ext uri="{FF2B5EF4-FFF2-40B4-BE49-F238E27FC236}">
                <a16:creationId xmlns:a16="http://schemas.microsoft.com/office/drawing/2014/main" id="{BB8DEF98-0EA1-4CFF-9A56-760FC5042D21}"/>
              </a:ext>
            </a:extLst>
          </p:cNvPr>
          <p:cNvSpPr/>
          <p:nvPr/>
        </p:nvSpPr>
        <p:spPr>
          <a:xfrm>
            <a:off x="1239174" y="4154436"/>
            <a:ext cx="136013" cy="3906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63663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图片 75">
            <a:extLst>
              <a:ext uri="{FF2B5EF4-FFF2-40B4-BE49-F238E27FC236}">
                <a16:creationId xmlns:a16="http://schemas.microsoft.com/office/drawing/2014/main" id="{A563FF06-26EF-4CD5-8FAE-3F996F969781}"/>
              </a:ext>
            </a:extLst>
          </p:cNvPr>
          <p:cNvPicPr>
            <a:picLocks noChangeAspect="1"/>
          </p:cNvPicPr>
          <p:nvPr/>
        </p:nvPicPr>
        <p:blipFill>
          <a:blip r:embed="rId2"/>
          <a:stretch>
            <a:fillRect/>
          </a:stretch>
        </p:blipFill>
        <p:spPr>
          <a:xfrm>
            <a:off x="9619493" y="2251840"/>
            <a:ext cx="2072733" cy="888669"/>
          </a:xfrm>
          <a:prstGeom prst="rect">
            <a:avLst/>
          </a:prstGeom>
        </p:spPr>
      </p:pic>
      <p:sp>
        <p:nvSpPr>
          <p:cNvPr id="2" name="灯片编号占位符 1">
            <a:extLst>
              <a:ext uri="{FF2B5EF4-FFF2-40B4-BE49-F238E27FC236}">
                <a16:creationId xmlns:a16="http://schemas.microsoft.com/office/drawing/2014/main" id="{30E07C5C-CA84-40B0-88BE-DB3729269964}"/>
              </a:ext>
            </a:extLst>
          </p:cNvPr>
          <p:cNvSpPr>
            <a:spLocks noGrp="1"/>
          </p:cNvSpPr>
          <p:nvPr>
            <p:ph type="sldNum" sz="quarter" idx="12"/>
          </p:nvPr>
        </p:nvSpPr>
        <p:spPr/>
        <p:txBody>
          <a:bodyPr/>
          <a:lstStyle/>
          <a:p>
            <a:fld id="{2F0485D5-9E03-4020-B25B-C8A61AD6A676}" type="slidenum">
              <a:rPr lang="zh-CN" altLang="en-US" smtClean="0"/>
              <a:t>20</a:t>
            </a:fld>
            <a:endParaRPr lang="zh-CN" altLang="en-US"/>
          </a:p>
        </p:txBody>
      </p:sp>
      <p:sp>
        <p:nvSpPr>
          <p:cNvPr id="3" name="文本框 11">
            <a:extLst>
              <a:ext uri="{FF2B5EF4-FFF2-40B4-BE49-F238E27FC236}">
                <a16:creationId xmlns:a16="http://schemas.microsoft.com/office/drawing/2014/main" id="{F1E85D3A-3D40-4038-94FA-8873ED0F71DC}"/>
              </a:ext>
            </a:extLst>
          </p:cNvPr>
          <p:cNvSpPr txBox="1"/>
          <p:nvPr/>
        </p:nvSpPr>
        <p:spPr>
          <a:xfrm>
            <a:off x="1143000" y="84970"/>
            <a:ext cx="1909293"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Method</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
        <p:nvSpPr>
          <p:cNvPr id="43" name="矩形: 圆角 42">
            <a:extLst>
              <a:ext uri="{FF2B5EF4-FFF2-40B4-BE49-F238E27FC236}">
                <a16:creationId xmlns:a16="http://schemas.microsoft.com/office/drawing/2014/main" id="{356C065E-DA41-43BE-B417-4CF0AFC6A219}"/>
              </a:ext>
            </a:extLst>
          </p:cNvPr>
          <p:cNvSpPr/>
          <p:nvPr/>
        </p:nvSpPr>
        <p:spPr>
          <a:xfrm>
            <a:off x="2267948" y="869853"/>
            <a:ext cx="3828052"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id="{F1B9AB70-9DFA-48AF-8644-BF48D2227516}"/>
              </a:ext>
            </a:extLst>
          </p:cNvPr>
          <p:cNvSpPr/>
          <p:nvPr/>
        </p:nvSpPr>
        <p:spPr>
          <a:xfrm>
            <a:off x="2717087" y="896690"/>
            <a:ext cx="2888208" cy="606320"/>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与待优化小分子结合模式相似，结构相似的活性化合物集</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箭头: 下 5">
            <a:extLst>
              <a:ext uri="{FF2B5EF4-FFF2-40B4-BE49-F238E27FC236}">
                <a16:creationId xmlns:a16="http://schemas.microsoft.com/office/drawing/2014/main" id="{4B80B195-85FC-4DE0-B65C-718D0774422D}"/>
              </a:ext>
            </a:extLst>
          </p:cNvPr>
          <p:cNvSpPr/>
          <p:nvPr/>
        </p:nvSpPr>
        <p:spPr>
          <a:xfrm>
            <a:off x="4101618" y="1545147"/>
            <a:ext cx="108000" cy="288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圆角 55">
            <a:extLst>
              <a:ext uri="{FF2B5EF4-FFF2-40B4-BE49-F238E27FC236}">
                <a16:creationId xmlns:a16="http://schemas.microsoft.com/office/drawing/2014/main" id="{EE65CCDB-0C95-4178-B2C9-0136095939C8}"/>
              </a:ext>
            </a:extLst>
          </p:cNvPr>
          <p:cNvSpPr/>
          <p:nvPr/>
        </p:nvSpPr>
        <p:spPr>
          <a:xfrm>
            <a:off x="2751033" y="1840398"/>
            <a:ext cx="2846642"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矩形 56">
            <a:extLst>
              <a:ext uri="{FF2B5EF4-FFF2-40B4-BE49-F238E27FC236}">
                <a16:creationId xmlns:a16="http://schemas.microsoft.com/office/drawing/2014/main" id="{C4983379-9626-4762-88F1-A04FD5918C93}"/>
              </a:ext>
            </a:extLst>
          </p:cNvPr>
          <p:cNvSpPr/>
          <p:nvPr/>
        </p:nvSpPr>
        <p:spPr>
          <a:xfrm>
            <a:off x="2709467" y="1867235"/>
            <a:ext cx="2888208" cy="606320"/>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预测化合物 </a:t>
            </a: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pair Δ ΔG</a:t>
            </a:r>
          </a:p>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的机器学习模型</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8" name="直接箭头连接符 57">
            <a:extLst>
              <a:ext uri="{FF2B5EF4-FFF2-40B4-BE49-F238E27FC236}">
                <a16:creationId xmlns:a16="http://schemas.microsoft.com/office/drawing/2014/main" id="{D050A905-AD00-4363-949F-F6174AA47FCA}"/>
              </a:ext>
            </a:extLst>
          </p:cNvPr>
          <p:cNvCxnSpPr>
            <a:cxnSpLocks/>
          </p:cNvCxnSpPr>
          <p:nvPr/>
        </p:nvCxnSpPr>
        <p:spPr>
          <a:xfrm flipH="1">
            <a:off x="2031196" y="1661348"/>
            <a:ext cx="2097271" cy="11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6441EAE7-7849-41D5-8757-9965C8BC5C13}"/>
              </a:ext>
            </a:extLst>
          </p:cNvPr>
          <p:cNvSpPr/>
          <p:nvPr/>
        </p:nvSpPr>
        <p:spPr>
          <a:xfrm>
            <a:off x="218639" y="986448"/>
            <a:ext cx="1955087" cy="1346907"/>
          </a:xfrm>
          <a:prstGeom prst="rect">
            <a:avLst/>
          </a:prstGeom>
          <a:noFill/>
        </p:spPr>
        <p:txBody>
          <a:bodyPr wrap="square">
            <a:spAutoFit/>
          </a:bodyPr>
          <a:lstStyle/>
          <a:p>
            <a:pPr>
              <a:lnSpc>
                <a:spcPct val="150000"/>
              </a:lnSpc>
            </a:pP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机器学习</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a:t>
            </a:r>
          </a:p>
          <a:p>
            <a:pPr>
              <a:lnSpc>
                <a:spcPct val="150000"/>
              </a:lnSpc>
            </a:pP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(mol1, mol2, Δ </a:t>
            </a:r>
            <a:r>
              <a:rPr lang="en-US" altLang="zh-CN" sz="1400" b="1" dirty="0" err="1">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Δ</a:t>
            </a: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G)</a:t>
            </a:r>
          </a:p>
          <a:p>
            <a:pPr>
              <a:lnSpc>
                <a:spcPct val="150000"/>
              </a:lnSpc>
            </a:pP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MPNN</a:t>
            </a:r>
          </a:p>
          <a:p>
            <a:pPr>
              <a:lnSpc>
                <a:spcPct val="150000"/>
              </a:lnSpc>
            </a:pP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FEPMolOpt.py</a:t>
            </a:r>
          </a:p>
        </p:txBody>
      </p:sp>
      <p:sp>
        <p:nvSpPr>
          <p:cNvPr id="62" name="矩形: 圆角 61">
            <a:extLst>
              <a:ext uri="{FF2B5EF4-FFF2-40B4-BE49-F238E27FC236}">
                <a16:creationId xmlns:a16="http://schemas.microsoft.com/office/drawing/2014/main" id="{848F23EC-3B94-4C46-8D0C-6E361E18F11A}"/>
              </a:ext>
            </a:extLst>
          </p:cNvPr>
          <p:cNvSpPr/>
          <p:nvPr/>
        </p:nvSpPr>
        <p:spPr>
          <a:xfrm>
            <a:off x="7136433" y="1513674"/>
            <a:ext cx="1801132"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矩形 62">
            <a:extLst>
              <a:ext uri="{FF2B5EF4-FFF2-40B4-BE49-F238E27FC236}">
                <a16:creationId xmlns:a16="http://schemas.microsoft.com/office/drawing/2014/main" id="{5E06BB40-79BC-4CC6-AF97-104B953E29A3}"/>
              </a:ext>
            </a:extLst>
          </p:cNvPr>
          <p:cNvSpPr/>
          <p:nvPr/>
        </p:nvSpPr>
        <p:spPr>
          <a:xfrm>
            <a:off x="6572112" y="1670051"/>
            <a:ext cx="2888208" cy="337015"/>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待优化小分子</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箭头: 下 63">
            <a:extLst>
              <a:ext uri="{FF2B5EF4-FFF2-40B4-BE49-F238E27FC236}">
                <a16:creationId xmlns:a16="http://schemas.microsoft.com/office/drawing/2014/main" id="{A24DFE2B-86DC-45AD-B893-AAC4809CE4B5}"/>
              </a:ext>
            </a:extLst>
          </p:cNvPr>
          <p:cNvSpPr/>
          <p:nvPr/>
        </p:nvSpPr>
        <p:spPr>
          <a:xfrm>
            <a:off x="7956643" y="2188968"/>
            <a:ext cx="108000" cy="288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a:extLst>
              <a:ext uri="{FF2B5EF4-FFF2-40B4-BE49-F238E27FC236}">
                <a16:creationId xmlns:a16="http://schemas.microsoft.com/office/drawing/2014/main" id="{C11C9F96-9104-453E-8EFA-BA2D384BBF02}"/>
              </a:ext>
            </a:extLst>
          </p:cNvPr>
          <p:cNvSpPr/>
          <p:nvPr/>
        </p:nvSpPr>
        <p:spPr>
          <a:xfrm>
            <a:off x="6606058" y="2484219"/>
            <a:ext cx="2846642"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矩形 65">
            <a:extLst>
              <a:ext uri="{FF2B5EF4-FFF2-40B4-BE49-F238E27FC236}">
                <a16:creationId xmlns:a16="http://schemas.microsoft.com/office/drawing/2014/main" id="{457C0DE5-C019-4E5D-A034-43FFF5B3B110}"/>
              </a:ext>
            </a:extLst>
          </p:cNvPr>
          <p:cNvSpPr/>
          <p:nvPr/>
        </p:nvSpPr>
        <p:spPr>
          <a:xfrm>
            <a:off x="6564492" y="2511056"/>
            <a:ext cx="2888208" cy="606320"/>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组装成相似的适合进行</a:t>
            </a: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FEP</a:t>
            </a: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新化合物</a:t>
            </a:r>
          </a:p>
        </p:txBody>
      </p:sp>
      <p:cxnSp>
        <p:nvCxnSpPr>
          <p:cNvPr id="67" name="直接箭头连接符 66">
            <a:extLst>
              <a:ext uri="{FF2B5EF4-FFF2-40B4-BE49-F238E27FC236}">
                <a16:creationId xmlns:a16="http://schemas.microsoft.com/office/drawing/2014/main" id="{6B5C9A69-95A3-474F-9994-D24587578ADC}"/>
              </a:ext>
            </a:extLst>
          </p:cNvPr>
          <p:cNvCxnSpPr>
            <a:cxnSpLocks/>
          </p:cNvCxnSpPr>
          <p:nvPr/>
        </p:nvCxnSpPr>
        <p:spPr>
          <a:xfrm flipV="1">
            <a:off x="8044963" y="2308091"/>
            <a:ext cx="1621007" cy="88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902B419E-2AE3-47B5-AF1D-C9FE6E16FBB9}"/>
              </a:ext>
            </a:extLst>
          </p:cNvPr>
          <p:cNvSpPr/>
          <p:nvPr/>
        </p:nvSpPr>
        <p:spPr>
          <a:xfrm>
            <a:off x="9824382" y="1425160"/>
            <a:ext cx="1577098" cy="700576"/>
          </a:xfrm>
          <a:prstGeom prst="rect">
            <a:avLst/>
          </a:prstGeom>
          <a:noFill/>
        </p:spPr>
        <p:txBody>
          <a:bodyPr wrap="square">
            <a:spAutoFit/>
          </a:bodyPr>
          <a:lstStyle/>
          <a:p>
            <a:pPr>
              <a:lnSpc>
                <a:spcPct val="150000"/>
              </a:lnSpc>
            </a:pP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基团替换组装</a:t>
            </a:r>
            <a:endPar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a:p>
            <a:pPr>
              <a:lnSpc>
                <a:spcPct val="150000"/>
              </a:lnSpc>
            </a:pP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FEPMolGen.py</a:t>
            </a:r>
          </a:p>
        </p:txBody>
      </p:sp>
      <p:sp>
        <p:nvSpPr>
          <p:cNvPr id="77" name="箭头: 下 76">
            <a:extLst>
              <a:ext uri="{FF2B5EF4-FFF2-40B4-BE49-F238E27FC236}">
                <a16:creationId xmlns:a16="http://schemas.microsoft.com/office/drawing/2014/main" id="{BEB12B2B-6AA4-4D9C-9ADB-89EFFD2D1F6F}"/>
              </a:ext>
            </a:extLst>
          </p:cNvPr>
          <p:cNvSpPr/>
          <p:nvPr/>
        </p:nvSpPr>
        <p:spPr>
          <a:xfrm rot="7634714">
            <a:off x="6047912" y="1844767"/>
            <a:ext cx="108000" cy="1260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箭头: 下 77">
            <a:extLst>
              <a:ext uri="{FF2B5EF4-FFF2-40B4-BE49-F238E27FC236}">
                <a16:creationId xmlns:a16="http://schemas.microsoft.com/office/drawing/2014/main" id="{35F7F731-D57A-416D-8677-1C5E1F6B4E77}"/>
              </a:ext>
            </a:extLst>
          </p:cNvPr>
          <p:cNvSpPr/>
          <p:nvPr/>
        </p:nvSpPr>
        <p:spPr>
          <a:xfrm>
            <a:off x="4099571" y="2515305"/>
            <a:ext cx="108000" cy="288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a:extLst>
              <a:ext uri="{FF2B5EF4-FFF2-40B4-BE49-F238E27FC236}">
                <a16:creationId xmlns:a16="http://schemas.microsoft.com/office/drawing/2014/main" id="{C9BAEA20-4C0A-47E2-9920-459DA3AC15EF}"/>
              </a:ext>
            </a:extLst>
          </p:cNvPr>
          <p:cNvSpPr/>
          <p:nvPr/>
        </p:nvSpPr>
        <p:spPr>
          <a:xfrm>
            <a:off x="3122278" y="2805936"/>
            <a:ext cx="2072984"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a:extLst>
              <a:ext uri="{FF2B5EF4-FFF2-40B4-BE49-F238E27FC236}">
                <a16:creationId xmlns:a16="http://schemas.microsoft.com/office/drawing/2014/main" id="{C3611E6C-58BA-45B4-A9ED-9A2D904DFD78}"/>
              </a:ext>
            </a:extLst>
          </p:cNvPr>
          <p:cNvSpPr/>
          <p:nvPr/>
        </p:nvSpPr>
        <p:spPr>
          <a:xfrm>
            <a:off x="3547173" y="2838488"/>
            <a:ext cx="1276878" cy="606320"/>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模型推荐的新化合物</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2" name="箭头: 下 81">
            <a:extLst>
              <a:ext uri="{FF2B5EF4-FFF2-40B4-BE49-F238E27FC236}">
                <a16:creationId xmlns:a16="http://schemas.microsoft.com/office/drawing/2014/main" id="{96AA5A00-B872-49FC-9DB3-6C96F69405FC}"/>
              </a:ext>
            </a:extLst>
          </p:cNvPr>
          <p:cNvSpPr/>
          <p:nvPr/>
        </p:nvSpPr>
        <p:spPr>
          <a:xfrm>
            <a:off x="4120354" y="3480227"/>
            <a:ext cx="108000" cy="2736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a:extLst>
              <a:ext uri="{FF2B5EF4-FFF2-40B4-BE49-F238E27FC236}">
                <a16:creationId xmlns:a16="http://schemas.microsoft.com/office/drawing/2014/main" id="{30241469-97E7-409D-BC6B-4F256CA84153}"/>
              </a:ext>
            </a:extLst>
          </p:cNvPr>
          <p:cNvSpPr/>
          <p:nvPr/>
        </p:nvSpPr>
        <p:spPr>
          <a:xfrm>
            <a:off x="3130227" y="3766956"/>
            <a:ext cx="2072984" cy="6749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矩形 83">
            <a:extLst>
              <a:ext uri="{FF2B5EF4-FFF2-40B4-BE49-F238E27FC236}">
                <a16:creationId xmlns:a16="http://schemas.microsoft.com/office/drawing/2014/main" id="{31BA1306-9199-4F38-AC0D-3ED698C9BF5F}"/>
              </a:ext>
            </a:extLst>
          </p:cNvPr>
          <p:cNvSpPr/>
          <p:nvPr/>
        </p:nvSpPr>
        <p:spPr>
          <a:xfrm>
            <a:off x="3555122" y="3932858"/>
            <a:ext cx="1276878" cy="337015"/>
          </a:xfrm>
          <a:prstGeom prst="rect">
            <a:avLst/>
          </a:prstGeom>
          <a:ln w="19050">
            <a:noFill/>
          </a:ln>
        </p:spPr>
        <p:txBody>
          <a:bodyPr wrap="square">
            <a:spAutoFit/>
          </a:bodyPr>
          <a:lstStyle/>
          <a:p>
            <a:pPr algn="ctr">
              <a:lnSpc>
                <a:spcPct val="125000"/>
              </a:lnSpc>
            </a:pP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FEP</a:t>
            </a:r>
          </a:p>
        </p:txBody>
      </p:sp>
      <p:cxnSp>
        <p:nvCxnSpPr>
          <p:cNvPr id="85" name="直接箭头连接符 84">
            <a:extLst>
              <a:ext uri="{FF2B5EF4-FFF2-40B4-BE49-F238E27FC236}">
                <a16:creationId xmlns:a16="http://schemas.microsoft.com/office/drawing/2014/main" id="{762627B9-50D8-445D-AE05-944D7DCB4A5A}"/>
              </a:ext>
            </a:extLst>
          </p:cNvPr>
          <p:cNvCxnSpPr>
            <a:cxnSpLocks/>
          </p:cNvCxnSpPr>
          <p:nvPr/>
        </p:nvCxnSpPr>
        <p:spPr>
          <a:xfrm flipH="1">
            <a:off x="2190914" y="4075274"/>
            <a:ext cx="93931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C04E128B-2FB6-4217-A6D1-764B317AC3D8}"/>
              </a:ext>
            </a:extLst>
          </p:cNvPr>
          <p:cNvSpPr/>
          <p:nvPr/>
        </p:nvSpPr>
        <p:spPr>
          <a:xfrm>
            <a:off x="638135" y="3693535"/>
            <a:ext cx="1734327" cy="700576"/>
          </a:xfrm>
          <a:prstGeom prst="rect">
            <a:avLst/>
          </a:prstGeom>
          <a:noFill/>
        </p:spPr>
        <p:txBody>
          <a:bodyPr wrap="square">
            <a:spAutoFit/>
          </a:bodyPr>
          <a:lstStyle/>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FEP (NAMD)</a:t>
            </a:r>
          </a:p>
          <a:p>
            <a:pPr>
              <a:lnSpc>
                <a:spcPct val="150000"/>
              </a:lnSpc>
            </a:pPr>
            <a:r>
              <a:rPr lang="en-US" altLang="zh-CN" sz="1400" b="1" dirty="0">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FEPMolSetup.py</a:t>
            </a:r>
          </a:p>
        </p:txBody>
      </p:sp>
      <p:sp>
        <p:nvSpPr>
          <p:cNvPr id="89" name="箭头: 下 88">
            <a:extLst>
              <a:ext uri="{FF2B5EF4-FFF2-40B4-BE49-F238E27FC236}">
                <a16:creationId xmlns:a16="http://schemas.microsoft.com/office/drawing/2014/main" id="{4D53A092-3C47-419B-95A5-73037DA625C9}"/>
              </a:ext>
            </a:extLst>
          </p:cNvPr>
          <p:cNvSpPr/>
          <p:nvPr/>
        </p:nvSpPr>
        <p:spPr>
          <a:xfrm>
            <a:off x="4130850" y="4443715"/>
            <a:ext cx="108000" cy="288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流程图: 决策 89">
            <a:extLst>
              <a:ext uri="{FF2B5EF4-FFF2-40B4-BE49-F238E27FC236}">
                <a16:creationId xmlns:a16="http://schemas.microsoft.com/office/drawing/2014/main" id="{99E8BD37-CF7B-4C22-BC86-EC689C7BD396}"/>
              </a:ext>
            </a:extLst>
          </p:cNvPr>
          <p:cNvSpPr/>
          <p:nvPr/>
        </p:nvSpPr>
        <p:spPr>
          <a:xfrm>
            <a:off x="2717087" y="4740252"/>
            <a:ext cx="2935526" cy="802435"/>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88004631-6F99-4EA6-AD7B-06E396ABCE34}"/>
              </a:ext>
            </a:extLst>
          </p:cNvPr>
          <p:cNvSpPr/>
          <p:nvPr/>
        </p:nvSpPr>
        <p:spPr>
          <a:xfrm>
            <a:off x="3531007" y="4956618"/>
            <a:ext cx="1325107" cy="337015"/>
          </a:xfrm>
          <a:prstGeom prst="rect">
            <a:avLst/>
          </a:prstGeom>
          <a:ln w="19050">
            <a:noFill/>
          </a:ln>
        </p:spPr>
        <p:txBody>
          <a:bodyPr wrap="square">
            <a:spAutoFit/>
          </a:bodyPr>
          <a:lstStyle/>
          <a:p>
            <a:pPr algn="ctr">
              <a:lnSpc>
                <a:spcPct val="125000"/>
              </a:lnSpc>
            </a:pP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Δ </a:t>
            </a:r>
            <a:r>
              <a:rPr lang="en-US" altLang="zh-CN" sz="1400" b="1" dirty="0" err="1">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Δ</a:t>
            </a: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 G &lt; 0 </a:t>
            </a: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92" name="箭头: 下 91">
            <a:extLst>
              <a:ext uri="{FF2B5EF4-FFF2-40B4-BE49-F238E27FC236}">
                <a16:creationId xmlns:a16="http://schemas.microsoft.com/office/drawing/2014/main" id="{65213860-BDD1-47B8-9A1B-E3DAE9156276}"/>
              </a:ext>
            </a:extLst>
          </p:cNvPr>
          <p:cNvSpPr/>
          <p:nvPr/>
        </p:nvSpPr>
        <p:spPr>
          <a:xfrm rot="5400000">
            <a:off x="2148933" y="4653348"/>
            <a:ext cx="108000" cy="972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a:extLst>
              <a:ext uri="{FF2B5EF4-FFF2-40B4-BE49-F238E27FC236}">
                <a16:creationId xmlns:a16="http://schemas.microsoft.com/office/drawing/2014/main" id="{F9974F07-B6DD-4F38-ACE6-EADC8B40CA46}"/>
              </a:ext>
            </a:extLst>
          </p:cNvPr>
          <p:cNvSpPr/>
          <p:nvPr/>
        </p:nvSpPr>
        <p:spPr>
          <a:xfrm>
            <a:off x="1956184" y="4814615"/>
            <a:ext cx="596046" cy="276999"/>
          </a:xfrm>
          <a:prstGeom prst="rect">
            <a:avLst/>
          </a:prstGeom>
          <a:ln w="19050">
            <a:noFill/>
          </a:ln>
        </p:spPr>
        <p:txBody>
          <a:bodyPr wrap="square">
            <a:spAutoFit/>
          </a:bodyPr>
          <a:lstStyle/>
          <a:p>
            <a:pPr algn="ctr">
              <a:lnSpc>
                <a:spcPct val="125000"/>
              </a:lnSpc>
            </a:pP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No</a:t>
            </a:r>
          </a:p>
        </p:txBody>
      </p:sp>
      <p:sp>
        <p:nvSpPr>
          <p:cNvPr id="94" name="矩形 93">
            <a:extLst>
              <a:ext uri="{FF2B5EF4-FFF2-40B4-BE49-F238E27FC236}">
                <a16:creationId xmlns:a16="http://schemas.microsoft.com/office/drawing/2014/main" id="{1AEB5B20-75D5-4495-B27D-90FCA9364969}"/>
              </a:ext>
            </a:extLst>
          </p:cNvPr>
          <p:cNvSpPr/>
          <p:nvPr/>
        </p:nvSpPr>
        <p:spPr>
          <a:xfrm>
            <a:off x="638135" y="4944916"/>
            <a:ext cx="1116094" cy="338554"/>
          </a:xfrm>
          <a:prstGeom prst="rect">
            <a:avLst/>
          </a:prstGeom>
          <a:ln w="19050">
            <a:noFill/>
          </a:ln>
        </p:spPr>
        <p:txBody>
          <a:bodyPr wrap="square">
            <a:spAutoFit/>
          </a:bodyPr>
          <a:lstStyle/>
          <a:p>
            <a:pPr algn="ctr">
              <a:lnSpc>
                <a:spcPct val="125000"/>
              </a:lnSpc>
            </a:pP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Removed</a:t>
            </a:r>
          </a:p>
        </p:txBody>
      </p:sp>
      <p:sp>
        <p:nvSpPr>
          <p:cNvPr id="95" name="箭头: 下 94">
            <a:extLst>
              <a:ext uri="{FF2B5EF4-FFF2-40B4-BE49-F238E27FC236}">
                <a16:creationId xmlns:a16="http://schemas.microsoft.com/office/drawing/2014/main" id="{D8FE1FFE-24B0-4167-9159-AFC0B9965E2B}"/>
              </a:ext>
            </a:extLst>
          </p:cNvPr>
          <p:cNvSpPr/>
          <p:nvPr/>
        </p:nvSpPr>
        <p:spPr>
          <a:xfrm>
            <a:off x="4130850" y="5550694"/>
            <a:ext cx="108000" cy="288000"/>
          </a:xfrm>
          <a:prstGeom prst="down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991065C2-3367-4BC4-88F2-52CD0C84DF23}"/>
              </a:ext>
            </a:extLst>
          </p:cNvPr>
          <p:cNvSpPr/>
          <p:nvPr/>
        </p:nvSpPr>
        <p:spPr>
          <a:xfrm>
            <a:off x="4120354" y="5500539"/>
            <a:ext cx="596046" cy="337015"/>
          </a:xfrm>
          <a:prstGeom prst="rect">
            <a:avLst/>
          </a:prstGeom>
          <a:ln w="19050">
            <a:noFill/>
          </a:ln>
        </p:spPr>
        <p:txBody>
          <a:bodyPr wrap="square">
            <a:spAutoFit/>
          </a:bodyPr>
          <a:lstStyle/>
          <a:p>
            <a:pPr algn="ctr">
              <a:lnSpc>
                <a:spcPct val="125000"/>
              </a:lnSpc>
            </a:pPr>
            <a:r>
              <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Yes</a:t>
            </a:r>
          </a:p>
        </p:txBody>
      </p:sp>
      <p:grpSp>
        <p:nvGrpSpPr>
          <p:cNvPr id="97" name="组合 96">
            <a:extLst>
              <a:ext uri="{FF2B5EF4-FFF2-40B4-BE49-F238E27FC236}">
                <a16:creationId xmlns:a16="http://schemas.microsoft.com/office/drawing/2014/main" id="{CE7A9BCA-6B98-436A-8045-835E3EFCEC99}"/>
              </a:ext>
            </a:extLst>
          </p:cNvPr>
          <p:cNvGrpSpPr/>
          <p:nvPr/>
        </p:nvGrpSpPr>
        <p:grpSpPr>
          <a:xfrm>
            <a:off x="2656677" y="5852112"/>
            <a:ext cx="3056346" cy="628651"/>
            <a:chOff x="3243977" y="887720"/>
            <a:chExt cx="2104594" cy="411689"/>
          </a:xfrm>
        </p:grpSpPr>
        <p:sp>
          <p:nvSpPr>
            <p:cNvPr id="98" name="矩形 97">
              <a:extLst>
                <a:ext uri="{FF2B5EF4-FFF2-40B4-BE49-F238E27FC236}">
                  <a16:creationId xmlns:a16="http://schemas.microsoft.com/office/drawing/2014/main" id="{BBD8D68F-DACB-41B5-B917-617EFF6B4248}"/>
                </a:ext>
              </a:extLst>
            </p:cNvPr>
            <p:cNvSpPr/>
            <p:nvPr/>
          </p:nvSpPr>
          <p:spPr>
            <a:xfrm>
              <a:off x="3243977" y="887720"/>
              <a:ext cx="2104594" cy="3693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2A6180E7-DAD7-4C5D-BF7E-51D351D101B8}"/>
                </a:ext>
              </a:extLst>
            </p:cNvPr>
            <p:cNvSpPr/>
            <p:nvPr/>
          </p:nvSpPr>
          <p:spPr>
            <a:xfrm>
              <a:off x="3272643" y="960855"/>
              <a:ext cx="2040227" cy="338554"/>
            </a:xfrm>
            <a:prstGeom prst="rect">
              <a:avLst/>
            </a:prstGeom>
            <a:ln w="19050">
              <a:noFill/>
            </a:ln>
          </p:spPr>
          <p:txBody>
            <a:bodyPr wrap="square">
              <a:spAutoFit/>
            </a:bodyPr>
            <a:lstStyle/>
            <a:p>
              <a:pPr algn="ctr">
                <a:lnSpc>
                  <a:spcPct val="125000"/>
                </a:lnSpc>
              </a:pPr>
              <a:r>
                <a:rPr lang="zh-CN" altLang="en-US"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目标化合物</a:t>
              </a:r>
              <a:endParaRPr lang="en-US" altLang="zh-CN" sz="1400"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cxnSp>
        <p:nvCxnSpPr>
          <p:cNvPr id="101" name="直接连接符 100">
            <a:extLst>
              <a:ext uri="{FF2B5EF4-FFF2-40B4-BE49-F238E27FC236}">
                <a16:creationId xmlns:a16="http://schemas.microsoft.com/office/drawing/2014/main" id="{5CBFD79D-4A0D-4976-A14C-6A8A3C9BE7B1}"/>
              </a:ext>
            </a:extLst>
          </p:cNvPr>
          <p:cNvCxnSpPr>
            <a:cxnSpLocks/>
            <a:stCxn id="98" idx="3"/>
          </p:cNvCxnSpPr>
          <p:nvPr/>
        </p:nvCxnSpPr>
        <p:spPr>
          <a:xfrm>
            <a:off x="5713023" y="6134099"/>
            <a:ext cx="7449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0A2FEDBA-F1DD-4088-B1C1-9309FA3CECB7}"/>
              </a:ext>
            </a:extLst>
          </p:cNvPr>
          <p:cNvCxnSpPr>
            <a:cxnSpLocks/>
          </p:cNvCxnSpPr>
          <p:nvPr/>
        </p:nvCxnSpPr>
        <p:spPr>
          <a:xfrm flipH="1" flipV="1">
            <a:off x="6457950" y="1207307"/>
            <a:ext cx="2" cy="492599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9226B503-7043-485D-B072-90FDD72720C8}"/>
              </a:ext>
            </a:extLst>
          </p:cNvPr>
          <p:cNvCxnSpPr>
            <a:cxnSpLocks/>
            <a:endCxn id="43" idx="3"/>
          </p:cNvCxnSpPr>
          <p:nvPr/>
        </p:nvCxnSpPr>
        <p:spPr>
          <a:xfrm flipH="1">
            <a:off x="6096000" y="1207306"/>
            <a:ext cx="361952"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860AA927-74CE-4652-BBA0-7FE7CAB4945A}"/>
              </a:ext>
            </a:extLst>
          </p:cNvPr>
          <p:cNvSpPr txBox="1"/>
          <p:nvPr/>
        </p:nvSpPr>
        <p:spPr>
          <a:xfrm>
            <a:off x="7263289" y="3944023"/>
            <a:ext cx="3065686" cy="1750864"/>
          </a:xfrm>
          <a:prstGeom prst="rect">
            <a:avLst/>
          </a:prstGeom>
          <a:noFill/>
        </p:spPr>
        <p:txBody>
          <a:bodyPr wrap="square" rtlCol="0">
            <a:spAutoFit/>
          </a:bodyPr>
          <a:lstStyle>
            <a:defPPr>
              <a:defRPr lang="zh-CN"/>
            </a:defPPr>
            <a:lvl1pPr marL="285750" indent="-285750" algn="just">
              <a:lnSpc>
                <a:spcPct val="200000"/>
              </a:lnSpc>
              <a:buClr>
                <a:srgbClr val="0404FF"/>
              </a:buClr>
              <a:buFont typeface="Wingdings" panose="05000000000000000000" pitchFamily="2" charset="2"/>
              <a:buChar char="Ø"/>
              <a:defRPr sz="1400">
                <a:latin typeface="微软雅黑" panose="020B0503020204020204" pitchFamily="34" charset="-122"/>
                <a:ea typeface="微软雅黑" panose="020B0503020204020204" pitchFamily="34" charset="-122"/>
              </a:defRPr>
            </a:lvl1pPr>
          </a:lstStyle>
          <a:p>
            <a:r>
              <a:rPr lang="zh-CN" altLang="en-US" b="1" dirty="0"/>
              <a:t>可用于含有大量活性化合物信息的靶标化合物优化</a:t>
            </a:r>
            <a:endParaRPr lang="en-US" altLang="zh-CN" b="1" dirty="0"/>
          </a:p>
          <a:p>
            <a:r>
              <a:rPr lang="zh-CN" altLang="en-US" b="1" dirty="0"/>
              <a:t>也可用于仅有一个活性化合物的优化</a:t>
            </a:r>
            <a:endParaRPr lang="en-US" altLang="zh-CN" b="1" dirty="0"/>
          </a:p>
        </p:txBody>
      </p:sp>
    </p:spTree>
    <p:extLst>
      <p:ext uri="{BB962C8B-B14F-4D97-AF65-F5344CB8AC3E}">
        <p14:creationId xmlns:p14="http://schemas.microsoft.com/office/powerpoint/2010/main" val="1213176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A2E7B56-6FEC-4A3A-BD64-C8D52693A7D4}"/>
              </a:ext>
            </a:extLst>
          </p:cNvPr>
          <p:cNvSpPr>
            <a:spLocks noGrp="1"/>
          </p:cNvSpPr>
          <p:nvPr>
            <p:ph type="sldNum" sz="quarter" idx="12"/>
          </p:nvPr>
        </p:nvSpPr>
        <p:spPr/>
        <p:txBody>
          <a:bodyPr/>
          <a:lstStyle/>
          <a:p>
            <a:fld id="{2F0485D5-9E03-4020-B25B-C8A61AD6A676}" type="slidenum">
              <a:rPr lang="zh-CN" altLang="en-US" smtClean="0"/>
              <a:t>21</a:t>
            </a:fld>
            <a:endParaRPr lang="zh-CN" altLang="en-US"/>
          </a:p>
        </p:txBody>
      </p:sp>
      <p:sp>
        <p:nvSpPr>
          <p:cNvPr id="8" name="矩形 7">
            <a:extLst>
              <a:ext uri="{FF2B5EF4-FFF2-40B4-BE49-F238E27FC236}">
                <a16:creationId xmlns:a16="http://schemas.microsoft.com/office/drawing/2014/main" id="{CAC0521B-6AD5-4277-8CA8-5923DFDFAFA7}"/>
              </a:ext>
            </a:extLst>
          </p:cNvPr>
          <p:cNvSpPr/>
          <p:nvPr/>
        </p:nvSpPr>
        <p:spPr>
          <a:xfrm>
            <a:off x="988270" y="165197"/>
            <a:ext cx="3148683" cy="523220"/>
          </a:xfrm>
          <a:prstGeom prst="rect">
            <a:avLst/>
          </a:prstGeom>
          <a:noFill/>
        </p:spPr>
        <p:txBody>
          <a:bodyPr wrap="square">
            <a:spAutoFit/>
          </a:bodyPr>
          <a:lstStyle/>
          <a:p>
            <a:r>
              <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分子组装模块</a:t>
            </a:r>
          </a:p>
        </p:txBody>
      </p:sp>
      <p:pic>
        <p:nvPicPr>
          <p:cNvPr id="20" name="图片 19">
            <a:extLst>
              <a:ext uri="{FF2B5EF4-FFF2-40B4-BE49-F238E27FC236}">
                <a16:creationId xmlns:a16="http://schemas.microsoft.com/office/drawing/2014/main" id="{B3AB0F29-0C1B-4DC3-8B1D-060FB9315A80}"/>
              </a:ext>
            </a:extLst>
          </p:cNvPr>
          <p:cNvPicPr>
            <a:picLocks noChangeAspect="1"/>
          </p:cNvPicPr>
          <p:nvPr/>
        </p:nvPicPr>
        <p:blipFill rotWithShape="1">
          <a:blip r:embed="rId3">
            <a:extLst>
              <a:ext uri="{28A0092B-C50C-407E-A947-70E740481C1C}">
                <a14:useLocalDpi xmlns:a14="http://schemas.microsoft.com/office/drawing/2010/main" val="0"/>
              </a:ext>
            </a:extLst>
          </a:blip>
          <a:srcRect l="80572"/>
          <a:stretch/>
        </p:blipFill>
        <p:spPr>
          <a:xfrm>
            <a:off x="693410" y="820845"/>
            <a:ext cx="2193300" cy="1943976"/>
          </a:xfrm>
          <a:prstGeom prst="rect">
            <a:avLst/>
          </a:prstGeom>
        </p:spPr>
      </p:pic>
      <p:sp>
        <p:nvSpPr>
          <p:cNvPr id="21" name="箭头: 右 20">
            <a:extLst>
              <a:ext uri="{FF2B5EF4-FFF2-40B4-BE49-F238E27FC236}">
                <a16:creationId xmlns:a16="http://schemas.microsoft.com/office/drawing/2014/main" id="{8E42CED5-4D1E-43FA-ADDD-D668D7D6352B}"/>
              </a:ext>
            </a:extLst>
          </p:cNvPr>
          <p:cNvSpPr/>
          <p:nvPr/>
        </p:nvSpPr>
        <p:spPr>
          <a:xfrm>
            <a:off x="2946949" y="1865159"/>
            <a:ext cx="671524" cy="247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B7792CC-6515-465B-BA86-18B2040399B4}"/>
              </a:ext>
            </a:extLst>
          </p:cNvPr>
          <p:cNvSpPr/>
          <p:nvPr/>
        </p:nvSpPr>
        <p:spPr>
          <a:xfrm>
            <a:off x="2946949" y="1476322"/>
            <a:ext cx="649042" cy="415498"/>
          </a:xfrm>
          <a:prstGeom prst="rect">
            <a:avLst/>
          </a:prstGeom>
          <a:noFill/>
        </p:spPr>
        <p:txBody>
          <a:bodyPr wrap="square">
            <a:spAutoFit/>
          </a:bodyPr>
          <a:lstStyle/>
          <a:p>
            <a:r>
              <a:rPr lang="zh-CN" altLang="en-US" sz="105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基团替</a:t>
            </a:r>
            <a:endParaRPr lang="en-US" altLang="zh-CN" sz="105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a:p>
            <a:r>
              <a:rPr lang="zh-CN" altLang="en-US" sz="105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换组装</a:t>
            </a:r>
          </a:p>
        </p:txBody>
      </p:sp>
      <p:pic>
        <p:nvPicPr>
          <p:cNvPr id="23" name="图片 22">
            <a:extLst>
              <a:ext uri="{FF2B5EF4-FFF2-40B4-BE49-F238E27FC236}">
                <a16:creationId xmlns:a16="http://schemas.microsoft.com/office/drawing/2014/main" id="{E8180ED4-F7D0-4B0C-945F-F731B72919CF}"/>
              </a:ext>
            </a:extLst>
          </p:cNvPr>
          <p:cNvPicPr>
            <a:picLocks noChangeAspect="1"/>
          </p:cNvPicPr>
          <p:nvPr/>
        </p:nvPicPr>
        <p:blipFill>
          <a:blip r:embed="rId4"/>
          <a:stretch>
            <a:fillRect/>
          </a:stretch>
        </p:blipFill>
        <p:spPr>
          <a:xfrm>
            <a:off x="3860776" y="626554"/>
            <a:ext cx="1275929" cy="700576"/>
          </a:xfrm>
          <a:prstGeom prst="rect">
            <a:avLst/>
          </a:prstGeom>
        </p:spPr>
      </p:pic>
      <p:sp>
        <p:nvSpPr>
          <p:cNvPr id="25" name="任意多边形: 形状 24">
            <a:extLst>
              <a:ext uri="{FF2B5EF4-FFF2-40B4-BE49-F238E27FC236}">
                <a16:creationId xmlns:a16="http://schemas.microsoft.com/office/drawing/2014/main" id="{572E3EAE-DBF4-4D2F-835A-045636EF79CE}"/>
              </a:ext>
            </a:extLst>
          </p:cNvPr>
          <p:cNvSpPr/>
          <p:nvPr/>
        </p:nvSpPr>
        <p:spPr>
          <a:xfrm>
            <a:off x="654245" y="1742663"/>
            <a:ext cx="1475243" cy="1118223"/>
          </a:xfrm>
          <a:custGeom>
            <a:avLst/>
            <a:gdLst>
              <a:gd name="connsiteX0" fmla="*/ 285378 w 1475243"/>
              <a:gd name="connsiteY0" fmla="*/ 26400 h 1118223"/>
              <a:gd name="connsiteX1" fmla="*/ 335827 w 1475243"/>
              <a:gd name="connsiteY1" fmla="*/ 20094 h 1118223"/>
              <a:gd name="connsiteX2" fmla="*/ 1401576 w 1475243"/>
              <a:gd name="connsiteY2" fmla="*/ 177749 h 1118223"/>
              <a:gd name="connsiteX3" fmla="*/ 1344820 w 1475243"/>
              <a:gd name="connsiteY3" fmla="*/ 820982 h 1118223"/>
              <a:gd name="connsiteX4" fmla="*/ 1035816 w 1475243"/>
              <a:gd name="connsiteY4" fmla="*/ 1117374 h 1118223"/>
              <a:gd name="connsiteX5" fmla="*/ 178172 w 1475243"/>
              <a:gd name="connsiteY5" fmla="*/ 739001 h 1118223"/>
              <a:gd name="connsiteX6" fmla="*/ 1598 w 1475243"/>
              <a:gd name="connsiteY6" fmla="*/ 240811 h 1118223"/>
              <a:gd name="connsiteX7" fmla="*/ 222316 w 1475243"/>
              <a:gd name="connsiteY7" fmla="*/ 13787 h 1118223"/>
              <a:gd name="connsiteX8" fmla="*/ 285378 w 1475243"/>
              <a:gd name="connsiteY8" fmla="*/ 26400 h 1118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5243" h="1118223">
                <a:moveTo>
                  <a:pt x="285378" y="26400"/>
                </a:moveTo>
                <a:cubicBezTo>
                  <a:pt x="304296" y="27451"/>
                  <a:pt x="149794" y="-5131"/>
                  <a:pt x="335827" y="20094"/>
                </a:cubicBezTo>
                <a:cubicBezTo>
                  <a:pt x="521860" y="45319"/>
                  <a:pt x="1233411" y="44268"/>
                  <a:pt x="1401576" y="177749"/>
                </a:cubicBezTo>
                <a:cubicBezTo>
                  <a:pt x="1569741" y="311230"/>
                  <a:pt x="1405780" y="664378"/>
                  <a:pt x="1344820" y="820982"/>
                </a:cubicBezTo>
                <a:cubicBezTo>
                  <a:pt x="1283860" y="977586"/>
                  <a:pt x="1230257" y="1131038"/>
                  <a:pt x="1035816" y="1117374"/>
                </a:cubicBezTo>
                <a:cubicBezTo>
                  <a:pt x="841375" y="1103711"/>
                  <a:pt x="350542" y="885095"/>
                  <a:pt x="178172" y="739001"/>
                </a:cubicBezTo>
                <a:cubicBezTo>
                  <a:pt x="5802" y="592907"/>
                  <a:pt x="-5759" y="361680"/>
                  <a:pt x="1598" y="240811"/>
                </a:cubicBezTo>
                <a:cubicBezTo>
                  <a:pt x="8955" y="119942"/>
                  <a:pt x="182377" y="50573"/>
                  <a:pt x="222316" y="13787"/>
                </a:cubicBezTo>
                <a:cubicBezTo>
                  <a:pt x="262255" y="-22999"/>
                  <a:pt x="266460" y="25349"/>
                  <a:pt x="285378" y="26400"/>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a:extLst>
              <a:ext uri="{FF2B5EF4-FFF2-40B4-BE49-F238E27FC236}">
                <a16:creationId xmlns:a16="http://schemas.microsoft.com/office/drawing/2014/main" id="{AAAD1BFC-D025-436A-BB67-F5BAEAF054C6}"/>
              </a:ext>
            </a:extLst>
          </p:cNvPr>
          <p:cNvPicPr>
            <a:picLocks noChangeAspect="1"/>
          </p:cNvPicPr>
          <p:nvPr/>
        </p:nvPicPr>
        <p:blipFill>
          <a:blip r:embed="rId5"/>
          <a:stretch>
            <a:fillRect/>
          </a:stretch>
        </p:blipFill>
        <p:spPr>
          <a:xfrm>
            <a:off x="4023412" y="1499296"/>
            <a:ext cx="950655" cy="546121"/>
          </a:xfrm>
          <a:prstGeom prst="rect">
            <a:avLst/>
          </a:prstGeom>
        </p:spPr>
      </p:pic>
      <p:sp>
        <p:nvSpPr>
          <p:cNvPr id="27" name="加号 26">
            <a:extLst>
              <a:ext uri="{FF2B5EF4-FFF2-40B4-BE49-F238E27FC236}">
                <a16:creationId xmlns:a16="http://schemas.microsoft.com/office/drawing/2014/main" id="{E4BD4750-2363-4FA7-BDD5-7FC3D6F53833}"/>
              </a:ext>
            </a:extLst>
          </p:cNvPr>
          <p:cNvSpPr/>
          <p:nvPr/>
        </p:nvSpPr>
        <p:spPr>
          <a:xfrm>
            <a:off x="4391731" y="1280859"/>
            <a:ext cx="243152" cy="216308"/>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加号 27">
            <a:extLst>
              <a:ext uri="{FF2B5EF4-FFF2-40B4-BE49-F238E27FC236}">
                <a16:creationId xmlns:a16="http://schemas.microsoft.com/office/drawing/2014/main" id="{400C7499-17F9-4E92-9FC0-56CCD757652F}"/>
              </a:ext>
            </a:extLst>
          </p:cNvPr>
          <p:cNvSpPr/>
          <p:nvPr/>
        </p:nvSpPr>
        <p:spPr>
          <a:xfrm>
            <a:off x="4391731" y="2063444"/>
            <a:ext cx="243152" cy="216308"/>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89B14721-3703-4849-A125-2C30277BF88D}"/>
              </a:ext>
            </a:extLst>
          </p:cNvPr>
          <p:cNvSpPr txBox="1"/>
          <p:nvPr/>
        </p:nvSpPr>
        <p:spPr>
          <a:xfrm>
            <a:off x="3974084" y="2979250"/>
            <a:ext cx="1239431" cy="275588"/>
          </a:xfrm>
          <a:prstGeom prst="rect">
            <a:avLst/>
          </a:prstGeom>
          <a:noFill/>
        </p:spPr>
        <p:txBody>
          <a:bodyPr wrap="square">
            <a:spAutoFit/>
          </a:bodyPr>
          <a:lstStyle>
            <a:defPPr>
              <a:defRPr lang="zh-CN"/>
            </a:defPPr>
            <a:lvl1pPr>
              <a:lnSpc>
                <a:spcPct val="150000"/>
              </a:lnSpc>
              <a:defRPr sz="14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sz="900" dirty="0"/>
              <a:t>重原子数近似的片段</a:t>
            </a:r>
          </a:p>
        </p:txBody>
      </p:sp>
      <p:pic>
        <p:nvPicPr>
          <p:cNvPr id="30" name="图片 29">
            <a:extLst>
              <a:ext uri="{FF2B5EF4-FFF2-40B4-BE49-F238E27FC236}">
                <a16:creationId xmlns:a16="http://schemas.microsoft.com/office/drawing/2014/main" id="{EF8DEE4D-6894-4999-A2C8-09C9450C9A06}"/>
              </a:ext>
            </a:extLst>
          </p:cNvPr>
          <p:cNvPicPr>
            <a:picLocks noChangeAspect="1"/>
          </p:cNvPicPr>
          <p:nvPr/>
        </p:nvPicPr>
        <p:blipFill>
          <a:blip r:embed="rId6"/>
          <a:stretch>
            <a:fillRect/>
          </a:stretch>
        </p:blipFill>
        <p:spPr>
          <a:xfrm>
            <a:off x="3974084" y="2297779"/>
            <a:ext cx="1248062" cy="695970"/>
          </a:xfrm>
          <a:prstGeom prst="rect">
            <a:avLst/>
          </a:prstGeom>
        </p:spPr>
      </p:pic>
      <p:sp>
        <p:nvSpPr>
          <p:cNvPr id="31" name="箭头: 右 30">
            <a:extLst>
              <a:ext uri="{FF2B5EF4-FFF2-40B4-BE49-F238E27FC236}">
                <a16:creationId xmlns:a16="http://schemas.microsoft.com/office/drawing/2014/main" id="{19487A81-F168-4C1B-ADA5-84633A2B31EE}"/>
              </a:ext>
            </a:extLst>
          </p:cNvPr>
          <p:cNvSpPr/>
          <p:nvPr/>
        </p:nvSpPr>
        <p:spPr>
          <a:xfrm>
            <a:off x="5353558" y="1864737"/>
            <a:ext cx="504496" cy="247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83B1FEA4-E89A-465E-9C78-14183EB37436}"/>
              </a:ext>
            </a:extLst>
          </p:cNvPr>
          <p:cNvPicPr>
            <a:picLocks noChangeAspect="1"/>
          </p:cNvPicPr>
          <p:nvPr/>
        </p:nvPicPr>
        <p:blipFill>
          <a:blip r:embed="rId7"/>
          <a:stretch>
            <a:fillRect/>
          </a:stretch>
        </p:blipFill>
        <p:spPr>
          <a:xfrm>
            <a:off x="6054631" y="1202275"/>
            <a:ext cx="3540039" cy="1493846"/>
          </a:xfrm>
          <a:prstGeom prst="rect">
            <a:avLst/>
          </a:prstGeom>
        </p:spPr>
      </p:pic>
      <p:sp>
        <p:nvSpPr>
          <p:cNvPr id="33" name="文本框 32">
            <a:extLst>
              <a:ext uri="{FF2B5EF4-FFF2-40B4-BE49-F238E27FC236}">
                <a16:creationId xmlns:a16="http://schemas.microsoft.com/office/drawing/2014/main" id="{9B31560D-6470-40B5-9E07-DBC6AF1A9732}"/>
              </a:ext>
            </a:extLst>
          </p:cNvPr>
          <p:cNvSpPr txBox="1"/>
          <p:nvPr/>
        </p:nvSpPr>
        <p:spPr>
          <a:xfrm>
            <a:off x="9791247" y="1541532"/>
            <a:ext cx="2168439" cy="700576"/>
          </a:xfrm>
          <a:prstGeom prst="rect">
            <a:avLst/>
          </a:prstGeom>
          <a:noFill/>
        </p:spPr>
        <p:txBody>
          <a:bodyPr wrap="square">
            <a:spAutoFit/>
          </a:bodyPr>
          <a:lstStyle>
            <a:defPPr>
              <a:defRPr lang="zh-CN"/>
            </a:defPPr>
            <a:lvl1pPr>
              <a:lnSpc>
                <a:spcPct val="150000"/>
              </a:lnSpc>
              <a:defRPr sz="14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solidFill>
                  <a:srgbClr val="FF0000"/>
                </a:solidFill>
              </a:rPr>
              <a:t>比下述两种更能产生适用于</a:t>
            </a:r>
            <a:r>
              <a:rPr lang="en-US" altLang="zh-CN" dirty="0">
                <a:solidFill>
                  <a:srgbClr val="FF0000"/>
                </a:solidFill>
              </a:rPr>
              <a:t>FEP</a:t>
            </a:r>
            <a:r>
              <a:rPr lang="zh-CN" altLang="en-US" dirty="0">
                <a:solidFill>
                  <a:srgbClr val="FF0000"/>
                </a:solidFill>
              </a:rPr>
              <a:t>计算的候选分子</a:t>
            </a:r>
          </a:p>
        </p:txBody>
      </p:sp>
      <p:sp>
        <p:nvSpPr>
          <p:cNvPr id="34" name="矩形 33">
            <a:extLst>
              <a:ext uri="{FF2B5EF4-FFF2-40B4-BE49-F238E27FC236}">
                <a16:creationId xmlns:a16="http://schemas.microsoft.com/office/drawing/2014/main" id="{32FF5C5F-0A6A-41F6-9FB0-75C6FFF7871A}"/>
              </a:ext>
            </a:extLst>
          </p:cNvPr>
          <p:cNvSpPr/>
          <p:nvPr/>
        </p:nvSpPr>
        <p:spPr>
          <a:xfrm>
            <a:off x="654245" y="824864"/>
            <a:ext cx="619798" cy="377411"/>
          </a:xfrm>
          <a:prstGeom prst="rect">
            <a:avLst/>
          </a:prstGeom>
          <a:noFill/>
        </p:spPr>
        <p:txBody>
          <a:bodyPr wrap="square">
            <a:spAutoFit/>
          </a:bodyPr>
          <a:lstStyle/>
          <a:p>
            <a:pPr>
              <a:lnSpc>
                <a:spcPct val="150000"/>
              </a:lnSpc>
            </a:pP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示例</a:t>
            </a:r>
          </a:p>
        </p:txBody>
      </p:sp>
      <p:pic>
        <p:nvPicPr>
          <p:cNvPr id="35" name="图片 34">
            <a:extLst>
              <a:ext uri="{FF2B5EF4-FFF2-40B4-BE49-F238E27FC236}">
                <a16:creationId xmlns:a16="http://schemas.microsoft.com/office/drawing/2014/main" id="{B9C5F643-6985-44B8-BE8F-87BC146DE050}"/>
              </a:ext>
            </a:extLst>
          </p:cNvPr>
          <p:cNvPicPr>
            <a:picLocks noChangeAspect="1"/>
          </p:cNvPicPr>
          <p:nvPr/>
        </p:nvPicPr>
        <p:blipFill rotWithShape="1">
          <a:blip r:embed="rId3">
            <a:extLst>
              <a:ext uri="{28A0092B-C50C-407E-A947-70E740481C1C}">
                <a14:useLocalDpi xmlns:a14="http://schemas.microsoft.com/office/drawing/2010/main" val="0"/>
              </a:ext>
            </a:extLst>
          </a:blip>
          <a:srcRect l="80572"/>
          <a:stretch/>
        </p:blipFill>
        <p:spPr>
          <a:xfrm>
            <a:off x="1371102" y="4042695"/>
            <a:ext cx="1872253" cy="1659424"/>
          </a:xfrm>
          <a:prstGeom prst="rect">
            <a:avLst/>
          </a:prstGeom>
        </p:spPr>
      </p:pic>
      <p:sp>
        <p:nvSpPr>
          <p:cNvPr id="36" name="左大括号 35">
            <a:extLst>
              <a:ext uri="{FF2B5EF4-FFF2-40B4-BE49-F238E27FC236}">
                <a16:creationId xmlns:a16="http://schemas.microsoft.com/office/drawing/2014/main" id="{AD1A8134-F379-4462-921F-5875C572C176}"/>
              </a:ext>
            </a:extLst>
          </p:cNvPr>
          <p:cNvSpPr/>
          <p:nvPr/>
        </p:nvSpPr>
        <p:spPr>
          <a:xfrm>
            <a:off x="3305594" y="3665917"/>
            <a:ext cx="145667" cy="2808000"/>
          </a:xfrm>
          <a:prstGeom prst="lef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37" name="图片 36">
            <a:extLst>
              <a:ext uri="{FF2B5EF4-FFF2-40B4-BE49-F238E27FC236}">
                <a16:creationId xmlns:a16="http://schemas.microsoft.com/office/drawing/2014/main" id="{E901AEAB-C161-49CB-8EDF-4E01AB38472E}"/>
              </a:ext>
            </a:extLst>
          </p:cNvPr>
          <p:cNvPicPr>
            <a:picLocks noChangeAspect="1"/>
          </p:cNvPicPr>
          <p:nvPr/>
        </p:nvPicPr>
        <p:blipFill>
          <a:blip r:embed="rId8"/>
          <a:stretch>
            <a:fillRect/>
          </a:stretch>
        </p:blipFill>
        <p:spPr>
          <a:xfrm>
            <a:off x="3410569" y="3816603"/>
            <a:ext cx="1020366" cy="870684"/>
          </a:xfrm>
          <a:prstGeom prst="rect">
            <a:avLst/>
          </a:prstGeom>
        </p:spPr>
      </p:pic>
      <p:sp>
        <p:nvSpPr>
          <p:cNvPr id="38" name="文本框 37">
            <a:extLst>
              <a:ext uri="{FF2B5EF4-FFF2-40B4-BE49-F238E27FC236}">
                <a16:creationId xmlns:a16="http://schemas.microsoft.com/office/drawing/2014/main" id="{77EDA685-A6C0-4291-BEFC-69AD4CA8AC48}"/>
              </a:ext>
            </a:extLst>
          </p:cNvPr>
          <p:cNvSpPr txBox="1"/>
          <p:nvPr/>
        </p:nvSpPr>
        <p:spPr>
          <a:xfrm>
            <a:off x="3513500" y="4965920"/>
            <a:ext cx="508473" cy="369332"/>
          </a:xfrm>
          <a:prstGeom prst="rect">
            <a:avLst/>
          </a:prstGeom>
          <a:noFill/>
        </p:spPr>
        <p:txBody>
          <a:bodyPr wrap="none" rtlCol="0">
            <a:spAutoFit/>
          </a:bodyPr>
          <a:lstStyle/>
          <a:p>
            <a:r>
              <a:rPr lang="en-US" altLang="zh-CN" dirty="0"/>
              <a:t>……</a:t>
            </a:r>
            <a:endParaRPr lang="zh-CN" altLang="en-US" dirty="0"/>
          </a:p>
        </p:txBody>
      </p:sp>
      <p:sp>
        <p:nvSpPr>
          <p:cNvPr id="39" name="文本框 38">
            <a:extLst>
              <a:ext uri="{FF2B5EF4-FFF2-40B4-BE49-F238E27FC236}">
                <a16:creationId xmlns:a16="http://schemas.microsoft.com/office/drawing/2014/main" id="{181FBFD6-7D2B-48BC-823F-56708C1595D5}"/>
              </a:ext>
            </a:extLst>
          </p:cNvPr>
          <p:cNvSpPr txBox="1"/>
          <p:nvPr/>
        </p:nvSpPr>
        <p:spPr>
          <a:xfrm>
            <a:off x="3561896" y="5602883"/>
            <a:ext cx="439043" cy="249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1pPr>
              <a:lnSpc>
                <a:spcPct val="125000"/>
              </a:lnSpc>
              <a:spcBef>
                <a:spcPct val="0"/>
              </a:spcBef>
              <a:buClrTx/>
              <a:buFont typeface="Wingdings" pitchFamily="2" charset="2"/>
              <a:buNone/>
              <a:defRPr b="1">
                <a:solidFill>
                  <a:srgbClr val="00206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lr>
                <a:schemeClr val="accent1"/>
              </a:buClr>
              <a:buFont typeface="Wingdings" pitchFamily="2" charset="2"/>
              <a:buChar char="§"/>
              <a:defRPr sz="2200">
                <a:latin typeface="Arial" panose="020B0604020202020204" pitchFamily="34" charset="0"/>
              </a:defRPr>
            </a:lvl2pPr>
            <a:lvl3pPr marL="1143000" indent="-228600">
              <a:spcBef>
                <a:spcPct val="20000"/>
              </a:spcBef>
              <a:buClr>
                <a:schemeClr val="tx1"/>
              </a:buClr>
              <a:buChar char="•"/>
              <a:defRPr sz="2000">
                <a:latin typeface="Arial" panose="020B0604020202020204" pitchFamily="34" charset="0"/>
              </a:defRPr>
            </a:lvl3pPr>
            <a:lvl4pPr marL="1600200" indent="-228600">
              <a:spcBef>
                <a:spcPct val="20000"/>
              </a:spcBef>
              <a:buChar char="–"/>
              <a:defRPr sz="1600">
                <a:latin typeface="Arial" panose="020B0604020202020204" pitchFamily="34" charset="0"/>
              </a:defRPr>
            </a:lvl4pPr>
            <a:lvl5pPr marL="2057400" indent="-228600">
              <a:spcBef>
                <a:spcPct val="20000"/>
              </a:spcBef>
              <a:buChar char="»"/>
              <a:defRPr sz="1600">
                <a:latin typeface="Arial" panose="020B0604020202020204" pitchFamily="34" charset="0"/>
              </a:defRPr>
            </a:lvl5pPr>
            <a:lvl6pPr marL="2514600" indent="-228600" eaLnBrk="0" fontAlgn="base" hangingPunct="0">
              <a:spcBef>
                <a:spcPct val="20000"/>
              </a:spcBef>
              <a:spcAft>
                <a:spcPct val="0"/>
              </a:spcAft>
              <a:buChar char="»"/>
              <a:defRPr sz="1600">
                <a:latin typeface="Arial" panose="020B0604020202020204" pitchFamily="34" charset="0"/>
              </a:defRPr>
            </a:lvl6pPr>
            <a:lvl7pPr marL="2971800" indent="-228600" eaLnBrk="0" fontAlgn="base" hangingPunct="0">
              <a:spcBef>
                <a:spcPct val="20000"/>
              </a:spcBef>
              <a:spcAft>
                <a:spcPct val="0"/>
              </a:spcAft>
              <a:buChar char="»"/>
              <a:defRPr sz="1600">
                <a:latin typeface="Arial" panose="020B0604020202020204" pitchFamily="34" charset="0"/>
              </a:defRPr>
            </a:lvl7pPr>
            <a:lvl8pPr marL="3429000" indent="-228600" eaLnBrk="0" fontAlgn="base" hangingPunct="0">
              <a:spcBef>
                <a:spcPct val="20000"/>
              </a:spcBef>
              <a:spcAft>
                <a:spcPct val="0"/>
              </a:spcAft>
              <a:buChar char="»"/>
              <a:defRPr sz="1600">
                <a:latin typeface="Arial" panose="020B0604020202020204" pitchFamily="34" charset="0"/>
              </a:defRPr>
            </a:lvl8pPr>
            <a:lvl9pPr marL="3886200" indent="-228600" eaLnBrk="0" fontAlgn="base" hangingPunct="0">
              <a:spcBef>
                <a:spcPct val="20000"/>
              </a:spcBef>
              <a:spcAft>
                <a:spcPct val="0"/>
              </a:spcAft>
              <a:buChar char="»"/>
              <a:defRPr sz="1600">
                <a:latin typeface="Arial" panose="020B0604020202020204" pitchFamily="34" charset="0"/>
              </a:defRPr>
            </a:lvl9pPr>
          </a:lstStyle>
          <a:p>
            <a:r>
              <a:rPr lang="en-US" altLang="zh-CN" sz="900" dirty="0"/>
              <a:t>707</a:t>
            </a:r>
            <a:endParaRPr lang="zh-CN" altLang="en-US" sz="900" dirty="0"/>
          </a:p>
        </p:txBody>
      </p:sp>
      <p:sp>
        <p:nvSpPr>
          <p:cNvPr id="40" name="箭头: 右 39">
            <a:extLst>
              <a:ext uri="{FF2B5EF4-FFF2-40B4-BE49-F238E27FC236}">
                <a16:creationId xmlns:a16="http://schemas.microsoft.com/office/drawing/2014/main" id="{DD485659-1D84-4B0A-89EF-E1042A207C4C}"/>
              </a:ext>
            </a:extLst>
          </p:cNvPr>
          <p:cNvSpPr/>
          <p:nvPr/>
        </p:nvSpPr>
        <p:spPr>
          <a:xfrm>
            <a:off x="4609408" y="4177296"/>
            <a:ext cx="504496" cy="247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6BCDACAE-693E-459E-AE4C-CFAE05B010FC}"/>
              </a:ext>
            </a:extLst>
          </p:cNvPr>
          <p:cNvSpPr/>
          <p:nvPr/>
        </p:nvSpPr>
        <p:spPr>
          <a:xfrm>
            <a:off x="4629825" y="5587706"/>
            <a:ext cx="504496" cy="247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C0B22F33-45AD-46FD-B3BC-E4FD6A5632F6}"/>
              </a:ext>
            </a:extLst>
          </p:cNvPr>
          <p:cNvSpPr/>
          <p:nvPr/>
        </p:nvSpPr>
        <p:spPr>
          <a:xfrm>
            <a:off x="5492871" y="3919951"/>
            <a:ext cx="2113388" cy="613694"/>
          </a:xfrm>
          <a:prstGeom prst="rect">
            <a:avLst/>
          </a:prstGeom>
          <a:noFill/>
        </p:spPr>
        <p:txBody>
          <a:bodyPr wrap="square">
            <a:spAutoFit/>
          </a:bodyPr>
          <a:lstStyle/>
          <a:p>
            <a:pPr>
              <a:lnSpc>
                <a:spcPct val="150000"/>
              </a:lnSpc>
            </a:pPr>
            <a:r>
              <a:rPr lang="zh-CN" altLang="en-US"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与</a:t>
            </a:r>
            <a:r>
              <a:rPr lang="en-US" altLang="zh-CN"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ZINC</a:t>
            </a:r>
            <a:r>
              <a:rPr lang="zh-CN" altLang="en-US"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库进行相似性比较（输出相似度</a:t>
            </a:r>
            <a:r>
              <a:rPr lang="en-US" altLang="zh-CN"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0.75</a:t>
            </a:r>
            <a:r>
              <a:rPr lang="zh-CN" altLang="en-US"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以上分子）</a:t>
            </a:r>
          </a:p>
        </p:txBody>
      </p:sp>
      <p:sp>
        <p:nvSpPr>
          <p:cNvPr id="43" name="矩形 42">
            <a:extLst>
              <a:ext uri="{FF2B5EF4-FFF2-40B4-BE49-F238E27FC236}">
                <a16:creationId xmlns:a16="http://schemas.microsoft.com/office/drawing/2014/main" id="{73BAA4ED-3ADA-4276-A825-0B4047AF5CAE}"/>
              </a:ext>
            </a:extLst>
          </p:cNvPr>
          <p:cNvSpPr/>
          <p:nvPr/>
        </p:nvSpPr>
        <p:spPr>
          <a:xfrm>
            <a:off x="5568426" y="5270356"/>
            <a:ext cx="1803202" cy="336695"/>
          </a:xfrm>
          <a:prstGeom prst="rect">
            <a:avLst/>
          </a:prstGeom>
          <a:noFill/>
        </p:spPr>
        <p:txBody>
          <a:bodyPr wrap="square">
            <a:spAutoFit/>
          </a:bodyPr>
          <a:lstStyle/>
          <a:p>
            <a:pPr>
              <a:lnSpc>
                <a:spcPct val="150000"/>
              </a:lnSpc>
            </a:pPr>
            <a:r>
              <a:rPr lang="en-US" altLang="zh-CN" sz="1200" dirty="0" err="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LigDream</a:t>
            </a:r>
            <a:r>
              <a:rPr lang="zh-CN" altLang="en-US"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进行解码生成</a:t>
            </a:r>
            <a:r>
              <a:rPr lang="en-US" altLang="zh-CN"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a:t>
            </a:r>
            <a:endParaRPr lang="zh-CN" altLang="en-US" sz="1200"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pic>
        <p:nvPicPr>
          <p:cNvPr id="45" name="图片 44">
            <a:extLst>
              <a:ext uri="{FF2B5EF4-FFF2-40B4-BE49-F238E27FC236}">
                <a16:creationId xmlns:a16="http://schemas.microsoft.com/office/drawing/2014/main" id="{682D58A4-A351-4E04-9234-2238D49AB865}"/>
              </a:ext>
            </a:extLst>
          </p:cNvPr>
          <p:cNvPicPr>
            <a:picLocks noChangeAspect="1"/>
          </p:cNvPicPr>
          <p:nvPr/>
        </p:nvPicPr>
        <p:blipFill rotWithShape="1">
          <a:blip r:embed="rId9"/>
          <a:srcRect l="49898" b="8512"/>
          <a:stretch/>
        </p:blipFill>
        <p:spPr>
          <a:xfrm>
            <a:off x="5723518" y="5665780"/>
            <a:ext cx="1493017" cy="831112"/>
          </a:xfrm>
          <a:prstGeom prst="rect">
            <a:avLst/>
          </a:prstGeom>
        </p:spPr>
      </p:pic>
      <p:pic>
        <p:nvPicPr>
          <p:cNvPr id="46" name="图片 45">
            <a:extLst>
              <a:ext uri="{FF2B5EF4-FFF2-40B4-BE49-F238E27FC236}">
                <a16:creationId xmlns:a16="http://schemas.microsoft.com/office/drawing/2014/main" id="{07ABF732-5534-43D8-A57E-DAC521DF9557}"/>
              </a:ext>
            </a:extLst>
          </p:cNvPr>
          <p:cNvPicPr>
            <a:picLocks noChangeAspect="1"/>
          </p:cNvPicPr>
          <p:nvPr/>
        </p:nvPicPr>
        <p:blipFill>
          <a:blip r:embed="rId10"/>
          <a:stretch>
            <a:fillRect/>
          </a:stretch>
        </p:blipFill>
        <p:spPr>
          <a:xfrm>
            <a:off x="7742935" y="4949302"/>
            <a:ext cx="1917833" cy="1889780"/>
          </a:xfrm>
          <a:prstGeom prst="rect">
            <a:avLst/>
          </a:prstGeom>
        </p:spPr>
      </p:pic>
      <p:pic>
        <p:nvPicPr>
          <p:cNvPr id="47" name="图片 46">
            <a:extLst>
              <a:ext uri="{FF2B5EF4-FFF2-40B4-BE49-F238E27FC236}">
                <a16:creationId xmlns:a16="http://schemas.microsoft.com/office/drawing/2014/main" id="{34E8219E-AA41-4A15-A9A0-9BB47C2B4CAE}"/>
              </a:ext>
            </a:extLst>
          </p:cNvPr>
          <p:cNvPicPr>
            <a:picLocks noChangeAspect="1"/>
          </p:cNvPicPr>
          <p:nvPr/>
        </p:nvPicPr>
        <p:blipFill>
          <a:blip r:embed="rId11"/>
          <a:stretch>
            <a:fillRect/>
          </a:stretch>
        </p:blipFill>
        <p:spPr>
          <a:xfrm>
            <a:off x="7697391" y="3076141"/>
            <a:ext cx="1872245" cy="1889779"/>
          </a:xfrm>
          <a:prstGeom prst="rect">
            <a:avLst/>
          </a:prstGeom>
        </p:spPr>
      </p:pic>
      <p:sp>
        <p:nvSpPr>
          <p:cNvPr id="48" name="文本框 47">
            <a:extLst>
              <a:ext uri="{FF2B5EF4-FFF2-40B4-BE49-F238E27FC236}">
                <a16:creationId xmlns:a16="http://schemas.microsoft.com/office/drawing/2014/main" id="{8D2D1A0A-ED6E-445B-A7A8-BDB01FF89077}"/>
              </a:ext>
            </a:extLst>
          </p:cNvPr>
          <p:cNvSpPr txBox="1"/>
          <p:nvPr/>
        </p:nvSpPr>
        <p:spPr>
          <a:xfrm>
            <a:off x="9900867" y="4683701"/>
            <a:ext cx="1045479" cy="377411"/>
          </a:xfrm>
          <a:prstGeom prst="rect">
            <a:avLst/>
          </a:prstGeom>
          <a:noFill/>
        </p:spPr>
        <p:txBody>
          <a:bodyPr wrap="square">
            <a:spAutoFit/>
          </a:bodyPr>
          <a:lstStyle>
            <a:defPPr>
              <a:defRPr lang="zh-CN"/>
            </a:defPPr>
            <a:lvl1pPr>
              <a:lnSpc>
                <a:spcPct val="150000"/>
              </a:lnSpc>
              <a:defRPr sz="1400" b="1">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defRPr>
            </a:lvl1pPr>
          </a:lstStyle>
          <a:p>
            <a:r>
              <a:rPr lang="zh-CN" altLang="en-US" dirty="0">
                <a:solidFill>
                  <a:srgbClr val="FF0000"/>
                </a:solidFill>
              </a:rPr>
              <a:t>不适合</a:t>
            </a:r>
            <a:r>
              <a:rPr lang="en-US" altLang="zh-CN" dirty="0">
                <a:solidFill>
                  <a:srgbClr val="FF0000"/>
                </a:solidFill>
              </a:rPr>
              <a:t>FEP</a:t>
            </a:r>
            <a:endParaRPr lang="zh-CN" altLang="en-US" dirty="0">
              <a:solidFill>
                <a:srgbClr val="FF0000"/>
              </a:solidFill>
            </a:endParaRPr>
          </a:p>
        </p:txBody>
      </p:sp>
      <p:sp>
        <p:nvSpPr>
          <p:cNvPr id="49" name="左大括号 48">
            <a:extLst>
              <a:ext uri="{FF2B5EF4-FFF2-40B4-BE49-F238E27FC236}">
                <a16:creationId xmlns:a16="http://schemas.microsoft.com/office/drawing/2014/main" id="{AA2E853E-A2FD-48AB-A15E-50F577C4BB31}"/>
              </a:ext>
            </a:extLst>
          </p:cNvPr>
          <p:cNvSpPr/>
          <p:nvPr/>
        </p:nvSpPr>
        <p:spPr>
          <a:xfrm flipH="1">
            <a:off x="9682456" y="3162407"/>
            <a:ext cx="145667" cy="3420000"/>
          </a:xfrm>
          <a:prstGeom prst="lef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71241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DF004E9-9816-4CD5-B0F0-B010634678B1}"/>
              </a:ext>
            </a:extLst>
          </p:cNvPr>
          <p:cNvSpPr>
            <a:spLocks noGrp="1"/>
          </p:cNvSpPr>
          <p:nvPr>
            <p:ph type="sldNum" sz="quarter" idx="12"/>
          </p:nvPr>
        </p:nvSpPr>
        <p:spPr>
          <a:xfrm>
            <a:off x="9344025" y="6557962"/>
            <a:ext cx="2743200" cy="365125"/>
          </a:xfrm>
        </p:spPr>
        <p:txBody>
          <a:bodyPr/>
          <a:lstStyle/>
          <a:p>
            <a:fld id="{2F0485D5-9E03-4020-B25B-C8A61AD6A676}" type="slidenum">
              <a:rPr lang="zh-CN" altLang="en-US" smtClean="0"/>
              <a:t>22</a:t>
            </a:fld>
            <a:endParaRPr lang="zh-CN" altLang="en-US" dirty="0"/>
          </a:p>
        </p:txBody>
      </p:sp>
      <p:sp>
        <p:nvSpPr>
          <p:cNvPr id="3" name="矩形 2">
            <a:extLst>
              <a:ext uri="{FF2B5EF4-FFF2-40B4-BE49-F238E27FC236}">
                <a16:creationId xmlns:a16="http://schemas.microsoft.com/office/drawing/2014/main" id="{1114EFDA-A8D6-4587-95FA-924B977E70BC}"/>
              </a:ext>
            </a:extLst>
          </p:cNvPr>
          <p:cNvSpPr/>
          <p:nvPr/>
        </p:nvSpPr>
        <p:spPr>
          <a:xfrm>
            <a:off x="978541" y="187921"/>
            <a:ext cx="2412359" cy="523220"/>
          </a:xfrm>
          <a:prstGeom prst="rect">
            <a:avLst/>
          </a:prstGeom>
          <a:noFill/>
        </p:spPr>
        <p:txBody>
          <a:bodyPr wrap="square">
            <a:spAutoFit/>
          </a:bodyPr>
          <a:lstStyle/>
          <a:p>
            <a:r>
              <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分子推荐模块</a:t>
            </a:r>
          </a:p>
        </p:txBody>
      </p:sp>
      <p:sp>
        <p:nvSpPr>
          <p:cNvPr id="4" name="矩形 3">
            <a:extLst>
              <a:ext uri="{FF2B5EF4-FFF2-40B4-BE49-F238E27FC236}">
                <a16:creationId xmlns:a16="http://schemas.microsoft.com/office/drawing/2014/main" id="{8280D67B-43A8-4519-A284-487F3367D5DB}"/>
              </a:ext>
            </a:extLst>
          </p:cNvPr>
          <p:cNvSpPr/>
          <p:nvPr/>
        </p:nvSpPr>
        <p:spPr>
          <a:xfrm>
            <a:off x="1733550" y="844550"/>
            <a:ext cx="101600" cy="4699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6A9CAE4-1308-437B-B784-7DA260831531}"/>
              </a:ext>
            </a:extLst>
          </p:cNvPr>
          <p:cNvSpPr/>
          <p:nvPr/>
        </p:nvSpPr>
        <p:spPr>
          <a:xfrm>
            <a:off x="1733550" y="5653087"/>
            <a:ext cx="101600" cy="904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左大括号 5">
            <a:extLst>
              <a:ext uri="{FF2B5EF4-FFF2-40B4-BE49-F238E27FC236}">
                <a16:creationId xmlns:a16="http://schemas.microsoft.com/office/drawing/2014/main" id="{F5B3E73B-531F-45F7-BEA6-30AAD9A7691F}"/>
              </a:ext>
            </a:extLst>
          </p:cNvPr>
          <p:cNvSpPr/>
          <p:nvPr/>
        </p:nvSpPr>
        <p:spPr>
          <a:xfrm>
            <a:off x="1406846" y="844550"/>
            <a:ext cx="101600" cy="46990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左大括号 6">
            <a:extLst>
              <a:ext uri="{FF2B5EF4-FFF2-40B4-BE49-F238E27FC236}">
                <a16:creationId xmlns:a16="http://schemas.microsoft.com/office/drawing/2014/main" id="{7F4C3665-F838-40AC-9630-C9CB69F78F2D}"/>
              </a:ext>
            </a:extLst>
          </p:cNvPr>
          <p:cNvSpPr/>
          <p:nvPr/>
        </p:nvSpPr>
        <p:spPr>
          <a:xfrm>
            <a:off x="1406846" y="5642700"/>
            <a:ext cx="101600" cy="936000"/>
          </a:xfrm>
          <a:prstGeom prst="leftBrace">
            <a:avLst/>
          </a:prstGeom>
          <a:ln w="19050"/>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 name="矩形 7">
            <a:extLst>
              <a:ext uri="{FF2B5EF4-FFF2-40B4-BE49-F238E27FC236}">
                <a16:creationId xmlns:a16="http://schemas.microsoft.com/office/drawing/2014/main" id="{91489E22-B849-49ED-8886-A4F408470818}"/>
              </a:ext>
            </a:extLst>
          </p:cNvPr>
          <p:cNvSpPr/>
          <p:nvPr/>
        </p:nvSpPr>
        <p:spPr>
          <a:xfrm>
            <a:off x="787048" y="5905102"/>
            <a:ext cx="619798" cy="377411"/>
          </a:xfrm>
          <a:prstGeom prst="rect">
            <a:avLst/>
          </a:prstGeom>
          <a:noFill/>
        </p:spPr>
        <p:txBody>
          <a:bodyPr wrap="square">
            <a:spAutoFit/>
          </a:bodyPr>
          <a:lstStyle/>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70</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个</a:t>
            </a:r>
          </a:p>
        </p:txBody>
      </p:sp>
      <p:sp>
        <p:nvSpPr>
          <p:cNvPr id="9" name="矩形 8">
            <a:extLst>
              <a:ext uri="{FF2B5EF4-FFF2-40B4-BE49-F238E27FC236}">
                <a16:creationId xmlns:a16="http://schemas.microsoft.com/office/drawing/2014/main" id="{6FCCAED6-31D9-41C3-A316-6513EB2DF79C}"/>
              </a:ext>
            </a:extLst>
          </p:cNvPr>
          <p:cNvSpPr/>
          <p:nvPr/>
        </p:nvSpPr>
        <p:spPr>
          <a:xfrm>
            <a:off x="730250" y="2958702"/>
            <a:ext cx="727396" cy="377411"/>
          </a:xfrm>
          <a:prstGeom prst="rect">
            <a:avLst/>
          </a:prstGeom>
          <a:noFill/>
        </p:spPr>
        <p:txBody>
          <a:bodyPr wrap="square">
            <a:spAutoFit/>
          </a:bodyPr>
          <a:lstStyle/>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637</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个</a:t>
            </a:r>
          </a:p>
        </p:txBody>
      </p:sp>
      <p:sp>
        <p:nvSpPr>
          <p:cNvPr id="10" name="矩形 9">
            <a:extLst>
              <a:ext uri="{FF2B5EF4-FFF2-40B4-BE49-F238E27FC236}">
                <a16:creationId xmlns:a16="http://schemas.microsoft.com/office/drawing/2014/main" id="{639D732A-96FE-4B73-A950-875EEB8FE262}"/>
              </a:ext>
            </a:extLst>
          </p:cNvPr>
          <p:cNvSpPr/>
          <p:nvPr/>
        </p:nvSpPr>
        <p:spPr>
          <a:xfrm>
            <a:off x="2060254" y="1967265"/>
            <a:ext cx="1902146" cy="1993238"/>
          </a:xfrm>
          <a:prstGeom prst="rect">
            <a:avLst/>
          </a:prstGeom>
          <a:noFill/>
        </p:spPr>
        <p:txBody>
          <a:bodyPr wrap="square">
            <a:spAutoFit/>
          </a:bodyPr>
          <a:lstStyle/>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mol1,</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mol2, 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mol1,</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mol3,</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mol1, mol4, 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mol2, mol3, 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637*637/2</a:t>
            </a:r>
            <a:endPar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9614C870-CCFB-49AC-9AA8-0554CC797B69}"/>
              </a:ext>
            </a:extLst>
          </p:cNvPr>
          <p:cNvSpPr/>
          <p:nvPr/>
        </p:nvSpPr>
        <p:spPr>
          <a:xfrm>
            <a:off x="1949450" y="5432070"/>
            <a:ext cx="2743199" cy="1346907"/>
          </a:xfrm>
          <a:prstGeom prst="rect">
            <a:avLst/>
          </a:prstGeom>
          <a:noFill/>
        </p:spPr>
        <p:txBody>
          <a:bodyPr wrap="square">
            <a:spAutoFit/>
          </a:bodyPr>
          <a:lstStyle/>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mol1,</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 </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mol638, 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mol637, mol707, Δ ΔG</a:t>
            </a:r>
          </a:p>
          <a:p>
            <a:pPr>
              <a:lnSpc>
                <a:spcPct val="150000"/>
              </a:lnSpc>
            </a:pP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637*70</a:t>
            </a:r>
            <a:endPar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110D5E37-0B9F-4DFE-BA17-685AEC558CCA}"/>
              </a:ext>
            </a:extLst>
          </p:cNvPr>
          <p:cNvSpPr/>
          <p:nvPr/>
        </p:nvSpPr>
        <p:spPr>
          <a:xfrm>
            <a:off x="4762619" y="690661"/>
            <a:ext cx="2812731" cy="307777"/>
          </a:xfrm>
          <a:prstGeom prst="rect">
            <a:avLst/>
          </a:prstGeom>
          <a:noFill/>
        </p:spPr>
        <p:txBody>
          <a:bodyPr wrap="square">
            <a:spAutoFit/>
          </a:bodyPr>
          <a:lstStyle/>
          <a:p>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五折交叉验证 </a:t>
            </a:r>
            <a:r>
              <a:rPr lang="en-US" altLang="zh-CN"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&amp; </a:t>
            </a:r>
            <a:r>
              <a:rPr lang="zh-CN" altLang="en-US" sz="14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外部测试集测试</a:t>
            </a:r>
          </a:p>
        </p:txBody>
      </p:sp>
      <p:pic>
        <p:nvPicPr>
          <p:cNvPr id="13" name="图片 12">
            <a:extLst>
              <a:ext uri="{FF2B5EF4-FFF2-40B4-BE49-F238E27FC236}">
                <a16:creationId xmlns:a16="http://schemas.microsoft.com/office/drawing/2014/main" id="{756DFA68-0086-4258-A8AC-AA402CF2E88B}"/>
              </a:ext>
            </a:extLst>
          </p:cNvPr>
          <p:cNvPicPr>
            <a:picLocks noChangeAspect="1"/>
          </p:cNvPicPr>
          <p:nvPr/>
        </p:nvPicPr>
        <p:blipFill>
          <a:blip r:embed="rId2"/>
          <a:stretch>
            <a:fillRect/>
          </a:stretch>
        </p:blipFill>
        <p:spPr>
          <a:xfrm>
            <a:off x="4724357" y="1203325"/>
            <a:ext cx="3651569" cy="2606675"/>
          </a:xfrm>
          <a:prstGeom prst="rect">
            <a:avLst/>
          </a:prstGeom>
        </p:spPr>
      </p:pic>
      <p:sp>
        <p:nvSpPr>
          <p:cNvPr id="14" name="左大括号 13">
            <a:extLst>
              <a:ext uri="{FF2B5EF4-FFF2-40B4-BE49-F238E27FC236}">
                <a16:creationId xmlns:a16="http://schemas.microsoft.com/office/drawing/2014/main" id="{FC2AA710-E611-452C-8075-56E5D39D17F3}"/>
              </a:ext>
            </a:extLst>
          </p:cNvPr>
          <p:cNvSpPr/>
          <p:nvPr/>
        </p:nvSpPr>
        <p:spPr>
          <a:xfrm flipH="1">
            <a:off x="3822700" y="1023407"/>
            <a:ext cx="101600" cy="4248000"/>
          </a:xfrm>
          <a:prstGeom prst="leftBrace">
            <a:avLst/>
          </a:prstGeom>
          <a:ln w="19050"/>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 name="矩形 14">
            <a:extLst>
              <a:ext uri="{FF2B5EF4-FFF2-40B4-BE49-F238E27FC236}">
                <a16:creationId xmlns:a16="http://schemas.microsoft.com/office/drawing/2014/main" id="{76E76A6A-33D1-4EBB-8352-08BE78A3E04A}"/>
              </a:ext>
            </a:extLst>
          </p:cNvPr>
          <p:cNvSpPr/>
          <p:nvPr/>
        </p:nvSpPr>
        <p:spPr>
          <a:xfrm>
            <a:off x="3962400" y="2967335"/>
            <a:ext cx="800219" cy="461665"/>
          </a:xfrm>
          <a:prstGeom prst="rect">
            <a:avLst/>
          </a:prstGeom>
        </p:spPr>
        <p:txBody>
          <a:bodyPr wrap="none">
            <a:spAutoFit/>
          </a:bodyPr>
          <a:lstStyle/>
          <a:p>
            <a:r>
              <a:rPr lang="zh-CN" altLang="en-US" sz="12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五折交叉</a:t>
            </a:r>
            <a:endParaRPr lang="en-US" altLang="zh-CN" sz="12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a:p>
            <a:pPr algn="ctr"/>
            <a:r>
              <a:rPr lang="zh-CN" altLang="en-US" sz="12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验证 </a:t>
            </a:r>
            <a:endParaRPr lang="zh-CN" altLang="en-US" sz="1200" dirty="0"/>
          </a:p>
        </p:txBody>
      </p:sp>
      <p:pic>
        <p:nvPicPr>
          <p:cNvPr id="16" name="图片 15">
            <a:extLst>
              <a:ext uri="{FF2B5EF4-FFF2-40B4-BE49-F238E27FC236}">
                <a16:creationId xmlns:a16="http://schemas.microsoft.com/office/drawing/2014/main" id="{DC5CCFD0-AA40-420C-9CF7-06B12071D489}"/>
              </a:ext>
            </a:extLst>
          </p:cNvPr>
          <p:cNvPicPr>
            <a:picLocks noChangeAspect="1"/>
          </p:cNvPicPr>
          <p:nvPr/>
        </p:nvPicPr>
        <p:blipFill>
          <a:blip r:embed="rId3"/>
          <a:stretch>
            <a:fillRect/>
          </a:stretch>
        </p:blipFill>
        <p:spPr>
          <a:xfrm>
            <a:off x="8332427" y="1203325"/>
            <a:ext cx="3620187" cy="2586335"/>
          </a:xfrm>
          <a:prstGeom prst="rect">
            <a:avLst/>
          </a:prstGeom>
        </p:spPr>
      </p:pic>
      <p:graphicFrame>
        <p:nvGraphicFramePr>
          <p:cNvPr id="17" name="表格 16">
            <a:extLst>
              <a:ext uri="{FF2B5EF4-FFF2-40B4-BE49-F238E27FC236}">
                <a16:creationId xmlns:a16="http://schemas.microsoft.com/office/drawing/2014/main" id="{79DA2DC7-AA5C-4B6B-A624-8109E1E61C92}"/>
              </a:ext>
            </a:extLst>
          </p:cNvPr>
          <p:cNvGraphicFramePr>
            <a:graphicFrameLocks noGrp="1"/>
          </p:cNvGraphicFramePr>
          <p:nvPr>
            <p:extLst/>
          </p:nvPr>
        </p:nvGraphicFramePr>
        <p:xfrm>
          <a:off x="4762619" y="4014887"/>
          <a:ext cx="7029772" cy="2595880"/>
        </p:xfrm>
        <a:graphic>
          <a:graphicData uri="http://schemas.openxmlformats.org/drawingml/2006/table">
            <a:tbl>
              <a:tblPr firstRow="1" bandRow="1">
                <a:tableStyleId>{5C22544A-7EE6-4342-B048-85BDC9FD1C3A}</a:tableStyleId>
              </a:tblPr>
              <a:tblGrid>
                <a:gridCol w="886147">
                  <a:extLst>
                    <a:ext uri="{9D8B030D-6E8A-4147-A177-3AD203B41FA5}">
                      <a16:colId xmlns:a16="http://schemas.microsoft.com/office/drawing/2014/main" val="1413506662"/>
                    </a:ext>
                  </a:extLst>
                </a:gridCol>
                <a:gridCol w="828675">
                  <a:extLst>
                    <a:ext uri="{9D8B030D-6E8A-4147-A177-3AD203B41FA5}">
                      <a16:colId xmlns:a16="http://schemas.microsoft.com/office/drawing/2014/main" val="624371118"/>
                    </a:ext>
                  </a:extLst>
                </a:gridCol>
                <a:gridCol w="2238375">
                  <a:extLst>
                    <a:ext uri="{9D8B030D-6E8A-4147-A177-3AD203B41FA5}">
                      <a16:colId xmlns:a16="http://schemas.microsoft.com/office/drawing/2014/main" val="342454169"/>
                    </a:ext>
                  </a:extLst>
                </a:gridCol>
                <a:gridCol w="781050">
                  <a:extLst>
                    <a:ext uri="{9D8B030D-6E8A-4147-A177-3AD203B41FA5}">
                      <a16:colId xmlns:a16="http://schemas.microsoft.com/office/drawing/2014/main" val="1821833934"/>
                    </a:ext>
                  </a:extLst>
                </a:gridCol>
                <a:gridCol w="2295525">
                  <a:extLst>
                    <a:ext uri="{9D8B030D-6E8A-4147-A177-3AD203B41FA5}">
                      <a16:colId xmlns:a16="http://schemas.microsoft.com/office/drawing/2014/main" val="3675431113"/>
                    </a:ext>
                  </a:extLst>
                </a:gridCol>
              </a:tblGrid>
              <a:tr h="370840">
                <a:tc>
                  <a:txBody>
                    <a:bodyPr/>
                    <a:lstStyle/>
                    <a:p>
                      <a:pPr algn="ctr"/>
                      <a:r>
                        <a:rPr lang="en-US" altLang="zh-CN" dirty="0">
                          <a:solidFill>
                            <a:schemeClr val="tx1"/>
                          </a:solidFill>
                          <a:latin typeface="Arial" panose="020B0604020202020204" pitchFamily="34" charset="0"/>
                          <a:cs typeface="Arial" panose="020B0604020202020204" pitchFamily="34" charset="0"/>
                        </a:rPr>
                        <a:t>Fold</a:t>
                      </a:r>
                      <a:endParaRPr lang="zh-CN" altLang="en-US"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noFill/>
                  </a:tcPr>
                </a:tc>
                <a:tc gridSpan="2">
                  <a:txBody>
                    <a:bodyPr/>
                    <a:lstStyle/>
                    <a:p>
                      <a:pPr algn="ctr"/>
                      <a:r>
                        <a:rPr lang="en-US" altLang="zh-CN" dirty="0">
                          <a:solidFill>
                            <a:schemeClr val="tx1"/>
                          </a:solidFill>
                          <a:latin typeface="Arial" panose="020B0604020202020204" pitchFamily="34" charset="0"/>
                          <a:cs typeface="Arial" panose="020B0604020202020204" pitchFamily="34" charset="0"/>
                        </a:rPr>
                        <a:t>Validation</a:t>
                      </a:r>
                      <a:endParaRPr lang="zh-CN" altLang="en-US"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noFill/>
                  </a:tcPr>
                </a:tc>
                <a:tc hMerge="1">
                  <a:txBody>
                    <a:bodyPr/>
                    <a:lstStyle/>
                    <a:p>
                      <a:endParaRPr lang="zh-CN" altLang="en-US" dirty="0">
                        <a:solidFill>
                          <a:schemeClr val="tx1"/>
                        </a:solidFill>
                      </a:endParaRPr>
                    </a:p>
                  </a:txBody>
                  <a:tcPr/>
                </a:tc>
                <a:tc gridSpan="2">
                  <a:txBody>
                    <a:bodyPr/>
                    <a:lstStyle/>
                    <a:p>
                      <a:pPr algn="ctr"/>
                      <a:r>
                        <a:rPr lang="en-US" altLang="zh-CN" dirty="0">
                          <a:solidFill>
                            <a:schemeClr val="tx1"/>
                          </a:solidFill>
                          <a:latin typeface="Arial" panose="020B0604020202020204" pitchFamily="34" charset="0"/>
                          <a:cs typeface="Arial" panose="020B0604020202020204" pitchFamily="34" charset="0"/>
                        </a:rPr>
                        <a:t>Test</a:t>
                      </a:r>
                      <a:endParaRPr lang="zh-CN" altLang="en-US"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noFill/>
                  </a:tcPr>
                </a:tc>
                <a:tc hMerge="1">
                  <a:txBody>
                    <a:bodyPr/>
                    <a:lstStyle/>
                    <a:p>
                      <a:endParaRPr lang="zh-CN" altLang="en-US" dirty="0">
                        <a:solidFill>
                          <a:schemeClr val="tx1"/>
                        </a:solidFill>
                      </a:endParaRPr>
                    </a:p>
                  </a:txBody>
                  <a:tcPr/>
                </a:tc>
                <a:extLst>
                  <a:ext uri="{0D108BD9-81ED-4DB2-BD59-A6C34878D82A}">
                    <a16:rowId xmlns:a16="http://schemas.microsoft.com/office/drawing/2014/main" val="868086404"/>
                  </a:ext>
                </a:extLst>
              </a:tr>
              <a:tr h="370840">
                <a:tc>
                  <a:txBody>
                    <a:bodyPr/>
                    <a:lstStyle/>
                    <a:p>
                      <a:pPr algn="ctr"/>
                      <a:endParaRPr lang="zh-CN" altLang="en-US" dirty="0">
                        <a:solidFill>
                          <a:schemeClr val="tx1"/>
                        </a:solidFill>
                        <a:latin typeface="Arial" panose="020B0604020202020204" pitchFamily="34" charset="0"/>
                        <a:cs typeface="Arial" panose="020B0604020202020204" pitchFamily="34" charset="0"/>
                      </a:endParaRPr>
                    </a:p>
                  </a:txBody>
                  <a:tcP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MSE</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Pearson Correlation</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MSE</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Pearson Correlation</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8028439"/>
                  </a:ext>
                </a:extLst>
              </a:tr>
              <a:tr h="370840">
                <a:tc>
                  <a:txBody>
                    <a:bodyPr/>
                    <a:lstStyle/>
                    <a:p>
                      <a:pPr algn="ctr"/>
                      <a:r>
                        <a:rPr lang="en-US" altLang="zh-CN" sz="1600" dirty="0">
                          <a:solidFill>
                            <a:schemeClr val="tx1"/>
                          </a:solidFill>
                          <a:latin typeface="Arial" panose="020B0604020202020204" pitchFamily="34" charset="0"/>
                          <a:cs typeface="Arial" panose="020B0604020202020204" pitchFamily="34" charset="0"/>
                        </a:rPr>
                        <a:t>Fold1</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1.63</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0.71</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1.89</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0.64</a:t>
                      </a:r>
                      <a:endParaRPr lang="zh-CN" altLang="en-US" sz="1600" dirty="0">
                        <a:solidFill>
                          <a:schemeClr val="tx1"/>
                        </a:solidFill>
                        <a:latin typeface="Arial" panose="020B0604020202020204" pitchFamily="34" charset="0"/>
                        <a:cs typeface="Arial" panose="020B0604020202020204" pitchFamily="34" charset="0"/>
                      </a:endParaRPr>
                    </a:p>
                  </a:txBody>
                  <a:tcPr>
                    <a:lnT w="285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60166195"/>
                  </a:ext>
                </a:extLst>
              </a:tr>
              <a:tr h="370840">
                <a:tc>
                  <a:txBody>
                    <a:bodyPr/>
                    <a:lstStyle/>
                    <a:p>
                      <a:pPr algn="ctr"/>
                      <a:r>
                        <a:rPr lang="en-US" altLang="zh-CN" sz="1600" dirty="0">
                          <a:solidFill>
                            <a:schemeClr val="tx1"/>
                          </a:solidFill>
                          <a:latin typeface="Arial" panose="020B0604020202020204" pitchFamily="34" charset="0"/>
                          <a:cs typeface="Arial" panose="020B0604020202020204" pitchFamily="34" charset="0"/>
                        </a:rPr>
                        <a:t>Fold2</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1.26</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0.80</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1.87</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0.64</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3295337808"/>
                  </a:ext>
                </a:extLst>
              </a:tr>
              <a:tr h="370840">
                <a:tc>
                  <a:txBody>
                    <a:bodyPr/>
                    <a:lstStyle/>
                    <a:p>
                      <a:pPr algn="ctr"/>
                      <a:r>
                        <a:rPr lang="en-US" altLang="zh-CN" sz="1600" dirty="0">
                          <a:solidFill>
                            <a:schemeClr val="tx1"/>
                          </a:solidFill>
                          <a:latin typeface="Arial" panose="020B0604020202020204" pitchFamily="34" charset="0"/>
                          <a:cs typeface="Arial" panose="020B0604020202020204" pitchFamily="34" charset="0"/>
                        </a:rPr>
                        <a:t>Fold3</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1.91</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0.63</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1.80</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0.66</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1705951600"/>
                  </a:ext>
                </a:extLst>
              </a:tr>
              <a:tr h="370840">
                <a:tc>
                  <a:txBody>
                    <a:bodyPr/>
                    <a:lstStyle/>
                    <a:p>
                      <a:pPr algn="ctr"/>
                      <a:r>
                        <a:rPr lang="en-US" altLang="zh-CN" sz="1600" dirty="0">
                          <a:solidFill>
                            <a:schemeClr val="tx1"/>
                          </a:solidFill>
                          <a:latin typeface="Arial" panose="020B0604020202020204" pitchFamily="34" charset="0"/>
                          <a:cs typeface="Arial" panose="020B0604020202020204" pitchFamily="34" charset="0"/>
                        </a:rPr>
                        <a:t>Fold4</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1.31</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0.78</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1.96</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0.62</a:t>
                      </a:r>
                      <a:endParaRPr lang="zh-CN" altLang="en-US" sz="1600" dirty="0">
                        <a:solidFill>
                          <a:schemeClr val="tx1"/>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1305880371"/>
                  </a:ext>
                </a:extLst>
              </a:tr>
              <a:tr h="370840">
                <a:tc>
                  <a:txBody>
                    <a:bodyPr/>
                    <a:lstStyle/>
                    <a:p>
                      <a:pPr algn="ctr"/>
                      <a:r>
                        <a:rPr lang="en-US" altLang="zh-CN" sz="1600" dirty="0">
                          <a:solidFill>
                            <a:schemeClr val="tx1"/>
                          </a:solidFill>
                          <a:latin typeface="Arial" panose="020B0604020202020204" pitchFamily="34" charset="0"/>
                          <a:cs typeface="Arial" panose="020B0604020202020204" pitchFamily="34" charset="0"/>
                        </a:rPr>
                        <a:t>Fold5</a:t>
                      </a:r>
                      <a:endParaRPr lang="zh-CN" altLang="en-US" sz="1600" dirty="0">
                        <a:solidFill>
                          <a:schemeClr val="tx1"/>
                        </a:solidFill>
                        <a:latin typeface="Arial" panose="020B0604020202020204" pitchFamily="34" charset="0"/>
                        <a:cs typeface="Arial" panose="020B0604020202020204" pitchFamily="34" charset="0"/>
                      </a:endParaRPr>
                    </a:p>
                  </a:txBody>
                  <a:tcPr>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1.41</a:t>
                      </a:r>
                      <a:endParaRPr lang="zh-CN" altLang="en-US" sz="1600" dirty="0">
                        <a:solidFill>
                          <a:schemeClr val="tx1"/>
                        </a:solidFill>
                        <a:latin typeface="Arial" panose="020B0604020202020204" pitchFamily="34" charset="0"/>
                        <a:cs typeface="Arial" panose="020B0604020202020204" pitchFamily="34" charset="0"/>
                      </a:endParaRPr>
                    </a:p>
                  </a:txBody>
                  <a:tcPr>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0.73</a:t>
                      </a:r>
                      <a:endParaRPr lang="zh-CN" altLang="en-US" sz="1600" dirty="0">
                        <a:solidFill>
                          <a:schemeClr val="tx1"/>
                        </a:solidFill>
                        <a:latin typeface="Arial" panose="020B0604020202020204" pitchFamily="34" charset="0"/>
                        <a:cs typeface="Arial" panose="020B0604020202020204" pitchFamily="34" charset="0"/>
                      </a:endParaRPr>
                    </a:p>
                  </a:txBody>
                  <a:tcPr>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2.53</a:t>
                      </a:r>
                      <a:endParaRPr lang="zh-CN" altLang="en-US" sz="1600" dirty="0">
                        <a:solidFill>
                          <a:schemeClr val="tx1"/>
                        </a:solidFill>
                        <a:latin typeface="Arial" panose="020B0604020202020204" pitchFamily="34" charset="0"/>
                        <a:cs typeface="Arial" panose="020B0604020202020204" pitchFamily="34" charset="0"/>
                      </a:endParaRPr>
                    </a:p>
                  </a:txBody>
                  <a:tcPr>
                    <a:lnB w="28575"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Arial" panose="020B0604020202020204" pitchFamily="34" charset="0"/>
                          <a:cs typeface="Arial" panose="020B0604020202020204" pitchFamily="34" charset="0"/>
                        </a:rPr>
                        <a:t>0.53</a:t>
                      </a:r>
                      <a:endParaRPr lang="zh-CN" altLang="en-US" sz="1600" dirty="0">
                        <a:solidFill>
                          <a:schemeClr val="tx1"/>
                        </a:solidFill>
                        <a:latin typeface="Arial" panose="020B0604020202020204" pitchFamily="34" charset="0"/>
                        <a:cs typeface="Arial" panose="020B0604020202020204" pitchFamily="34" charset="0"/>
                      </a:endParaRP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1185326"/>
                  </a:ext>
                </a:extLst>
              </a:tr>
            </a:tbl>
          </a:graphicData>
        </a:graphic>
      </p:graphicFrame>
    </p:spTree>
    <p:extLst>
      <p:ext uri="{BB962C8B-B14F-4D97-AF65-F5344CB8AC3E}">
        <p14:creationId xmlns:p14="http://schemas.microsoft.com/office/powerpoint/2010/main" val="2773607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7FD631B-0649-4345-93DA-E060F48796AF}"/>
              </a:ext>
            </a:extLst>
          </p:cNvPr>
          <p:cNvSpPr>
            <a:spLocks noGrp="1"/>
          </p:cNvSpPr>
          <p:nvPr>
            <p:ph type="sldNum" sz="quarter" idx="12"/>
          </p:nvPr>
        </p:nvSpPr>
        <p:spPr/>
        <p:txBody>
          <a:bodyPr/>
          <a:lstStyle/>
          <a:p>
            <a:fld id="{2F0485D5-9E03-4020-B25B-C8A61AD6A676}" type="slidenum">
              <a:rPr lang="zh-CN" altLang="en-US" smtClean="0"/>
              <a:t>23</a:t>
            </a:fld>
            <a:endParaRPr lang="zh-CN" altLang="en-US"/>
          </a:p>
        </p:txBody>
      </p:sp>
      <p:sp>
        <p:nvSpPr>
          <p:cNvPr id="3" name="矩形 2">
            <a:extLst>
              <a:ext uri="{FF2B5EF4-FFF2-40B4-BE49-F238E27FC236}">
                <a16:creationId xmlns:a16="http://schemas.microsoft.com/office/drawing/2014/main" id="{200E51F8-B061-434B-912F-CA25EE735429}"/>
              </a:ext>
            </a:extLst>
          </p:cNvPr>
          <p:cNvSpPr/>
          <p:nvPr/>
        </p:nvSpPr>
        <p:spPr>
          <a:xfrm>
            <a:off x="976701" y="172681"/>
            <a:ext cx="2063679" cy="523220"/>
          </a:xfrm>
          <a:prstGeom prst="rect">
            <a:avLst/>
          </a:prstGeom>
          <a:noFill/>
        </p:spPr>
        <p:txBody>
          <a:bodyPr wrap="square">
            <a:spAutoFit/>
          </a:bodyPr>
          <a:lstStyle/>
          <a:p>
            <a:r>
              <a:rPr lang="en-US" altLang="zh-CN"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rPr>
              <a:t>Plan to do</a:t>
            </a:r>
            <a:endParaRPr lang="zh-CN" altLang="en-US" sz="2800" b="1" dirty="0">
              <a:solidFill>
                <a:srgbClr val="002060"/>
              </a:solidFill>
              <a:effectLst>
                <a:glow>
                  <a:schemeClr val="accent1">
                    <a:alpha val="40000"/>
                  </a:schemeClr>
                </a:glow>
                <a:reflection endPos="0" dist="50800" dir="5400000" sy="-100000" algn="bl" rotWithShape="0"/>
              </a:effectLst>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57407AA-7B4E-46B5-B9A3-C706E5B65D4C}"/>
              </a:ext>
            </a:extLst>
          </p:cNvPr>
          <p:cNvSpPr txBox="1"/>
          <p:nvPr/>
        </p:nvSpPr>
        <p:spPr>
          <a:xfrm>
            <a:off x="519341" y="1116038"/>
            <a:ext cx="8681415" cy="1495409"/>
          </a:xfrm>
          <a:prstGeom prst="rect">
            <a:avLst/>
          </a:prstGeom>
          <a:noFill/>
        </p:spPr>
        <p:txBody>
          <a:bodyPr wrap="square" rtlCol="0">
            <a:spAutoFit/>
          </a:bodyPr>
          <a:lstStyle/>
          <a:p>
            <a:pPr marL="342900" indent="-342900" algn="just">
              <a:lnSpc>
                <a:spcPct val="200000"/>
              </a:lnSpc>
              <a:buClr>
                <a:srgbClr val="0404FF"/>
              </a:buClr>
              <a:buAutoNum type="arabicPeriod"/>
            </a:pPr>
            <a:r>
              <a:rPr lang="zh-CN" altLang="en-US" sz="1600" dirty="0">
                <a:latin typeface="微软雅黑" panose="020B0503020204020204" pitchFamily="34" charset="-122"/>
                <a:ea typeface="微软雅黑" panose="020B0503020204020204" pitchFamily="34" charset="-122"/>
              </a:rPr>
              <a:t>将</a:t>
            </a:r>
            <a:r>
              <a:rPr lang="en-US" altLang="zh-CN" sz="1600" dirty="0">
                <a:latin typeface="微软雅黑" panose="020B0503020204020204" pitchFamily="34" charset="-122"/>
                <a:ea typeface="微软雅黑" panose="020B0503020204020204" pitchFamily="34" charset="-122"/>
              </a:rPr>
              <a:t>FEP</a:t>
            </a:r>
            <a:r>
              <a:rPr lang="zh-CN" altLang="en-US" sz="1600" dirty="0">
                <a:latin typeface="微软雅黑" panose="020B0503020204020204" pitchFamily="34" charset="-122"/>
                <a:ea typeface="微软雅黑" panose="020B0503020204020204" pitchFamily="34" charset="-122"/>
              </a:rPr>
              <a:t>计算结果为负值的数据点加入训练集中，提高模型预测更高活性化合物的外推能力。</a:t>
            </a:r>
            <a:endParaRPr lang="en-US" altLang="zh-CN" sz="1600" dirty="0">
              <a:latin typeface="微软雅黑" panose="020B0503020204020204" pitchFamily="34" charset="-122"/>
              <a:ea typeface="微软雅黑" panose="020B0503020204020204" pitchFamily="34" charset="-122"/>
            </a:endParaRPr>
          </a:p>
          <a:p>
            <a:pPr marL="342900" indent="-342900" algn="just">
              <a:lnSpc>
                <a:spcPct val="200000"/>
              </a:lnSpc>
              <a:buClr>
                <a:srgbClr val="0404FF"/>
              </a:buClr>
              <a:buAutoNum type="arabicPeriod"/>
            </a:pPr>
            <a:r>
              <a:rPr lang="zh-CN" altLang="en-US" sz="1600" dirty="0">
                <a:latin typeface="微软雅黑" panose="020B0503020204020204" pitchFamily="34" charset="-122"/>
                <a:ea typeface="微软雅黑" panose="020B0503020204020204" pitchFamily="34" charset="-122"/>
              </a:rPr>
              <a:t>分析测试集中预测结果较差的分子结构上有无共性。</a:t>
            </a:r>
            <a:endParaRPr lang="en-US" altLang="zh-CN" sz="1600" dirty="0">
              <a:latin typeface="微软雅黑" panose="020B0503020204020204" pitchFamily="34" charset="-122"/>
              <a:ea typeface="微软雅黑" panose="020B0503020204020204" pitchFamily="34" charset="-122"/>
            </a:endParaRPr>
          </a:p>
          <a:p>
            <a:pPr marL="342900" indent="-342900" algn="just">
              <a:lnSpc>
                <a:spcPct val="200000"/>
              </a:lnSpc>
              <a:buClr>
                <a:srgbClr val="0404FF"/>
              </a:buClr>
              <a:buAutoNum type="arabicPeriod"/>
            </a:pPr>
            <a:r>
              <a:rPr lang="zh-CN" altLang="en-US" sz="1600" dirty="0">
                <a:latin typeface="微软雅黑" panose="020B0503020204020204" pitchFamily="34" charset="-122"/>
                <a:ea typeface="微软雅黑" panose="020B0503020204020204" pitchFamily="34" charset="-122"/>
              </a:rPr>
              <a:t>尝试使用其他小分子表征方式以及</a:t>
            </a:r>
            <a:r>
              <a:rPr lang="en-US" altLang="zh-CN" sz="1600" dirty="0">
                <a:latin typeface="微软雅黑" panose="020B0503020204020204" pitchFamily="34" charset="-122"/>
                <a:ea typeface="微软雅黑" panose="020B0503020204020204" pitchFamily="34" charset="-122"/>
              </a:rPr>
              <a:t>Transformer</a:t>
            </a:r>
            <a:r>
              <a:rPr lang="zh-CN" altLang="en-US" sz="1600" dirty="0">
                <a:latin typeface="微软雅黑" panose="020B0503020204020204" pitchFamily="34" charset="-122"/>
                <a:ea typeface="微软雅黑" panose="020B0503020204020204" pitchFamily="34" charset="-122"/>
              </a:rPr>
              <a:t>模型（语言模型）进行预测。</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8686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AE4BDFA-3ABF-4515-85A7-0546127168F5}"/>
              </a:ext>
            </a:extLst>
          </p:cNvPr>
          <p:cNvSpPr>
            <a:spLocks noGrp="1"/>
          </p:cNvSpPr>
          <p:nvPr>
            <p:ph type="sldNum" sz="quarter" idx="12"/>
          </p:nvPr>
        </p:nvSpPr>
        <p:spPr/>
        <p:txBody>
          <a:bodyPr/>
          <a:lstStyle/>
          <a:p>
            <a:fld id="{2F0485D5-9E03-4020-B25B-C8A61AD6A676}" type="slidenum">
              <a:rPr lang="zh-CN" altLang="en-US" smtClean="0"/>
              <a:t>24</a:t>
            </a:fld>
            <a:endParaRPr lang="zh-CN" altLang="en-US"/>
          </a:p>
        </p:txBody>
      </p:sp>
      <p:pic>
        <p:nvPicPr>
          <p:cNvPr id="4" name="图片 3">
            <a:extLst>
              <a:ext uri="{FF2B5EF4-FFF2-40B4-BE49-F238E27FC236}">
                <a16:creationId xmlns:a16="http://schemas.microsoft.com/office/drawing/2014/main" id="{DE717F04-2BC6-4A5B-AB4D-F14303F3FC8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39496" y="973765"/>
            <a:ext cx="10366607" cy="5565147"/>
          </a:xfrm>
          <a:prstGeom prst="rect">
            <a:avLst/>
          </a:prstGeom>
        </p:spPr>
      </p:pic>
      <p:sp>
        <p:nvSpPr>
          <p:cNvPr id="5" name="矩形 4">
            <a:extLst>
              <a:ext uri="{FF2B5EF4-FFF2-40B4-BE49-F238E27FC236}">
                <a16:creationId xmlns:a16="http://schemas.microsoft.com/office/drawing/2014/main" id="{BA8A1852-BD3F-4DC1-99E8-D861A9B3BE1F}"/>
              </a:ext>
            </a:extLst>
          </p:cNvPr>
          <p:cNvSpPr/>
          <p:nvPr/>
        </p:nvSpPr>
        <p:spPr>
          <a:xfrm>
            <a:off x="4400550" y="2051659"/>
            <a:ext cx="3390900" cy="1862048"/>
          </a:xfrm>
          <a:prstGeom prst="rect">
            <a:avLst/>
          </a:prstGeom>
          <a:noFill/>
          <a:ln>
            <a:solidFill>
              <a:schemeClr val="bg1"/>
            </a:solidFill>
          </a:ln>
        </p:spPr>
        <p:txBody>
          <a:bodyPr wrap="square" lIns="91440" tIns="45720" rIns="91440" bIns="45720">
            <a:spAutoFit/>
          </a:bodyPr>
          <a:lstStyle/>
          <a:p>
            <a:pPr algn="ctr"/>
            <a:r>
              <a:rPr lang="zh-CN" altLang="en-US" sz="11500" dirty="0">
                <a:ln w="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谢谢</a:t>
            </a:r>
          </a:p>
        </p:txBody>
      </p:sp>
    </p:spTree>
    <p:extLst>
      <p:ext uri="{BB962C8B-B14F-4D97-AF65-F5344CB8AC3E}">
        <p14:creationId xmlns:p14="http://schemas.microsoft.com/office/powerpoint/2010/main" val="17873214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27698</TotalTime>
  <Words>1887</Words>
  <Application>Microsoft Office PowerPoint</Application>
  <PresentationFormat>宽屏</PresentationFormat>
  <Paragraphs>250</Paragraphs>
  <Slides>24</Slides>
  <Notes>13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等线</vt:lpstr>
      <vt:lpstr>黑体</vt:lpstr>
      <vt:lpstr>楷体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Dong Zhang</dc:creator>
  <cp:lastModifiedBy>yanqing yang</cp:lastModifiedBy>
  <cp:revision>1738</cp:revision>
  <dcterms:created xsi:type="dcterms:W3CDTF">2022-01-23T03:13:32Z</dcterms:created>
  <dcterms:modified xsi:type="dcterms:W3CDTF">2025-10-04T09:38:19Z</dcterms:modified>
</cp:coreProperties>
</file>